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2" r:id="rId2"/>
    <p:sldId id="273" r:id="rId3"/>
    <p:sldId id="258" r:id="rId4"/>
    <p:sldId id="259" r:id="rId5"/>
    <p:sldId id="260" r:id="rId6"/>
    <p:sldId id="274" r:id="rId7"/>
    <p:sldId id="262" r:id="rId8"/>
    <p:sldId id="275" r:id="rId9"/>
    <p:sldId id="280" r:id="rId10"/>
    <p:sldId id="265" r:id="rId11"/>
    <p:sldId id="277" r:id="rId12"/>
    <p:sldId id="267" r:id="rId13"/>
    <p:sldId id="268" r:id="rId14"/>
    <p:sldId id="269" r:id="rId15"/>
    <p:sldId id="270"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60" d="100"/>
          <a:sy n="60" d="100"/>
        </p:scale>
        <p:origin x="1140" y="4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B3C9C3-5E38-4A05-942A-37C70F98C679}"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898CA0-A0DB-4822-A2E0-6901440533BE}" type="slidenum">
              <a:rPr lang="en-US" smtClean="0"/>
              <a:t>‹#›</a:t>
            </a:fld>
            <a:endParaRPr lang="en-US"/>
          </a:p>
        </p:txBody>
      </p:sp>
    </p:spTree>
    <p:extLst>
      <p:ext uri="{BB962C8B-B14F-4D97-AF65-F5344CB8AC3E}">
        <p14:creationId xmlns:p14="http://schemas.microsoft.com/office/powerpoint/2010/main" val="3323656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532203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04752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843227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015636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368895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56435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44307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028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03460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48484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37470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810346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35647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1593244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25642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06581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B4B0B-42DB-6AB6-6478-1C5BCBA7BD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B97201-BDB9-00CE-6678-DF409F0566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6E2135-B36B-D153-C180-C01B06EA47B7}"/>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5" name="Footer Placeholder 4">
            <a:extLst>
              <a:ext uri="{FF2B5EF4-FFF2-40B4-BE49-F238E27FC236}">
                <a16:creationId xmlns:a16="http://schemas.microsoft.com/office/drawing/2014/main" id="{73917737-AE0F-41B4-1CC6-EA14C5D430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856214-7C32-0748-BD7F-D619C1701317}"/>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2057157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3B7DD-95F5-791F-C0E7-C7545393D0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4D824F-2997-5521-D93F-17155CB5C5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8A23E-28CF-FB8A-B9D4-D814BDBA94CD}"/>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5" name="Footer Placeholder 4">
            <a:extLst>
              <a:ext uri="{FF2B5EF4-FFF2-40B4-BE49-F238E27FC236}">
                <a16:creationId xmlns:a16="http://schemas.microsoft.com/office/drawing/2014/main" id="{244C316D-097C-D0FE-F5EF-5764BD681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772065-4FE6-9C2E-B25D-37FE6548360F}"/>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298410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49AEE-DD8D-E7E8-A5F6-7F40090C63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760F1E-DBB1-B23F-EDB5-0028FADA0A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025AF1-D576-F405-F8FE-DC9442CAA5FC}"/>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5" name="Footer Placeholder 4">
            <a:extLst>
              <a:ext uri="{FF2B5EF4-FFF2-40B4-BE49-F238E27FC236}">
                <a16:creationId xmlns:a16="http://schemas.microsoft.com/office/drawing/2014/main" id="{2BE00CFA-C4DB-58C4-F592-DDA26A862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111FB9-6339-F1C6-2E92-9232F84DB6B8}"/>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3802123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C43A-06AA-7BC0-55AD-652843AAEA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BE970C-A35D-A376-3B13-8E0E28A8D2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9DD2BB-7169-615B-3668-2B26B0ECE4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9396B7-0F38-595A-9B7B-D4C9D5049E56}"/>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6" name="Footer Placeholder 5">
            <a:extLst>
              <a:ext uri="{FF2B5EF4-FFF2-40B4-BE49-F238E27FC236}">
                <a16:creationId xmlns:a16="http://schemas.microsoft.com/office/drawing/2014/main" id="{45BF41F9-C787-7F6D-AB82-53862E710D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1B562-F6DD-BB65-D85B-25491332BF6C}"/>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346034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C01EA-A592-9724-D229-9B8D0FE55A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E98E82-C2C4-FF19-D054-CA24496759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D8F365-28AF-C7AB-E591-76060F5DBD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02A521-5EFC-7D1F-38C7-BFA54E8F6E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59DA7B-37DD-4174-58FF-0695AE4AE3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6A577B-C98D-2C5F-779B-EDB6B92974C6}"/>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8" name="Footer Placeholder 7">
            <a:extLst>
              <a:ext uri="{FF2B5EF4-FFF2-40B4-BE49-F238E27FC236}">
                <a16:creationId xmlns:a16="http://schemas.microsoft.com/office/drawing/2014/main" id="{5E7A5089-13BB-9A3C-9BC5-F9913D6AD3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15B7E2-7DE0-362C-FF0B-37C6B3C9F130}"/>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354775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FC5F3-6842-8C4A-144D-94B8290707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601DBD-0638-87B6-9B2B-1213C4386B4B}"/>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4" name="Footer Placeholder 3">
            <a:extLst>
              <a:ext uri="{FF2B5EF4-FFF2-40B4-BE49-F238E27FC236}">
                <a16:creationId xmlns:a16="http://schemas.microsoft.com/office/drawing/2014/main" id="{2F7F0BCC-F7D1-28F8-6401-32BFA1841E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DEFD43-F829-30AE-DCAC-77FC53F99A3A}"/>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354849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2AEF05-FE9D-FC4C-3BEA-FB2C537E382A}"/>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3" name="Footer Placeholder 2">
            <a:extLst>
              <a:ext uri="{FF2B5EF4-FFF2-40B4-BE49-F238E27FC236}">
                <a16:creationId xmlns:a16="http://schemas.microsoft.com/office/drawing/2014/main" id="{ED0C8E15-A3BA-9AE3-3C84-225E3744D5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F19EFB-A98E-7130-161C-5C9931B58391}"/>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2537084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D6E15-789D-1B6D-7A9F-D2BE3D9535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5578D8-3103-91A8-FAAA-EC3364B0AD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33B481-E1C9-C234-2EDA-2344DF025E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4E830A-1EC8-C38B-E74D-14BCF74F0674}"/>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6" name="Footer Placeholder 5">
            <a:extLst>
              <a:ext uri="{FF2B5EF4-FFF2-40B4-BE49-F238E27FC236}">
                <a16:creationId xmlns:a16="http://schemas.microsoft.com/office/drawing/2014/main" id="{D9CB8948-F055-2610-FF62-423B9BFC83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C59413-23C6-6355-5757-90A933AB7B0C}"/>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2403658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B6CE1-AEB5-5A8A-4126-0BD2327B81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6328320-7719-BAFE-77A2-A547A9E161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A8C4B9-B9D7-82B4-FA11-2FE13B1757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3D93A5-55EC-5DBA-0131-942874FE1C23}"/>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6" name="Footer Placeholder 5">
            <a:extLst>
              <a:ext uri="{FF2B5EF4-FFF2-40B4-BE49-F238E27FC236}">
                <a16:creationId xmlns:a16="http://schemas.microsoft.com/office/drawing/2014/main" id="{9717D2E5-7DF1-E823-A295-05C7E1263D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A8EDFB-8436-B795-CE24-529E1471BE0B}"/>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3009841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D059-150B-BD86-CDE3-E8AC0978F7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1C8239-42CA-625D-C38F-B7CD1A6CD6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B3417F-9DD2-6D4A-C1A8-1C75C9A4500E}"/>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5" name="Footer Placeholder 4">
            <a:extLst>
              <a:ext uri="{FF2B5EF4-FFF2-40B4-BE49-F238E27FC236}">
                <a16:creationId xmlns:a16="http://schemas.microsoft.com/office/drawing/2014/main" id="{3972E05F-7E4F-7D95-A09A-F267E9CCF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77F23E-D9C0-83E4-BB00-BC69A87AE597}"/>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163730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FCB320-2AF7-4887-9A8F-3A40971F10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D51047-3A74-BABB-A149-4CEFF7AED1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3CF724-661C-EA0F-ED46-041A534C6AE1}"/>
              </a:ext>
            </a:extLst>
          </p:cNvPr>
          <p:cNvSpPr>
            <a:spLocks noGrp="1"/>
          </p:cNvSpPr>
          <p:nvPr>
            <p:ph type="dt" sz="half" idx="10"/>
          </p:nvPr>
        </p:nvSpPr>
        <p:spPr/>
        <p:txBody>
          <a:bodyPr/>
          <a:lstStyle/>
          <a:p>
            <a:fld id="{90F611D1-84F0-4768-AD5C-9A3073E4E994}" type="datetimeFigureOut">
              <a:rPr lang="en-US" smtClean="0"/>
              <a:t>1/29/2026</a:t>
            </a:fld>
            <a:endParaRPr lang="en-US"/>
          </a:p>
        </p:txBody>
      </p:sp>
      <p:sp>
        <p:nvSpPr>
          <p:cNvPr id="5" name="Footer Placeholder 4">
            <a:extLst>
              <a:ext uri="{FF2B5EF4-FFF2-40B4-BE49-F238E27FC236}">
                <a16:creationId xmlns:a16="http://schemas.microsoft.com/office/drawing/2014/main" id="{524F063B-87E2-1FD4-EF0E-AB50330A2C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4D372C-8DF2-57B6-396B-643BC03D5E49}"/>
              </a:ext>
            </a:extLst>
          </p:cNvPr>
          <p:cNvSpPr>
            <a:spLocks noGrp="1"/>
          </p:cNvSpPr>
          <p:nvPr>
            <p:ph type="sldNum" sz="quarter" idx="12"/>
          </p:nvPr>
        </p:nvSpPr>
        <p:spPr/>
        <p:txBody>
          <a:bodyPr/>
          <a:lstStyle/>
          <a:p>
            <a:fld id="{2E1A087C-BD04-42CA-A7F5-85B80CFDCF95}" type="slidenum">
              <a:rPr lang="en-US" smtClean="0"/>
              <a:t>‹#›</a:t>
            </a:fld>
            <a:endParaRPr lang="en-US"/>
          </a:p>
        </p:txBody>
      </p:sp>
    </p:spTree>
    <p:extLst>
      <p:ext uri="{BB962C8B-B14F-4D97-AF65-F5344CB8AC3E}">
        <p14:creationId xmlns:p14="http://schemas.microsoft.com/office/powerpoint/2010/main" val="2294033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9753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12F90D-C03C-990B-6AFE-2F201872E2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D2BE53-FF0B-81E9-C156-F9B15F7FA3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410FEF-0355-5AFF-3F60-1138647307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F611D1-84F0-4768-AD5C-9A3073E4E994}" type="datetimeFigureOut">
              <a:rPr lang="en-US" smtClean="0"/>
              <a:t>1/29/2026</a:t>
            </a:fld>
            <a:endParaRPr lang="en-US"/>
          </a:p>
        </p:txBody>
      </p:sp>
      <p:sp>
        <p:nvSpPr>
          <p:cNvPr id="5" name="Footer Placeholder 4">
            <a:extLst>
              <a:ext uri="{FF2B5EF4-FFF2-40B4-BE49-F238E27FC236}">
                <a16:creationId xmlns:a16="http://schemas.microsoft.com/office/drawing/2014/main" id="{ABA92160-52E4-AE97-0C30-AB55F8B2C7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86AE7F-DBCF-9988-3495-8603E3E681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1A087C-BD04-42CA-A7F5-85B80CFDCF95}" type="slidenum">
              <a:rPr lang="en-US" smtClean="0"/>
              <a:t>‹#›</a:t>
            </a:fld>
            <a:endParaRPr lang="en-US"/>
          </a:p>
        </p:txBody>
      </p:sp>
    </p:spTree>
    <p:extLst>
      <p:ext uri="{BB962C8B-B14F-4D97-AF65-F5344CB8AC3E}">
        <p14:creationId xmlns:p14="http://schemas.microsoft.com/office/powerpoint/2010/main" val="26173438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web-img.moonshot.cn/img/healthpolicy-watch.news/975d41cd34d44e96e4c5ad95377e0c7c8eff78b2.jpg"/>
          <p:cNvPicPr>
            <a:picLocks noChangeAspect="1"/>
          </p:cNvPicPr>
          <p:nvPr/>
        </p:nvPicPr>
        <p:blipFill>
          <a:blip r:embed="rId3">
            <a:alphaModFix amt="30000"/>
          </a:blip>
          <a:srcRect t="7833" b="7833"/>
          <a:stretch/>
        </p:blipFill>
        <p:spPr>
          <a:xfrm>
            <a:off x="0" y="0"/>
            <a:ext cx="12192000" cy="6858000"/>
          </a:xfrm>
          <a:prstGeom prst="roundRect">
            <a:avLst>
              <a:gd name="adj" fmla="val 0"/>
            </a:avLst>
          </a:prstGeom>
        </p:spPr>
      </p:pic>
      <p:sp>
        <p:nvSpPr>
          <p:cNvPr id="3" name="Shape 0"/>
          <p:cNvSpPr/>
          <p:nvPr/>
        </p:nvSpPr>
        <p:spPr>
          <a:xfrm>
            <a:off x="0" y="16042"/>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2A4D53">
                  <a:alpha val="95000"/>
                </a:srgbClr>
              </a:gs>
              <a:gs pos="50000">
                <a:srgbClr val="2A4D53">
                  <a:alpha val="85000"/>
                </a:srgbClr>
              </a:gs>
              <a:gs pos="100000">
                <a:srgbClr val="C87E62">
                  <a:alpha val="70000"/>
                </a:srgbClr>
              </a:gs>
            </a:gsLst>
            <a:lin ang="2700000" scaled="1"/>
          </a:gradFill>
          <a:ln/>
        </p:spPr>
      </p:sp>
      <p:sp>
        <p:nvSpPr>
          <p:cNvPr id="4" name="Shape 1"/>
          <p:cNvSpPr/>
          <p:nvPr/>
        </p:nvSpPr>
        <p:spPr>
          <a:xfrm>
            <a:off x="381000" y="476250"/>
            <a:ext cx="609600" cy="38100"/>
          </a:xfrm>
          <a:custGeom>
            <a:avLst/>
            <a:gdLst/>
            <a:ahLst/>
            <a:cxnLst/>
            <a:rect l="l" t="t" r="r" b="b"/>
            <a:pathLst>
              <a:path w="609600" h="38100">
                <a:moveTo>
                  <a:pt x="0" y="0"/>
                </a:moveTo>
                <a:lnTo>
                  <a:pt x="609600" y="0"/>
                </a:lnTo>
                <a:lnTo>
                  <a:pt x="609600" y="38100"/>
                </a:lnTo>
                <a:lnTo>
                  <a:pt x="0" y="38100"/>
                </a:lnTo>
                <a:lnTo>
                  <a:pt x="0" y="0"/>
                </a:lnTo>
                <a:close/>
              </a:path>
            </a:pathLst>
          </a:custGeom>
          <a:solidFill>
            <a:srgbClr val="C87E62"/>
          </a:solidFill>
          <a:ln/>
        </p:spPr>
      </p:sp>
      <p:sp>
        <p:nvSpPr>
          <p:cNvPr id="5" name="Text 2"/>
          <p:cNvSpPr/>
          <p:nvPr/>
        </p:nvSpPr>
        <p:spPr>
          <a:xfrm>
            <a:off x="1104900" y="381000"/>
            <a:ext cx="2828925" cy="228600"/>
          </a:xfrm>
          <a:prstGeom prst="rect">
            <a:avLst/>
          </a:prstGeom>
          <a:noFill/>
          <a:ln/>
        </p:spPr>
        <p:txBody>
          <a:bodyPr wrap="square" lIns="0" tIns="0" rIns="0" bIns="0" rtlCol="0" anchor="ctr"/>
          <a:lstStyle/>
          <a:p>
            <a:pPr>
              <a:lnSpc>
                <a:spcPct val="130000"/>
              </a:lnSpc>
            </a:pPr>
            <a:r>
              <a:rPr lang="en-US" sz="1200" kern="0" spc="360" dirty="0">
                <a:solidFill>
                  <a:srgbClr val="F8F7F5"/>
                </a:solidFill>
                <a:latin typeface="Liter" pitchFamily="34" charset="0"/>
                <a:ea typeface="Liter" pitchFamily="34" charset="-122"/>
                <a:cs typeface="Liter" pitchFamily="34" charset="-120"/>
              </a:rPr>
              <a:t>Healthcare Analytics</a:t>
            </a:r>
            <a:endParaRPr lang="en-US" sz="1600" dirty="0"/>
          </a:p>
        </p:txBody>
      </p:sp>
      <p:sp>
        <p:nvSpPr>
          <p:cNvPr id="6" name="Text 3"/>
          <p:cNvSpPr/>
          <p:nvPr/>
        </p:nvSpPr>
        <p:spPr>
          <a:xfrm>
            <a:off x="381000" y="1781175"/>
            <a:ext cx="8820150" cy="1257300"/>
          </a:xfrm>
          <a:prstGeom prst="rect">
            <a:avLst/>
          </a:prstGeom>
          <a:noFill/>
          <a:ln/>
        </p:spPr>
        <p:txBody>
          <a:bodyPr wrap="square" lIns="0" tIns="0" rIns="0" bIns="0" rtlCol="0" anchor="ctr"/>
          <a:lstStyle/>
          <a:p>
            <a:pPr>
              <a:lnSpc>
                <a:spcPct val="90000"/>
              </a:lnSpc>
            </a:pPr>
            <a:r>
              <a:rPr lang="en-US" sz="4500" b="1" dirty="0">
                <a:solidFill>
                  <a:srgbClr val="F8F7F5"/>
                </a:solidFill>
                <a:latin typeface="Liter" pitchFamily="34" charset="0"/>
                <a:ea typeface="Liter" pitchFamily="34" charset="-122"/>
                <a:cs typeface="Liter" pitchFamily="34" charset="-120"/>
              </a:rPr>
              <a:t>Data-Driven Assessment of Primary Healthcare</a:t>
            </a:r>
            <a:endParaRPr lang="en-US" sz="1600" dirty="0"/>
          </a:p>
        </p:txBody>
      </p:sp>
      <p:sp>
        <p:nvSpPr>
          <p:cNvPr id="7" name="Text 4"/>
          <p:cNvSpPr/>
          <p:nvPr/>
        </p:nvSpPr>
        <p:spPr>
          <a:xfrm>
            <a:off x="381000" y="3343275"/>
            <a:ext cx="8705850" cy="857250"/>
          </a:xfrm>
          <a:prstGeom prst="rect">
            <a:avLst/>
          </a:prstGeom>
          <a:noFill/>
          <a:ln/>
        </p:spPr>
        <p:txBody>
          <a:bodyPr wrap="square" lIns="0" tIns="0" rIns="0" bIns="0" rtlCol="0" anchor="ctr"/>
          <a:lstStyle/>
          <a:p>
            <a:pPr>
              <a:lnSpc>
                <a:spcPct val="100000"/>
              </a:lnSpc>
            </a:pPr>
            <a:r>
              <a:rPr lang="en-US" sz="2700" dirty="0">
                <a:solidFill>
                  <a:srgbClr val="F8F7F5">
                    <a:alpha val="90000"/>
                  </a:srgbClr>
                </a:solidFill>
                <a:latin typeface="Oranienbaum" pitchFamily="34" charset="0"/>
                <a:ea typeface="Oranienbaum" pitchFamily="34" charset="-122"/>
                <a:cs typeface="Oranienbaum" pitchFamily="34" charset="-120"/>
              </a:rPr>
              <a:t>Access, Readiness, and Equity in Kaduna State Using Micro-Plan Data</a:t>
            </a:r>
            <a:endParaRPr lang="en-US" sz="1600" dirty="0"/>
          </a:p>
        </p:txBody>
      </p:sp>
      <p:sp>
        <p:nvSpPr>
          <p:cNvPr id="8" name="Shape 5"/>
          <p:cNvSpPr/>
          <p:nvPr/>
        </p:nvSpPr>
        <p:spPr>
          <a:xfrm>
            <a:off x="381000" y="4581525"/>
            <a:ext cx="2559148" cy="495300"/>
          </a:xfrm>
          <a:custGeom>
            <a:avLst/>
            <a:gdLst/>
            <a:ahLst/>
            <a:cxnLst/>
            <a:rect l="l" t="t" r="r" b="b"/>
            <a:pathLst>
              <a:path w="1762125" h="495300">
                <a:moveTo>
                  <a:pt x="0" y="0"/>
                </a:moveTo>
                <a:lnTo>
                  <a:pt x="1762125" y="0"/>
                </a:lnTo>
                <a:lnTo>
                  <a:pt x="1762125" y="495300"/>
                </a:lnTo>
                <a:lnTo>
                  <a:pt x="0" y="495300"/>
                </a:lnTo>
                <a:lnTo>
                  <a:pt x="0" y="0"/>
                </a:lnTo>
                <a:close/>
              </a:path>
            </a:pathLst>
          </a:custGeom>
          <a:solidFill>
            <a:srgbClr val="C87E62"/>
          </a:solidFill>
          <a:ln/>
        </p:spPr>
      </p:sp>
      <p:sp>
        <p:nvSpPr>
          <p:cNvPr id="9" name="Text 6"/>
          <p:cNvSpPr/>
          <p:nvPr/>
        </p:nvSpPr>
        <p:spPr>
          <a:xfrm>
            <a:off x="381000" y="4581525"/>
            <a:ext cx="2559148" cy="495300"/>
          </a:xfrm>
          <a:prstGeom prst="rect">
            <a:avLst/>
          </a:prstGeom>
          <a:noFill/>
          <a:ln/>
        </p:spPr>
        <p:txBody>
          <a:bodyPr wrap="square" lIns="228600" tIns="114300" rIns="228600" bIns="114300" rtlCol="0" anchor="ctr"/>
          <a:lstStyle/>
          <a:p>
            <a:pPr>
              <a:lnSpc>
                <a:spcPct val="120000"/>
              </a:lnSpc>
            </a:pPr>
            <a:r>
              <a:rPr lang="en-US" b="1" dirty="0">
                <a:solidFill>
                  <a:srgbClr val="F8F7F5"/>
                </a:solidFill>
                <a:latin typeface="Liter" pitchFamily="34" charset="0"/>
                <a:ea typeface="Liter" pitchFamily="34" charset="-122"/>
                <a:cs typeface="Liter" pitchFamily="34" charset="-120"/>
              </a:rPr>
              <a:t>Group 4  Project</a:t>
            </a:r>
            <a:endParaRPr lang="en-US" dirty="0"/>
          </a:p>
        </p:txBody>
      </p:sp>
      <p:sp>
        <p:nvSpPr>
          <p:cNvPr id="10" name="Shape 7"/>
          <p:cNvSpPr/>
          <p:nvPr/>
        </p:nvSpPr>
        <p:spPr>
          <a:xfrm>
            <a:off x="2367558" y="481012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87E62"/>
          </a:solidFill>
          <a:ln/>
        </p:spPr>
      </p:sp>
    </p:spTree>
    <p:extLst>
      <p:ext uri="{BB962C8B-B14F-4D97-AF65-F5344CB8AC3E}">
        <p14:creationId xmlns:p14="http://schemas.microsoft.com/office/powerpoint/2010/main" val="90194189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7239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87E62"/>
          </a:solidFill>
          <a:ln/>
        </p:spPr>
      </p:sp>
      <p:sp>
        <p:nvSpPr>
          <p:cNvPr id="4" name="Text 2"/>
          <p:cNvSpPr/>
          <p:nvPr/>
        </p:nvSpPr>
        <p:spPr>
          <a:xfrm>
            <a:off x="1295400" y="647700"/>
            <a:ext cx="3257550" cy="457200"/>
          </a:xfrm>
          <a:prstGeom prst="rect">
            <a:avLst/>
          </a:prstGeom>
          <a:noFill/>
          <a:ln/>
        </p:spPr>
        <p:txBody>
          <a:bodyPr wrap="square" lIns="0" tIns="0" rIns="0" bIns="0" rtlCol="0" anchor="ctr"/>
          <a:lstStyle/>
          <a:p>
            <a:pPr>
              <a:lnSpc>
                <a:spcPct val="80000"/>
              </a:lnSpc>
            </a:pPr>
            <a:r>
              <a:rPr lang="en-US" sz="3600" b="1" dirty="0">
                <a:solidFill>
                  <a:srgbClr val="2A4D53"/>
                </a:solidFill>
                <a:latin typeface="Liter" pitchFamily="34" charset="0"/>
                <a:ea typeface="Liter" pitchFamily="34" charset="-122"/>
                <a:cs typeface="Liter" pitchFamily="34" charset="-120"/>
              </a:rPr>
              <a:t>Meet the Team</a:t>
            </a:r>
            <a:endParaRPr lang="en-US" sz="1600" dirty="0"/>
          </a:p>
        </p:txBody>
      </p:sp>
      <p:sp>
        <p:nvSpPr>
          <p:cNvPr id="5" name="Shape 3"/>
          <p:cNvSpPr/>
          <p:nvPr/>
        </p:nvSpPr>
        <p:spPr>
          <a:xfrm>
            <a:off x="400050" y="1409700"/>
            <a:ext cx="5581650" cy="1028700"/>
          </a:xfrm>
          <a:custGeom>
            <a:avLst/>
            <a:gdLst/>
            <a:ahLst/>
            <a:cxnLst/>
            <a:rect l="l" t="t" r="r" b="b"/>
            <a:pathLst>
              <a:path w="5581650" h="1028700">
                <a:moveTo>
                  <a:pt x="0" y="0"/>
                </a:moveTo>
                <a:lnTo>
                  <a:pt x="5581650" y="0"/>
                </a:lnTo>
                <a:lnTo>
                  <a:pt x="5581650" y="1028700"/>
                </a:lnTo>
                <a:lnTo>
                  <a:pt x="0" y="1028700"/>
                </a:lnTo>
                <a:lnTo>
                  <a:pt x="0" y="0"/>
                </a:lnTo>
                <a:close/>
              </a:path>
            </a:pathLst>
          </a:custGeom>
          <a:solidFill>
            <a:srgbClr val="FFFFFF"/>
          </a:solidFill>
          <a:ln/>
          <a:effectLst>
            <a:outerShdw blurRad="28575" dist="9525" dir="5400000" algn="bl" rotWithShape="0">
              <a:srgbClr val="000000">
                <a:alpha val="10196"/>
              </a:srgbClr>
            </a:outerShdw>
          </a:effectLst>
        </p:spPr>
      </p:sp>
      <p:sp>
        <p:nvSpPr>
          <p:cNvPr id="6" name="Shape 4"/>
          <p:cNvSpPr/>
          <p:nvPr/>
        </p:nvSpPr>
        <p:spPr>
          <a:xfrm>
            <a:off x="400050" y="1409700"/>
            <a:ext cx="38100" cy="1028700"/>
          </a:xfrm>
          <a:custGeom>
            <a:avLst/>
            <a:gdLst/>
            <a:ahLst/>
            <a:cxnLst/>
            <a:rect l="l" t="t" r="r" b="b"/>
            <a:pathLst>
              <a:path w="38100" h="1028700">
                <a:moveTo>
                  <a:pt x="0" y="0"/>
                </a:moveTo>
                <a:lnTo>
                  <a:pt x="38100" y="0"/>
                </a:lnTo>
                <a:lnTo>
                  <a:pt x="38100" y="1028700"/>
                </a:lnTo>
                <a:lnTo>
                  <a:pt x="0" y="1028700"/>
                </a:lnTo>
                <a:lnTo>
                  <a:pt x="0" y="0"/>
                </a:lnTo>
                <a:close/>
              </a:path>
            </a:pathLst>
          </a:custGeom>
          <a:solidFill>
            <a:srgbClr val="2A4D53"/>
          </a:solidFill>
          <a:ln/>
        </p:spPr>
      </p:sp>
      <p:sp>
        <p:nvSpPr>
          <p:cNvPr id="7" name="Shape 5"/>
          <p:cNvSpPr/>
          <p:nvPr/>
        </p:nvSpPr>
        <p:spPr>
          <a:xfrm>
            <a:off x="647700" y="165735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2A4D53"/>
          </a:solidFill>
          <a:ln/>
        </p:spPr>
      </p:sp>
      <p:sp>
        <p:nvSpPr>
          <p:cNvPr id="8" name="Text 6"/>
          <p:cNvSpPr/>
          <p:nvPr/>
        </p:nvSpPr>
        <p:spPr>
          <a:xfrm>
            <a:off x="590550" y="1657350"/>
            <a:ext cx="647700" cy="533400"/>
          </a:xfrm>
          <a:prstGeom prst="rect">
            <a:avLst/>
          </a:prstGeom>
          <a:noFill/>
          <a:ln/>
        </p:spPr>
        <p:txBody>
          <a:bodyPr wrap="square" lIns="0" tIns="0" rIns="0" bIns="0" rtlCol="0" anchor="ctr"/>
          <a:lstStyle/>
          <a:p>
            <a:pPr algn="ctr">
              <a:lnSpc>
                <a:spcPct val="110000"/>
              </a:lnSpc>
            </a:pPr>
            <a:r>
              <a:rPr lang="en-US" sz="1800" b="1" dirty="0">
                <a:solidFill>
                  <a:srgbClr val="F8F7F5"/>
                </a:solidFill>
                <a:latin typeface="Liter" pitchFamily="34" charset="0"/>
                <a:ea typeface="Liter" pitchFamily="34" charset="-122"/>
                <a:cs typeface="Liter" pitchFamily="34" charset="-120"/>
              </a:rPr>
              <a:t>BA</a:t>
            </a:r>
            <a:endParaRPr lang="en-US" sz="1600" dirty="0"/>
          </a:p>
        </p:txBody>
      </p:sp>
      <p:sp>
        <p:nvSpPr>
          <p:cNvPr id="9" name="Text 7"/>
          <p:cNvSpPr/>
          <p:nvPr/>
        </p:nvSpPr>
        <p:spPr>
          <a:xfrm>
            <a:off x="1277009" y="1752600"/>
            <a:ext cx="2486025" cy="342900"/>
          </a:xfrm>
          <a:prstGeom prst="rect">
            <a:avLst/>
          </a:prstGeom>
          <a:noFill/>
          <a:ln/>
        </p:spPr>
        <p:txBody>
          <a:bodyPr wrap="square" lIns="0" tIns="0" rIns="0" bIns="0" rtlCol="0" anchor="ctr"/>
          <a:lstStyle/>
          <a:p>
            <a:pPr>
              <a:lnSpc>
                <a:spcPct val="110000"/>
              </a:lnSpc>
            </a:pPr>
            <a:r>
              <a:rPr lang="en-US" sz="1800" b="1" dirty="0">
                <a:solidFill>
                  <a:srgbClr val="2A4D53"/>
                </a:solidFill>
                <a:latin typeface="Liter" pitchFamily="34" charset="0"/>
                <a:ea typeface="Liter" pitchFamily="34" charset="-122"/>
                <a:cs typeface="Liter" pitchFamily="34" charset="-120"/>
              </a:rPr>
              <a:t>Bilikisu Abdullahi</a:t>
            </a:r>
            <a:endParaRPr lang="en-US" sz="1600" dirty="0"/>
          </a:p>
        </p:txBody>
      </p:sp>
      <p:sp>
        <p:nvSpPr>
          <p:cNvPr id="11" name="Shape 9"/>
          <p:cNvSpPr/>
          <p:nvPr/>
        </p:nvSpPr>
        <p:spPr>
          <a:xfrm>
            <a:off x="400050" y="2628900"/>
            <a:ext cx="5581650" cy="1028700"/>
          </a:xfrm>
          <a:custGeom>
            <a:avLst/>
            <a:gdLst/>
            <a:ahLst/>
            <a:cxnLst/>
            <a:rect l="l" t="t" r="r" b="b"/>
            <a:pathLst>
              <a:path w="5581650" h="1028700">
                <a:moveTo>
                  <a:pt x="0" y="0"/>
                </a:moveTo>
                <a:lnTo>
                  <a:pt x="5581650" y="0"/>
                </a:lnTo>
                <a:lnTo>
                  <a:pt x="5581650" y="1028700"/>
                </a:lnTo>
                <a:lnTo>
                  <a:pt x="0" y="1028700"/>
                </a:lnTo>
                <a:lnTo>
                  <a:pt x="0" y="0"/>
                </a:lnTo>
                <a:close/>
              </a:path>
            </a:pathLst>
          </a:custGeom>
          <a:solidFill>
            <a:srgbClr val="FFFFFF"/>
          </a:solidFill>
          <a:ln/>
          <a:effectLst>
            <a:outerShdw blurRad="28575" dist="9525" dir="5400000" algn="bl" rotWithShape="0">
              <a:srgbClr val="000000">
                <a:alpha val="10196"/>
              </a:srgbClr>
            </a:outerShdw>
          </a:effectLst>
        </p:spPr>
      </p:sp>
      <p:sp>
        <p:nvSpPr>
          <p:cNvPr id="12" name="Shape 10"/>
          <p:cNvSpPr/>
          <p:nvPr/>
        </p:nvSpPr>
        <p:spPr>
          <a:xfrm>
            <a:off x="400050" y="2628900"/>
            <a:ext cx="38100" cy="1028700"/>
          </a:xfrm>
          <a:custGeom>
            <a:avLst/>
            <a:gdLst/>
            <a:ahLst/>
            <a:cxnLst/>
            <a:rect l="l" t="t" r="r" b="b"/>
            <a:pathLst>
              <a:path w="38100" h="1028700">
                <a:moveTo>
                  <a:pt x="0" y="0"/>
                </a:moveTo>
                <a:lnTo>
                  <a:pt x="38100" y="0"/>
                </a:lnTo>
                <a:lnTo>
                  <a:pt x="38100" y="1028700"/>
                </a:lnTo>
                <a:lnTo>
                  <a:pt x="0" y="1028700"/>
                </a:lnTo>
                <a:lnTo>
                  <a:pt x="0" y="0"/>
                </a:lnTo>
                <a:close/>
              </a:path>
            </a:pathLst>
          </a:custGeom>
          <a:solidFill>
            <a:srgbClr val="C87E62"/>
          </a:solidFill>
          <a:ln/>
        </p:spPr>
      </p:sp>
      <p:sp>
        <p:nvSpPr>
          <p:cNvPr id="13" name="Shape 11"/>
          <p:cNvSpPr/>
          <p:nvPr/>
        </p:nvSpPr>
        <p:spPr>
          <a:xfrm>
            <a:off x="647700" y="287655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C87E62"/>
          </a:solidFill>
          <a:ln/>
        </p:spPr>
      </p:sp>
      <p:sp>
        <p:nvSpPr>
          <p:cNvPr id="14" name="Text 12"/>
          <p:cNvSpPr/>
          <p:nvPr/>
        </p:nvSpPr>
        <p:spPr>
          <a:xfrm>
            <a:off x="590550" y="2876550"/>
            <a:ext cx="647700" cy="533400"/>
          </a:xfrm>
          <a:prstGeom prst="rect">
            <a:avLst/>
          </a:prstGeom>
          <a:noFill/>
          <a:ln/>
        </p:spPr>
        <p:txBody>
          <a:bodyPr wrap="square" lIns="0" tIns="0" rIns="0" bIns="0" rtlCol="0" anchor="ctr"/>
          <a:lstStyle/>
          <a:p>
            <a:pPr algn="ctr">
              <a:lnSpc>
                <a:spcPct val="110000"/>
              </a:lnSpc>
            </a:pPr>
            <a:r>
              <a:rPr lang="en-US" sz="1800" b="1" dirty="0">
                <a:solidFill>
                  <a:srgbClr val="F8F7F5"/>
                </a:solidFill>
                <a:latin typeface="Liter" pitchFamily="34" charset="0"/>
                <a:ea typeface="Liter" pitchFamily="34" charset="-122"/>
                <a:cs typeface="Liter" pitchFamily="34" charset="-120"/>
              </a:rPr>
              <a:t>SJ</a:t>
            </a:r>
            <a:endParaRPr lang="en-US" sz="1600" dirty="0"/>
          </a:p>
        </p:txBody>
      </p:sp>
      <p:sp>
        <p:nvSpPr>
          <p:cNvPr id="15" name="Text 13"/>
          <p:cNvSpPr/>
          <p:nvPr/>
        </p:nvSpPr>
        <p:spPr>
          <a:xfrm>
            <a:off x="1276350" y="3009900"/>
            <a:ext cx="2004646" cy="228600"/>
          </a:xfrm>
          <a:prstGeom prst="rect">
            <a:avLst/>
          </a:prstGeom>
          <a:noFill/>
          <a:ln/>
        </p:spPr>
        <p:txBody>
          <a:bodyPr wrap="square" lIns="0" tIns="0" rIns="0" bIns="0" rtlCol="0" anchor="ctr"/>
          <a:lstStyle/>
          <a:p>
            <a:pPr>
              <a:lnSpc>
                <a:spcPct val="110000"/>
              </a:lnSpc>
            </a:pPr>
            <a:r>
              <a:rPr lang="en-US" sz="1800" b="1" dirty="0">
                <a:solidFill>
                  <a:srgbClr val="2A4D53"/>
                </a:solidFill>
                <a:latin typeface="Liter" pitchFamily="34" charset="0"/>
                <a:ea typeface="Liter" pitchFamily="34" charset="-122"/>
                <a:cs typeface="Liter" pitchFamily="34" charset="-120"/>
              </a:rPr>
              <a:t>Saadatu Jumare</a:t>
            </a:r>
            <a:endParaRPr lang="en-US" sz="1600" dirty="0"/>
          </a:p>
        </p:txBody>
      </p:sp>
      <p:sp>
        <p:nvSpPr>
          <p:cNvPr id="17" name="Shape 15"/>
          <p:cNvSpPr/>
          <p:nvPr/>
        </p:nvSpPr>
        <p:spPr>
          <a:xfrm>
            <a:off x="400050" y="3848100"/>
            <a:ext cx="5581650" cy="1028700"/>
          </a:xfrm>
          <a:custGeom>
            <a:avLst/>
            <a:gdLst/>
            <a:ahLst/>
            <a:cxnLst/>
            <a:rect l="l" t="t" r="r" b="b"/>
            <a:pathLst>
              <a:path w="5581650" h="1028700">
                <a:moveTo>
                  <a:pt x="0" y="0"/>
                </a:moveTo>
                <a:lnTo>
                  <a:pt x="5581650" y="0"/>
                </a:lnTo>
                <a:lnTo>
                  <a:pt x="5581650" y="1028700"/>
                </a:lnTo>
                <a:lnTo>
                  <a:pt x="0" y="1028700"/>
                </a:lnTo>
                <a:lnTo>
                  <a:pt x="0" y="0"/>
                </a:lnTo>
                <a:close/>
              </a:path>
            </a:pathLst>
          </a:custGeom>
          <a:solidFill>
            <a:srgbClr val="FFFFFF"/>
          </a:solidFill>
          <a:ln/>
          <a:effectLst>
            <a:outerShdw blurRad="28575" dist="9525" dir="5400000" algn="bl" rotWithShape="0">
              <a:srgbClr val="000000">
                <a:alpha val="10196"/>
              </a:srgbClr>
            </a:outerShdw>
          </a:effectLst>
        </p:spPr>
      </p:sp>
      <p:sp>
        <p:nvSpPr>
          <p:cNvPr id="18" name="Shape 16"/>
          <p:cNvSpPr/>
          <p:nvPr/>
        </p:nvSpPr>
        <p:spPr>
          <a:xfrm>
            <a:off x="400050" y="3848100"/>
            <a:ext cx="38100" cy="1028700"/>
          </a:xfrm>
          <a:custGeom>
            <a:avLst/>
            <a:gdLst/>
            <a:ahLst/>
            <a:cxnLst/>
            <a:rect l="l" t="t" r="r" b="b"/>
            <a:pathLst>
              <a:path w="38100" h="1028700">
                <a:moveTo>
                  <a:pt x="0" y="0"/>
                </a:moveTo>
                <a:lnTo>
                  <a:pt x="38100" y="0"/>
                </a:lnTo>
                <a:lnTo>
                  <a:pt x="38100" y="1028700"/>
                </a:lnTo>
                <a:lnTo>
                  <a:pt x="0" y="1028700"/>
                </a:lnTo>
                <a:lnTo>
                  <a:pt x="0" y="0"/>
                </a:lnTo>
                <a:close/>
              </a:path>
            </a:pathLst>
          </a:custGeom>
          <a:solidFill>
            <a:srgbClr val="2A4D53"/>
          </a:solidFill>
          <a:ln/>
        </p:spPr>
      </p:sp>
      <p:sp>
        <p:nvSpPr>
          <p:cNvPr id="19" name="Shape 17"/>
          <p:cNvSpPr/>
          <p:nvPr/>
        </p:nvSpPr>
        <p:spPr>
          <a:xfrm>
            <a:off x="647700" y="409575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2A4D53"/>
          </a:solidFill>
          <a:ln/>
        </p:spPr>
      </p:sp>
      <p:sp>
        <p:nvSpPr>
          <p:cNvPr id="20" name="Text 18"/>
          <p:cNvSpPr/>
          <p:nvPr/>
        </p:nvSpPr>
        <p:spPr>
          <a:xfrm>
            <a:off x="590550" y="4095750"/>
            <a:ext cx="647700" cy="533400"/>
          </a:xfrm>
          <a:prstGeom prst="rect">
            <a:avLst/>
          </a:prstGeom>
          <a:noFill/>
          <a:ln/>
        </p:spPr>
        <p:txBody>
          <a:bodyPr wrap="square" lIns="0" tIns="0" rIns="0" bIns="0" rtlCol="0" anchor="ctr"/>
          <a:lstStyle/>
          <a:p>
            <a:pPr algn="ctr">
              <a:lnSpc>
                <a:spcPct val="110000"/>
              </a:lnSpc>
            </a:pPr>
            <a:r>
              <a:rPr lang="en-US" sz="1800" b="1" dirty="0">
                <a:solidFill>
                  <a:srgbClr val="F8F7F5"/>
                </a:solidFill>
                <a:latin typeface="Liter" pitchFamily="34" charset="0"/>
                <a:ea typeface="Liter" pitchFamily="34" charset="-122"/>
                <a:cs typeface="Liter" pitchFamily="34" charset="-120"/>
              </a:rPr>
              <a:t>HD</a:t>
            </a:r>
            <a:endParaRPr lang="en-US" sz="1600" dirty="0"/>
          </a:p>
        </p:txBody>
      </p:sp>
      <p:sp>
        <p:nvSpPr>
          <p:cNvPr id="21" name="Text 19"/>
          <p:cNvSpPr/>
          <p:nvPr/>
        </p:nvSpPr>
        <p:spPr>
          <a:xfrm>
            <a:off x="1309761" y="4229100"/>
            <a:ext cx="3041552" cy="228600"/>
          </a:xfrm>
          <a:prstGeom prst="rect">
            <a:avLst/>
          </a:prstGeom>
          <a:noFill/>
          <a:ln/>
        </p:spPr>
        <p:txBody>
          <a:bodyPr wrap="square" lIns="0" tIns="0" rIns="0" bIns="0" rtlCol="0" anchor="ctr"/>
          <a:lstStyle/>
          <a:p>
            <a:pPr>
              <a:lnSpc>
                <a:spcPct val="110000"/>
              </a:lnSpc>
            </a:pPr>
            <a:r>
              <a:rPr lang="en-US" sz="1800" b="1" dirty="0">
                <a:solidFill>
                  <a:srgbClr val="2A4D53"/>
                </a:solidFill>
                <a:latin typeface="Liter" pitchFamily="34" charset="0"/>
                <a:ea typeface="Liter" pitchFamily="34" charset="-122"/>
                <a:cs typeface="Liter" pitchFamily="34" charset="-120"/>
              </a:rPr>
              <a:t>Habila Dinatu Zephaniah</a:t>
            </a:r>
            <a:endParaRPr lang="en-US" sz="1600" dirty="0"/>
          </a:p>
        </p:txBody>
      </p:sp>
      <p:sp>
        <p:nvSpPr>
          <p:cNvPr id="23" name="Shape 21"/>
          <p:cNvSpPr/>
          <p:nvPr/>
        </p:nvSpPr>
        <p:spPr>
          <a:xfrm>
            <a:off x="6229350" y="1409700"/>
            <a:ext cx="5581650" cy="1028700"/>
          </a:xfrm>
          <a:custGeom>
            <a:avLst/>
            <a:gdLst/>
            <a:ahLst/>
            <a:cxnLst/>
            <a:rect l="l" t="t" r="r" b="b"/>
            <a:pathLst>
              <a:path w="5581650" h="1028700">
                <a:moveTo>
                  <a:pt x="0" y="0"/>
                </a:moveTo>
                <a:lnTo>
                  <a:pt x="5581650" y="0"/>
                </a:lnTo>
                <a:lnTo>
                  <a:pt x="5581650" y="1028700"/>
                </a:lnTo>
                <a:lnTo>
                  <a:pt x="0" y="1028700"/>
                </a:lnTo>
                <a:lnTo>
                  <a:pt x="0" y="0"/>
                </a:lnTo>
                <a:close/>
              </a:path>
            </a:pathLst>
          </a:custGeom>
          <a:solidFill>
            <a:srgbClr val="FFFFFF"/>
          </a:solidFill>
          <a:ln/>
          <a:effectLst>
            <a:outerShdw blurRad="28575" dist="9525" dir="5400000" algn="bl" rotWithShape="0">
              <a:srgbClr val="000000">
                <a:alpha val="10196"/>
              </a:srgbClr>
            </a:outerShdw>
          </a:effectLst>
        </p:spPr>
      </p:sp>
      <p:sp>
        <p:nvSpPr>
          <p:cNvPr id="24" name="Shape 22"/>
          <p:cNvSpPr/>
          <p:nvPr/>
        </p:nvSpPr>
        <p:spPr>
          <a:xfrm>
            <a:off x="6229350" y="1409700"/>
            <a:ext cx="38100" cy="1028700"/>
          </a:xfrm>
          <a:custGeom>
            <a:avLst/>
            <a:gdLst/>
            <a:ahLst/>
            <a:cxnLst/>
            <a:rect l="l" t="t" r="r" b="b"/>
            <a:pathLst>
              <a:path w="38100" h="1028700">
                <a:moveTo>
                  <a:pt x="0" y="0"/>
                </a:moveTo>
                <a:lnTo>
                  <a:pt x="38100" y="0"/>
                </a:lnTo>
                <a:lnTo>
                  <a:pt x="38100" y="1028700"/>
                </a:lnTo>
                <a:lnTo>
                  <a:pt x="0" y="1028700"/>
                </a:lnTo>
                <a:lnTo>
                  <a:pt x="0" y="0"/>
                </a:lnTo>
                <a:close/>
              </a:path>
            </a:pathLst>
          </a:custGeom>
          <a:solidFill>
            <a:srgbClr val="C87E62"/>
          </a:solidFill>
          <a:ln/>
        </p:spPr>
      </p:sp>
      <p:sp>
        <p:nvSpPr>
          <p:cNvPr id="25" name="Shape 23"/>
          <p:cNvSpPr/>
          <p:nvPr/>
        </p:nvSpPr>
        <p:spPr>
          <a:xfrm>
            <a:off x="6477000" y="165735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C87E62"/>
          </a:solidFill>
          <a:ln/>
        </p:spPr>
      </p:sp>
      <p:sp>
        <p:nvSpPr>
          <p:cNvPr id="26" name="Text 24"/>
          <p:cNvSpPr/>
          <p:nvPr/>
        </p:nvSpPr>
        <p:spPr>
          <a:xfrm>
            <a:off x="6419850" y="1657350"/>
            <a:ext cx="647700" cy="533400"/>
          </a:xfrm>
          <a:prstGeom prst="rect">
            <a:avLst/>
          </a:prstGeom>
          <a:noFill/>
          <a:ln/>
        </p:spPr>
        <p:txBody>
          <a:bodyPr wrap="square" lIns="0" tIns="0" rIns="0" bIns="0" rtlCol="0" anchor="ctr"/>
          <a:lstStyle/>
          <a:p>
            <a:pPr algn="ctr">
              <a:lnSpc>
                <a:spcPct val="110000"/>
              </a:lnSpc>
            </a:pPr>
            <a:r>
              <a:rPr lang="en-US" sz="1800" b="1" dirty="0">
                <a:solidFill>
                  <a:srgbClr val="F8F7F5"/>
                </a:solidFill>
                <a:latin typeface="Liter" pitchFamily="34" charset="0"/>
                <a:ea typeface="Liter" pitchFamily="34" charset="-122"/>
                <a:cs typeface="Liter" pitchFamily="34" charset="-120"/>
              </a:rPr>
              <a:t>SA</a:t>
            </a:r>
            <a:endParaRPr lang="en-US" sz="1600" dirty="0"/>
          </a:p>
        </p:txBody>
      </p:sp>
      <p:sp>
        <p:nvSpPr>
          <p:cNvPr id="27" name="Text 25"/>
          <p:cNvSpPr/>
          <p:nvPr/>
        </p:nvSpPr>
        <p:spPr>
          <a:xfrm>
            <a:off x="7138159" y="1771650"/>
            <a:ext cx="2927003" cy="342900"/>
          </a:xfrm>
          <a:prstGeom prst="rect">
            <a:avLst/>
          </a:prstGeom>
          <a:noFill/>
          <a:ln/>
        </p:spPr>
        <p:txBody>
          <a:bodyPr wrap="square" lIns="0" tIns="0" rIns="0" bIns="0" rtlCol="0" anchor="ctr"/>
          <a:lstStyle/>
          <a:p>
            <a:pPr>
              <a:lnSpc>
                <a:spcPct val="110000"/>
              </a:lnSpc>
            </a:pPr>
            <a:r>
              <a:rPr lang="en-US" sz="1800" b="1" dirty="0">
                <a:solidFill>
                  <a:srgbClr val="2A4D53"/>
                </a:solidFill>
                <a:latin typeface="Liter" pitchFamily="34" charset="0"/>
                <a:ea typeface="Liter" pitchFamily="34" charset="-122"/>
                <a:cs typeface="Liter" pitchFamily="34" charset="-120"/>
              </a:rPr>
              <a:t>Sidiq Abdulkadir Akanbi</a:t>
            </a:r>
            <a:endParaRPr lang="en-US" sz="1600" dirty="0"/>
          </a:p>
        </p:txBody>
      </p:sp>
      <p:sp>
        <p:nvSpPr>
          <p:cNvPr id="29" name="Shape 27"/>
          <p:cNvSpPr/>
          <p:nvPr/>
        </p:nvSpPr>
        <p:spPr>
          <a:xfrm>
            <a:off x="6229350" y="2628900"/>
            <a:ext cx="5581650" cy="1028700"/>
          </a:xfrm>
          <a:custGeom>
            <a:avLst/>
            <a:gdLst/>
            <a:ahLst/>
            <a:cxnLst/>
            <a:rect l="l" t="t" r="r" b="b"/>
            <a:pathLst>
              <a:path w="5581650" h="1028700">
                <a:moveTo>
                  <a:pt x="0" y="0"/>
                </a:moveTo>
                <a:lnTo>
                  <a:pt x="5581650" y="0"/>
                </a:lnTo>
                <a:lnTo>
                  <a:pt x="5581650" y="1028700"/>
                </a:lnTo>
                <a:lnTo>
                  <a:pt x="0" y="1028700"/>
                </a:lnTo>
                <a:lnTo>
                  <a:pt x="0" y="0"/>
                </a:lnTo>
                <a:close/>
              </a:path>
            </a:pathLst>
          </a:custGeom>
          <a:solidFill>
            <a:srgbClr val="FFFFFF"/>
          </a:solidFill>
          <a:ln/>
          <a:effectLst>
            <a:outerShdw blurRad="28575" dist="9525" dir="5400000" algn="bl" rotWithShape="0">
              <a:srgbClr val="000000">
                <a:alpha val="10196"/>
              </a:srgbClr>
            </a:outerShdw>
          </a:effectLst>
        </p:spPr>
      </p:sp>
      <p:sp>
        <p:nvSpPr>
          <p:cNvPr id="30" name="Shape 28"/>
          <p:cNvSpPr/>
          <p:nvPr/>
        </p:nvSpPr>
        <p:spPr>
          <a:xfrm>
            <a:off x="6229350" y="2628900"/>
            <a:ext cx="38100" cy="1028700"/>
          </a:xfrm>
          <a:custGeom>
            <a:avLst/>
            <a:gdLst/>
            <a:ahLst/>
            <a:cxnLst/>
            <a:rect l="l" t="t" r="r" b="b"/>
            <a:pathLst>
              <a:path w="38100" h="1028700">
                <a:moveTo>
                  <a:pt x="0" y="0"/>
                </a:moveTo>
                <a:lnTo>
                  <a:pt x="38100" y="0"/>
                </a:lnTo>
                <a:lnTo>
                  <a:pt x="38100" y="1028700"/>
                </a:lnTo>
                <a:lnTo>
                  <a:pt x="0" y="1028700"/>
                </a:lnTo>
                <a:lnTo>
                  <a:pt x="0" y="0"/>
                </a:lnTo>
                <a:close/>
              </a:path>
            </a:pathLst>
          </a:custGeom>
          <a:solidFill>
            <a:srgbClr val="2A4D53"/>
          </a:solidFill>
          <a:ln/>
        </p:spPr>
      </p:sp>
      <p:sp>
        <p:nvSpPr>
          <p:cNvPr id="31" name="Shape 29"/>
          <p:cNvSpPr/>
          <p:nvPr/>
        </p:nvSpPr>
        <p:spPr>
          <a:xfrm>
            <a:off x="6477000" y="287655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2A4D53"/>
          </a:solidFill>
          <a:ln/>
        </p:spPr>
      </p:sp>
      <p:sp>
        <p:nvSpPr>
          <p:cNvPr id="32" name="Text 30"/>
          <p:cNvSpPr/>
          <p:nvPr/>
        </p:nvSpPr>
        <p:spPr>
          <a:xfrm>
            <a:off x="6419850" y="2876550"/>
            <a:ext cx="647700" cy="533400"/>
          </a:xfrm>
          <a:prstGeom prst="rect">
            <a:avLst/>
          </a:prstGeom>
          <a:noFill/>
          <a:ln/>
        </p:spPr>
        <p:txBody>
          <a:bodyPr wrap="square" lIns="0" tIns="0" rIns="0" bIns="0" rtlCol="0" anchor="ctr"/>
          <a:lstStyle/>
          <a:p>
            <a:pPr algn="ctr">
              <a:lnSpc>
                <a:spcPct val="110000"/>
              </a:lnSpc>
            </a:pPr>
            <a:r>
              <a:rPr lang="en-US" sz="1800" b="1" dirty="0">
                <a:solidFill>
                  <a:srgbClr val="F8F7F5"/>
                </a:solidFill>
                <a:latin typeface="Liter" pitchFamily="34" charset="0"/>
                <a:ea typeface="Liter" pitchFamily="34" charset="-122"/>
                <a:cs typeface="Liter" pitchFamily="34" charset="-120"/>
              </a:rPr>
              <a:t>AA</a:t>
            </a:r>
            <a:endParaRPr lang="en-US" sz="1600" dirty="0"/>
          </a:p>
        </p:txBody>
      </p:sp>
      <p:sp>
        <p:nvSpPr>
          <p:cNvPr id="33" name="Text 31"/>
          <p:cNvSpPr/>
          <p:nvPr/>
        </p:nvSpPr>
        <p:spPr>
          <a:xfrm>
            <a:off x="7067550" y="3039354"/>
            <a:ext cx="2822228" cy="209550"/>
          </a:xfrm>
          <a:prstGeom prst="rect">
            <a:avLst/>
          </a:prstGeom>
          <a:noFill/>
          <a:ln/>
        </p:spPr>
        <p:txBody>
          <a:bodyPr wrap="square" lIns="0" tIns="0" rIns="0" bIns="0" rtlCol="0" anchor="ctr"/>
          <a:lstStyle/>
          <a:p>
            <a:pPr>
              <a:lnSpc>
                <a:spcPct val="110000"/>
              </a:lnSpc>
            </a:pPr>
            <a:r>
              <a:rPr lang="en-US" sz="1800" b="1" dirty="0">
                <a:solidFill>
                  <a:srgbClr val="2A4D53"/>
                </a:solidFill>
                <a:latin typeface="Liter" pitchFamily="34" charset="0"/>
                <a:ea typeface="Liter" pitchFamily="34" charset="-122"/>
                <a:cs typeface="Liter" pitchFamily="34" charset="-120"/>
              </a:rPr>
              <a:t>Abdulrashid Abdullahi</a:t>
            </a:r>
            <a:endParaRPr lang="en-US" sz="1600" dirty="0"/>
          </a:p>
        </p:txBody>
      </p:sp>
      <p:sp>
        <p:nvSpPr>
          <p:cNvPr id="35" name="Shape 33"/>
          <p:cNvSpPr/>
          <p:nvPr/>
        </p:nvSpPr>
        <p:spPr>
          <a:xfrm>
            <a:off x="6229350" y="3848100"/>
            <a:ext cx="5581650" cy="1028700"/>
          </a:xfrm>
          <a:custGeom>
            <a:avLst/>
            <a:gdLst/>
            <a:ahLst/>
            <a:cxnLst/>
            <a:rect l="l" t="t" r="r" b="b"/>
            <a:pathLst>
              <a:path w="5581650" h="1028700">
                <a:moveTo>
                  <a:pt x="0" y="0"/>
                </a:moveTo>
                <a:lnTo>
                  <a:pt x="5581650" y="0"/>
                </a:lnTo>
                <a:lnTo>
                  <a:pt x="5581650" y="1028700"/>
                </a:lnTo>
                <a:lnTo>
                  <a:pt x="0" y="1028700"/>
                </a:lnTo>
                <a:lnTo>
                  <a:pt x="0" y="0"/>
                </a:lnTo>
                <a:close/>
              </a:path>
            </a:pathLst>
          </a:custGeom>
          <a:solidFill>
            <a:srgbClr val="FFFFFF"/>
          </a:solidFill>
          <a:ln/>
          <a:effectLst>
            <a:outerShdw blurRad="28575" dist="9525" dir="5400000" algn="bl" rotWithShape="0">
              <a:srgbClr val="000000">
                <a:alpha val="10196"/>
              </a:srgbClr>
            </a:outerShdw>
          </a:effectLst>
        </p:spPr>
      </p:sp>
      <p:sp>
        <p:nvSpPr>
          <p:cNvPr id="36" name="Shape 34"/>
          <p:cNvSpPr/>
          <p:nvPr/>
        </p:nvSpPr>
        <p:spPr>
          <a:xfrm>
            <a:off x="6229350" y="3848100"/>
            <a:ext cx="38100" cy="1028700"/>
          </a:xfrm>
          <a:custGeom>
            <a:avLst/>
            <a:gdLst/>
            <a:ahLst/>
            <a:cxnLst/>
            <a:rect l="l" t="t" r="r" b="b"/>
            <a:pathLst>
              <a:path w="38100" h="1028700">
                <a:moveTo>
                  <a:pt x="0" y="0"/>
                </a:moveTo>
                <a:lnTo>
                  <a:pt x="38100" y="0"/>
                </a:lnTo>
                <a:lnTo>
                  <a:pt x="38100" y="1028700"/>
                </a:lnTo>
                <a:lnTo>
                  <a:pt x="0" y="1028700"/>
                </a:lnTo>
                <a:lnTo>
                  <a:pt x="0" y="0"/>
                </a:lnTo>
                <a:close/>
              </a:path>
            </a:pathLst>
          </a:custGeom>
          <a:solidFill>
            <a:srgbClr val="C87E62"/>
          </a:solidFill>
          <a:ln/>
        </p:spPr>
      </p:sp>
      <p:sp>
        <p:nvSpPr>
          <p:cNvPr id="37" name="Shape 35"/>
          <p:cNvSpPr/>
          <p:nvPr/>
        </p:nvSpPr>
        <p:spPr>
          <a:xfrm>
            <a:off x="6477000" y="4095750"/>
            <a:ext cx="533400" cy="533400"/>
          </a:xfrm>
          <a:custGeom>
            <a:avLst/>
            <a:gdLst/>
            <a:ahLst/>
            <a:cxnLst/>
            <a:rect l="l" t="t" r="r" b="b"/>
            <a:pathLst>
              <a:path w="533400" h="533400">
                <a:moveTo>
                  <a:pt x="0" y="0"/>
                </a:moveTo>
                <a:lnTo>
                  <a:pt x="533400" y="0"/>
                </a:lnTo>
                <a:lnTo>
                  <a:pt x="533400" y="533400"/>
                </a:lnTo>
                <a:lnTo>
                  <a:pt x="0" y="533400"/>
                </a:lnTo>
                <a:lnTo>
                  <a:pt x="0" y="0"/>
                </a:lnTo>
                <a:close/>
              </a:path>
            </a:pathLst>
          </a:custGeom>
          <a:solidFill>
            <a:srgbClr val="C87E62"/>
          </a:solidFill>
          <a:ln/>
        </p:spPr>
      </p:sp>
      <p:sp>
        <p:nvSpPr>
          <p:cNvPr id="38" name="Text 36"/>
          <p:cNvSpPr/>
          <p:nvPr/>
        </p:nvSpPr>
        <p:spPr>
          <a:xfrm>
            <a:off x="6419850" y="4095750"/>
            <a:ext cx="647700" cy="533400"/>
          </a:xfrm>
          <a:prstGeom prst="rect">
            <a:avLst/>
          </a:prstGeom>
          <a:noFill/>
          <a:ln/>
        </p:spPr>
        <p:txBody>
          <a:bodyPr wrap="square" lIns="0" tIns="0" rIns="0" bIns="0" rtlCol="0" anchor="ctr"/>
          <a:lstStyle/>
          <a:p>
            <a:pPr algn="ctr">
              <a:lnSpc>
                <a:spcPct val="110000"/>
              </a:lnSpc>
            </a:pPr>
            <a:r>
              <a:rPr lang="en-US" sz="1800" b="1" dirty="0">
                <a:solidFill>
                  <a:srgbClr val="F8F7F5"/>
                </a:solidFill>
                <a:latin typeface="Liter" pitchFamily="34" charset="0"/>
                <a:ea typeface="Liter" pitchFamily="34" charset="-122"/>
                <a:cs typeface="Liter" pitchFamily="34" charset="-120"/>
              </a:rPr>
              <a:t>AB</a:t>
            </a:r>
            <a:endParaRPr lang="en-US" sz="1600" dirty="0"/>
          </a:p>
        </p:txBody>
      </p:sp>
      <p:sp>
        <p:nvSpPr>
          <p:cNvPr id="39" name="Text 37"/>
          <p:cNvSpPr/>
          <p:nvPr/>
        </p:nvSpPr>
        <p:spPr>
          <a:xfrm>
            <a:off x="7196211" y="4229100"/>
            <a:ext cx="1727982" cy="304800"/>
          </a:xfrm>
          <a:prstGeom prst="rect">
            <a:avLst/>
          </a:prstGeom>
          <a:noFill/>
          <a:ln/>
        </p:spPr>
        <p:txBody>
          <a:bodyPr wrap="square" lIns="0" tIns="0" rIns="0" bIns="0" rtlCol="0" anchor="ctr"/>
          <a:lstStyle/>
          <a:p>
            <a:pPr>
              <a:lnSpc>
                <a:spcPct val="110000"/>
              </a:lnSpc>
            </a:pPr>
            <a:r>
              <a:rPr lang="en-US" sz="1800" b="1" dirty="0">
                <a:solidFill>
                  <a:srgbClr val="2A4D53"/>
                </a:solidFill>
                <a:latin typeface="Liter" pitchFamily="34" charset="0"/>
                <a:ea typeface="Liter" pitchFamily="34" charset="-122"/>
                <a:cs typeface="Liter" pitchFamily="34" charset="-120"/>
              </a:rPr>
              <a:t>Aliyu Bashir</a:t>
            </a:r>
            <a:endParaRPr lang="en-US" sz="1600" dirty="0"/>
          </a:p>
        </p:txBody>
      </p:sp>
      <p:sp>
        <p:nvSpPr>
          <p:cNvPr id="41" name="Shape 39"/>
          <p:cNvSpPr/>
          <p:nvPr/>
        </p:nvSpPr>
        <p:spPr>
          <a:xfrm>
            <a:off x="381000" y="5829300"/>
            <a:ext cx="11430000" cy="647700"/>
          </a:xfrm>
          <a:custGeom>
            <a:avLst/>
            <a:gdLst/>
            <a:ahLst/>
            <a:cxnLst/>
            <a:rect l="l" t="t" r="r" b="b"/>
            <a:pathLst>
              <a:path w="11430000" h="647700">
                <a:moveTo>
                  <a:pt x="0" y="0"/>
                </a:moveTo>
                <a:lnTo>
                  <a:pt x="11430000" y="0"/>
                </a:lnTo>
                <a:lnTo>
                  <a:pt x="11430000" y="647700"/>
                </a:lnTo>
                <a:lnTo>
                  <a:pt x="0" y="647700"/>
                </a:lnTo>
                <a:lnTo>
                  <a:pt x="0" y="0"/>
                </a:lnTo>
                <a:close/>
              </a:path>
            </a:pathLst>
          </a:custGeom>
          <a:solidFill>
            <a:srgbClr val="2A4D53">
              <a:alpha val="5098"/>
            </a:srgbClr>
          </a:solidFill>
          <a:ln/>
        </p:spPr>
      </p:sp>
      <p:sp>
        <p:nvSpPr>
          <p:cNvPr id="42" name="Shape 40"/>
          <p:cNvSpPr/>
          <p:nvPr/>
        </p:nvSpPr>
        <p:spPr>
          <a:xfrm>
            <a:off x="571500" y="6038850"/>
            <a:ext cx="285750" cy="228600"/>
          </a:xfrm>
          <a:custGeom>
            <a:avLst/>
            <a:gdLst/>
            <a:ahLst/>
            <a:cxnLst/>
            <a:rect l="l" t="t" r="r" b="b"/>
            <a:pathLst>
              <a:path w="285750" h="228600">
                <a:moveTo>
                  <a:pt x="142875" y="7144"/>
                </a:moveTo>
                <a:cubicBezTo>
                  <a:pt x="168503" y="7144"/>
                  <a:pt x="189309" y="27950"/>
                  <a:pt x="189309" y="53578"/>
                </a:cubicBezTo>
                <a:cubicBezTo>
                  <a:pt x="189309" y="79206"/>
                  <a:pt x="168503" y="100013"/>
                  <a:pt x="142875" y="100013"/>
                </a:cubicBezTo>
                <a:cubicBezTo>
                  <a:pt x="117247" y="100013"/>
                  <a:pt x="96441" y="79206"/>
                  <a:pt x="96441" y="53578"/>
                </a:cubicBezTo>
                <a:cubicBezTo>
                  <a:pt x="96441" y="27950"/>
                  <a:pt x="117247" y="7144"/>
                  <a:pt x="142875" y="7144"/>
                </a:cubicBezTo>
                <a:close/>
                <a:moveTo>
                  <a:pt x="42863" y="39291"/>
                </a:moveTo>
                <a:cubicBezTo>
                  <a:pt x="60605" y="39291"/>
                  <a:pt x="75009" y="53695"/>
                  <a:pt x="75009" y="71438"/>
                </a:cubicBezTo>
                <a:cubicBezTo>
                  <a:pt x="75009" y="89180"/>
                  <a:pt x="60605" y="103584"/>
                  <a:pt x="42863" y="103584"/>
                </a:cubicBezTo>
                <a:cubicBezTo>
                  <a:pt x="25120" y="103584"/>
                  <a:pt x="10716" y="89180"/>
                  <a:pt x="10716" y="71438"/>
                </a:cubicBezTo>
                <a:cubicBezTo>
                  <a:pt x="10716" y="53695"/>
                  <a:pt x="25120" y="39291"/>
                  <a:pt x="42862" y="39291"/>
                </a:cubicBezTo>
                <a:close/>
                <a:moveTo>
                  <a:pt x="0" y="185738"/>
                </a:moveTo>
                <a:cubicBezTo>
                  <a:pt x="0" y="154171"/>
                  <a:pt x="25584" y="128588"/>
                  <a:pt x="57150" y="128588"/>
                </a:cubicBezTo>
                <a:cubicBezTo>
                  <a:pt x="62865" y="128588"/>
                  <a:pt x="68401" y="129436"/>
                  <a:pt x="73625" y="130999"/>
                </a:cubicBezTo>
                <a:cubicBezTo>
                  <a:pt x="58936" y="147429"/>
                  <a:pt x="50006" y="169128"/>
                  <a:pt x="50006" y="192881"/>
                </a:cubicBezTo>
                <a:lnTo>
                  <a:pt x="50006" y="200025"/>
                </a:lnTo>
                <a:cubicBezTo>
                  <a:pt x="50006" y="205115"/>
                  <a:pt x="51078" y="209937"/>
                  <a:pt x="52998" y="214313"/>
                </a:cubicBezTo>
                <a:lnTo>
                  <a:pt x="14288" y="214313"/>
                </a:lnTo>
                <a:cubicBezTo>
                  <a:pt x="6385" y="214313"/>
                  <a:pt x="0" y="207928"/>
                  <a:pt x="0" y="200025"/>
                </a:cubicBezTo>
                <a:lnTo>
                  <a:pt x="0" y="185738"/>
                </a:lnTo>
                <a:close/>
                <a:moveTo>
                  <a:pt x="232752" y="214313"/>
                </a:moveTo>
                <a:cubicBezTo>
                  <a:pt x="234672" y="209937"/>
                  <a:pt x="235744" y="205115"/>
                  <a:pt x="235744" y="200025"/>
                </a:cubicBezTo>
                <a:lnTo>
                  <a:pt x="235744" y="192881"/>
                </a:lnTo>
                <a:cubicBezTo>
                  <a:pt x="235744" y="169128"/>
                  <a:pt x="226814" y="147429"/>
                  <a:pt x="212125" y="130999"/>
                </a:cubicBezTo>
                <a:cubicBezTo>
                  <a:pt x="217349" y="129436"/>
                  <a:pt x="222885" y="128588"/>
                  <a:pt x="228600" y="128588"/>
                </a:cubicBezTo>
                <a:cubicBezTo>
                  <a:pt x="260166" y="128588"/>
                  <a:pt x="285750" y="154171"/>
                  <a:pt x="285750" y="185738"/>
                </a:cubicBezTo>
                <a:lnTo>
                  <a:pt x="285750" y="200025"/>
                </a:lnTo>
                <a:cubicBezTo>
                  <a:pt x="285750" y="207928"/>
                  <a:pt x="279365" y="214313"/>
                  <a:pt x="271463" y="214313"/>
                </a:cubicBezTo>
                <a:lnTo>
                  <a:pt x="232752" y="214313"/>
                </a:lnTo>
                <a:close/>
                <a:moveTo>
                  <a:pt x="210741" y="71438"/>
                </a:moveTo>
                <a:cubicBezTo>
                  <a:pt x="210741" y="53695"/>
                  <a:pt x="225145" y="39291"/>
                  <a:pt x="242888" y="39291"/>
                </a:cubicBezTo>
                <a:cubicBezTo>
                  <a:pt x="260630" y="39291"/>
                  <a:pt x="275034" y="53695"/>
                  <a:pt x="275034" y="71437"/>
                </a:cubicBezTo>
                <a:cubicBezTo>
                  <a:pt x="275034" y="89180"/>
                  <a:pt x="260630" y="103584"/>
                  <a:pt x="242888" y="103584"/>
                </a:cubicBezTo>
                <a:cubicBezTo>
                  <a:pt x="225145" y="103584"/>
                  <a:pt x="210741" y="89180"/>
                  <a:pt x="210741" y="71438"/>
                </a:cubicBezTo>
                <a:close/>
                <a:moveTo>
                  <a:pt x="71438" y="192881"/>
                </a:moveTo>
                <a:cubicBezTo>
                  <a:pt x="71438" y="153412"/>
                  <a:pt x="103406" y="121444"/>
                  <a:pt x="142875" y="121444"/>
                </a:cubicBezTo>
                <a:cubicBezTo>
                  <a:pt x="182344" y="121444"/>
                  <a:pt x="214313" y="153412"/>
                  <a:pt x="214313" y="192881"/>
                </a:cubicBezTo>
                <a:lnTo>
                  <a:pt x="214313" y="200025"/>
                </a:lnTo>
                <a:cubicBezTo>
                  <a:pt x="214313" y="207928"/>
                  <a:pt x="207928" y="214313"/>
                  <a:pt x="200025" y="214313"/>
                </a:cubicBezTo>
                <a:lnTo>
                  <a:pt x="85725" y="214313"/>
                </a:lnTo>
                <a:cubicBezTo>
                  <a:pt x="77822" y="214313"/>
                  <a:pt x="71438" y="207928"/>
                  <a:pt x="71438" y="200025"/>
                </a:cubicBezTo>
                <a:lnTo>
                  <a:pt x="71438" y="192881"/>
                </a:lnTo>
                <a:close/>
              </a:path>
            </a:pathLst>
          </a:custGeom>
          <a:solidFill>
            <a:srgbClr val="C87E62"/>
          </a:solidFill>
          <a:ln/>
        </p:spPr>
      </p:sp>
      <p:sp>
        <p:nvSpPr>
          <p:cNvPr id="43" name="Text 41"/>
          <p:cNvSpPr/>
          <p:nvPr/>
        </p:nvSpPr>
        <p:spPr>
          <a:xfrm>
            <a:off x="971550" y="6019800"/>
            <a:ext cx="1285875" cy="266700"/>
          </a:xfrm>
          <a:prstGeom prst="rect">
            <a:avLst/>
          </a:prstGeom>
          <a:noFill/>
          <a:ln/>
        </p:spPr>
        <p:txBody>
          <a:bodyPr wrap="square" lIns="0" tIns="0" rIns="0" bIns="0" rtlCol="0" anchor="ctr"/>
          <a:lstStyle/>
          <a:p>
            <a:pPr>
              <a:lnSpc>
                <a:spcPct val="120000"/>
              </a:lnSpc>
            </a:pPr>
            <a:r>
              <a:rPr lang="en-US" sz="1500" b="1" dirty="0">
                <a:solidFill>
                  <a:srgbClr val="2A4D53"/>
                </a:solidFill>
                <a:latin typeface="Liter" pitchFamily="34" charset="0"/>
                <a:ea typeface="Liter" pitchFamily="34" charset="-122"/>
                <a:cs typeface="Liter" pitchFamily="34" charset="-120"/>
              </a:rPr>
              <a:t>6 Researchers</a:t>
            </a:r>
            <a:endParaRPr lang="en-US" sz="1600" dirty="0"/>
          </a:p>
        </p:txBody>
      </p:sp>
      <p:sp>
        <p:nvSpPr>
          <p:cNvPr id="44" name="Shape 42"/>
          <p:cNvSpPr/>
          <p:nvPr/>
        </p:nvSpPr>
        <p:spPr>
          <a:xfrm>
            <a:off x="5066705" y="6038850"/>
            <a:ext cx="228600" cy="228600"/>
          </a:xfrm>
          <a:custGeom>
            <a:avLst/>
            <a:gdLst/>
            <a:ahLst/>
            <a:cxn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C87E62"/>
          </a:solidFill>
          <a:ln/>
        </p:spPr>
      </p:sp>
      <p:sp>
        <p:nvSpPr>
          <p:cNvPr id="45" name="Text 43"/>
          <p:cNvSpPr/>
          <p:nvPr/>
        </p:nvSpPr>
        <p:spPr>
          <a:xfrm>
            <a:off x="5438180" y="6019800"/>
            <a:ext cx="1758031" cy="247650"/>
          </a:xfrm>
          <a:prstGeom prst="rect">
            <a:avLst/>
          </a:prstGeom>
          <a:noFill/>
          <a:ln/>
        </p:spPr>
        <p:txBody>
          <a:bodyPr wrap="square" lIns="0" tIns="0" rIns="0" bIns="0" rtlCol="0" anchor="ctr"/>
          <a:lstStyle/>
          <a:p>
            <a:pPr>
              <a:lnSpc>
                <a:spcPct val="120000"/>
              </a:lnSpc>
            </a:pPr>
            <a:r>
              <a:rPr lang="en-US" sz="1500" b="1" dirty="0">
                <a:solidFill>
                  <a:srgbClr val="2A4D53"/>
                </a:solidFill>
                <a:latin typeface="Liter" pitchFamily="34" charset="0"/>
                <a:ea typeface="Liter" pitchFamily="34" charset="-122"/>
                <a:cs typeface="Liter" pitchFamily="34" charset="-120"/>
              </a:rPr>
              <a:t>1 Unified Mission</a:t>
            </a:r>
            <a:endParaRPr lang="en-US" sz="1600" dirty="0"/>
          </a:p>
        </p:txBody>
      </p:sp>
      <p:sp>
        <p:nvSpPr>
          <p:cNvPr id="46" name="Shape 44"/>
          <p:cNvSpPr/>
          <p:nvPr/>
        </p:nvSpPr>
        <p:spPr>
          <a:xfrm>
            <a:off x="9756428" y="6038850"/>
            <a:ext cx="228600" cy="228600"/>
          </a:xfrm>
          <a:custGeom>
            <a:avLst/>
            <a:gdLst/>
            <a:ahLst/>
            <a:cxnLst/>
            <a:rect l="l" t="t" r="r" b="b"/>
            <a:pathLst>
              <a:path w="228600" h="228600">
                <a:moveTo>
                  <a:pt x="114300" y="48176"/>
                </a:moveTo>
                <a:lnTo>
                  <a:pt x="107603" y="38889"/>
                </a:lnTo>
                <a:cubicBezTo>
                  <a:pt x="96441" y="23440"/>
                  <a:pt x="78537" y="14288"/>
                  <a:pt x="59427" y="14288"/>
                </a:cubicBezTo>
                <a:cubicBezTo>
                  <a:pt x="26610" y="14288"/>
                  <a:pt x="0" y="40898"/>
                  <a:pt x="0" y="73715"/>
                </a:cubicBezTo>
                <a:lnTo>
                  <a:pt x="0" y="74875"/>
                </a:lnTo>
                <a:cubicBezTo>
                  <a:pt x="0" y="85412"/>
                  <a:pt x="2768" y="96307"/>
                  <a:pt x="7412" y="107156"/>
                </a:cubicBezTo>
                <a:lnTo>
                  <a:pt x="54739" y="107156"/>
                </a:lnTo>
                <a:cubicBezTo>
                  <a:pt x="56168" y="107156"/>
                  <a:pt x="57463" y="106308"/>
                  <a:pt x="58043" y="104968"/>
                </a:cubicBezTo>
                <a:lnTo>
                  <a:pt x="72241" y="70902"/>
                </a:lnTo>
                <a:cubicBezTo>
                  <a:pt x="73893" y="66973"/>
                  <a:pt x="77733" y="64383"/>
                  <a:pt x="81975" y="64294"/>
                </a:cubicBezTo>
                <a:cubicBezTo>
                  <a:pt x="86216" y="64204"/>
                  <a:pt x="90145" y="66705"/>
                  <a:pt x="91886" y="70589"/>
                </a:cubicBezTo>
                <a:lnTo>
                  <a:pt x="114791" y="121444"/>
                </a:lnTo>
                <a:lnTo>
                  <a:pt x="133276" y="84475"/>
                </a:lnTo>
                <a:cubicBezTo>
                  <a:pt x="135106" y="80858"/>
                  <a:pt x="138812" y="78537"/>
                  <a:pt x="142875" y="78537"/>
                </a:cubicBezTo>
                <a:cubicBezTo>
                  <a:pt x="146938" y="78537"/>
                  <a:pt x="150644" y="80814"/>
                  <a:pt x="152474" y="84475"/>
                </a:cubicBezTo>
                <a:lnTo>
                  <a:pt x="162833" y="105147"/>
                </a:lnTo>
                <a:cubicBezTo>
                  <a:pt x="163458" y="106353"/>
                  <a:pt x="164663" y="107112"/>
                  <a:pt x="166048" y="107112"/>
                </a:cubicBezTo>
                <a:lnTo>
                  <a:pt x="221233" y="107112"/>
                </a:lnTo>
                <a:cubicBezTo>
                  <a:pt x="225921" y="96262"/>
                  <a:pt x="228645" y="85368"/>
                  <a:pt x="228645" y="74831"/>
                </a:cubicBezTo>
                <a:lnTo>
                  <a:pt x="228645" y="73670"/>
                </a:lnTo>
                <a:cubicBezTo>
                  <a:pt x="228600" y="40898"/>
                  <a:pt x="201990" y="14288"/>
                  <a:pt x="169173" y="14288"/>
                </a:cubicBezTo>
                <a:cubicBezTo>
                  <a:pt x="150108" y="14288"/>
                  <a:pt x="132159" y="23440"/>
                  <a:pt x="120997" y="38889"/>
                </a:cubicBezTo>
                <a:lnTo>
                  <a:pt x="114300" y="48131"/>
                </a:lnTo>
                <a:close/>
                <a:moveTo>
                  <a:pt x="209669" y="128588"/>
                </a:moveTo>
                <a:lnTo>
                  <a:pt x="166003" y="128588"/>
                </a:lnTo>
                <a:cubicBezTo>
                  <a:pt x="156537" y="128588"/>
                  <a:pt x="147876" y="123230"/>
                  <a:pt x="143634" y="114746"/>
                </a:cubicBezTo>
                <a:lnTo>
                  <a:pt x="142875" y="113228"/>
                </a:lnTo>
                <a:lnTo>
                  <a:pt x="123899" y="151224"/>
                </a:lnTo>
                <a:cubicBezTo>
                  <a:pt x="122069" y="154930"/>
                  <a:pt x="118229" y="157252"/>
                  <a:pt x="114077" y="157163"/>
                </a:cubicBezTo>
                <a:cubicBezTo>
                  <a:pt x="109924" y="157073"/>
                  <a:pt x="106219" y="154618"/>
                  <a:pt x="104522" y="150867"/>
                </a:cubicBezTo>
                <a:lnTo>
                  <a:pt x="82510" y="101977"/>
                </a:lnTo>
                <a:lnTo>
                  <a:pt x="77822" y="113228"/>
                </a:lnTo>
                <a:cubicBezTo>
                  <a:pt x="73938" y="122560"/>
                  <a:pt x="64830" y="128632"/>
                  <a:pt x="54739" y="128632"/>
                </a:cubicBezTo>
                <a:lnTo>
                  <a:pt x="18931" y="128632"/>
                </a:lnTo>
                <a:cubicBezTo>
                  <a:pt x="40005" y="161583"/>
                  <a:pt x="73849" y="191899"/>
                  <a:pt x="95012" y="208062"/>
                </a:cubicBezTo>
                <a:cubicBezTo>
                  <a:pt x="100548" y="212259"/>
                  <a:pt x="107335" y="214357"/>
                  <a:pt x="114255" y="214357"/>
                </a:cubicBezTo>
                <a:cubicBezTo>
                  <a:pt x="121176" y="214357"/>
                  <a:pt x="128007" y="212303"/>
                  <a:pt x="133499" y="208062"/>
                </a:cubicBezTo>
                <a:cubicBezTo>
                  <a:pt x="154751" y="191854"/>
                  <a:pt x="188595" y="161538"/>
                  <a:pt x="209669" y="128588"/>
                </a:cubicBezTo>
                <a:close/>
              </a:path>
            </a:pathLst>
          </a:custGeom>
          <a:solidFill>
            <a:srgbClr val="C87E62"/>
          </a:solidFill>
          <a:ln/>
        </p:spPr>
      </p:sp>
      <p:sp>
        <p:nvSpPr>
          <p:cNvPr id="47" name="Text 45"/>
          <p:cNvSpPr/>
          <p:nvPr/>
        </p:nvSpPr>
        <p:spPr>
          <a:xfrm>
            <a:off x="10127903" y="6019800"/>
            <a:ext cx="1590675" cy="266700"/>
          </a:xfrm>
          <a:prstGeom prst="rect">
            <a:avLst/>
          </a:prstGeom>
          <a:noFill/>
          <a:ln/>
        </p:spPr>
        <p:txBody>
          <a:bodyPr wrap="square" lIns="0" tIns="0" rIns="0" bIns="0" rtlCol="0" anchor="ctr"/>
          <a:lstStyle/>
          <a:p>
            <a:pPr>
              <a:lnSpc>
                <a:spcPct val="120000"/>
              </a:lnSpc>
            </a:pPr>
            <a:r>
              <a:rPr lang="en-US" sz="1500" b="1" dirty="0">
                <a:solidFill>
                  <a:srgbClr val="2A4D53"/>
                </a:solidFill>
                <a:latin typeface="Liter" pitchFamily="34" charset="0"/>
                <a:ea typeface="Liter" pitchFamily="34" charset="-122"/>
                <a:cs typeface="Liter" pitchFamily="34" charset="-120"/>
              </a:rPr>
              <a:t>Healthcare Equity</a:t>
            </a:r>
            <a:endParaRPr lang="en-US" sz="1600" dirty="0"/>
          </a:p>
        </p:txBody>
      </p:sp>
    </p:spTree>
    <p:extLst>
      <p:ext uri="{BB962C8B-B14F-4D97-AF65-F5344CB8AC3E}">
        <p14:creationId xmlns:p14="http://schemas.microsoft.com/office/powerpoint/2010/main" val="17132995"/>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7500" y="603250"/>
            <a:ext cx="508000" cy="31750"/>
          </a:xfrm>
          <a:custGeom>
            <a:avLst/>
            <a:gdLst/>
            <a:ahLst/>
            <a:cxnLst/>
            <a:rect l="l" t="t" r="r" b="b"/>
            <a:pathLst>
              <a:path w="508000" h="31750">
                <a:moveTo>
                  <a:pt x="0" y="0"/>
                </a:moveTo>
                <a:lnTo>
                  <a:pt x="508000" y="0"/>
                </a:lnTo>
                <a:lnTo>
                  <a:pt x="508000" y="31750"/>
                </a:lnTo>
                <a:lnTo>
                  <a:pt x="0" y="31750"/>
                </a:lnTo>
                <a:lnTo>
                  <a:pt x="0" y="0"/>
                </a:lnTo>
                <a:close/>
              </a:path>
            </a:pathLst>
          </a:custGeom>
          <a:solidFill>
            <a:srgbClr val="C87E62"/>
          </a:solidFill>
          <a:ln/>
        </p:spPr>
      </p:sp>
      <p:sp>
        <p:nvSpPr>
          <p:cNvPr id="3" name="Text 1"/>
          <p:cNvSpPr/>
          <p:nvPr/>
        </p:nvSpPr>
        <p:spPr>
          <a:xfrm>
            <a:off x="944562" y="119589"/>
            <a:ext cx="5715000" cy="190500"/>
          </a:xfrm>
          <a:prstGeom prst="rect">
            <a:avLst/>
          </a:prstGeom>
          <a:noFill/>
          <a:ln/>
        </p:spPr>
        <p:txBody>
          <a:bodyPr wrap="square" lIns="0" tIns="0" rIns="0" bIns="0" rtlCol="0" anchor="ctr"/>
          <a:lstStyle/>
          <a:p>
            <a:pPr>
              <a:lnSpc>
                <a:spcPct val="130000"/>
              </a:lnSpc>
            </a:pPr>
            <a:r>
              <a:rPr lang="en-US" sz="2000" kern="0" spc="100" dirty="0">
                <a:solidFill>
                  <a:srgbClr val="A9A299"/>
                </a:solidFill>
                <a:latin typeface="Liter" pitchFamily="34" charset="0"/>
                <a:ea typeface="Liter" pitchFamily="34" charset="-122"/>
                <a:cs typeface="Liter" pitchFamily="34" charset="-120"/>
              </a:rPr>
              <a:t>Introduction</a:t>
            </a:r>
            <a:endParaRPr lang="en-US" sz="2000" dirty="0"/>
          </a:p>
        </p:txBody>
      </p:sp>
      <p:sp>
        <p:nvSpPr>
          <p:cNvPr id="4" name="Text 2"/>
          <p:cNvSpPr/>
          <p:nvPr/>
        </p:nvSpPr>
        <p:spPr>
          <a:xfrm>
            <a:off x="952500" y="539750"/>
            <a:ext cx="6658122" cy="317500"/>
          </a:xfrm>
          <a:prstGeom prst="rect">
            <a:avLst/>
          </a:prstGeom>
          <a:noFill/>
          <a:ln/>
        </p:spPr>
        <p:txBody>
          <a:bodyPr wrap="square" lIns="0" tIns="0" rIns="0" bIns="0" rtlCol="0" anchor="ctr"/>
          <a:lstStyle/>
          <a:p>
            <a:pPr>
              <a:lnSpc>
                <a:spcPct val="80000"/>
              </a:lnSpc>
            </a:pPr>
            <a:r>
              <a:rPr lang="en-US" sz="3000" b="1" dirty="0">
                <a:solidFill>
                  <a:srgbClr val="2A4D53"/>
                </a:solidFill>
                <a:latin typeface="Liter" pitchFamily="34" charset="0"/>
                <a:ea typeface="Liter" pitchFamily="34" charset="-122"/>
                <a:cs typeface="Liter" pitchFamily="34" charset="-120"/>
              </a:rPr>
              <a:t>Four Critical Areas of Assessment</a:t>
            </a:r>
            <a:endParaRPr lang="en-US" sz="1600" dirty="0"/>
          </a:p>
        </p:txBody>
      </p:sp>
      <p:sp>
        <p:nvSpPr>
          <p:cNvPr id="5" name="Shape 3"/>
          <p:cNvSpPr/>
          <p:nvPr/>
        </p:nvSpPr>
        <p:spPr>
          <a:xfrm>
            <a:off x="317500" y="1127125"/>
            <a:ext cx="5699125" cy="2494917"/>
          </a:xfrm>
          <a:custGeom>
            <a:avLst/>
            <a:gdLst/>
            <a:ahLst/>
            <a:cxnLst/>
            <a:rect l="l" t="t" r="r" b="b"/>
            <a:pathLst>
              <a:path w="5699125" h="2928938">
                <a:moveTo>
                  <a:pt x="0" y="0"/>
                </a:moveTo>
                <a:lnTo>
                  <a:pt x="5699125" y="0"/>
                </a:lnTo>
                <a:lnTo>
                  <a:pt x="5699125" y="2928938"/>
                </a:lnTo>
                <a:lnTo>
                  <a:pt x="0" y="2928938"/>
                </a:lnTo>
                <a:lnTo>
                  <a:pt x="0" y="0"/>
                </a:lnTo>
                <a:close/>
              </a:path>
            </a:pathLst>
          </a:custGeom>
          <a:solidFill>
            <a:srgbClr val="FFFFFF"/>
          </a:solidFill>
          <a:ln/>
          <a:effectLst>
            <a:outerShdw blurRad="23813" dist="7938" dir="5400000" algn="bl" rotWithShape="0">
              <a:srgbClr val="000000">
                <a:alpha val="10196"/>
              </a:srgbClr>
            </a:outerShdw>
          </a:effectLst>
        </p:spPr>
      </p:sp>
      <p:sp>
        <p:nvSpPr>
          <p:cNvPr id="6" name="Shape 4"/>
          <p:cNvSpPr/>
          <p:nvPr/>
        </p:nvSpPr>
        <p:spPr>
          <a:xfrm>
            <a:off x="317500" y="1127125"/>
            <a:ext cx="5699125" cy="31750"/>
          </a:xfrm>
          <a:custGeom>
            <a:avLst/>
            <a:gdLst/>
            <a:ahLst/>
            <a:cxnLst/>
            <a:rect l="l" t="t" r="r" b="b"/>
            <a:pathLst>
              <a:path w="5699125" h="31750">
                <a:moveTo>
                  <a:pt x="0" y="0"/>
                </a:moveTo>
                <a:lnTo>
                  <a:pt x="5699125" y="0"/>
                </a:lnTo>
                <a:lnTo>
                  <a:pt x="5699125" y="31750"/>
                </a:lnTo>
                <a:lnTo>
                  <a:pt x="0" y="31750"/>
                </a:lnTo>
                <a:lnTo>
                  <a:pt x="0" y="0"/>
                </a:lnTo>
                <a:close/>
              </a:path>
            </a:pathLst>
          </a:custGeom>
          <a:solidFill>
            <a:srgbClr val="2A4D53"/>
          </a:solidFill>
          <a:ln/>
        </p:spPr>
      </p:sp>
      <p:sp>
        <p:nvSpPr>
          <p:cNvPr id="7" name="Shape 5"/>
          <p:cNvSpPr/>
          <p:nvPr/>
        </p:nvSpPr>
        <p:spPr>
          <a:xfrm>
            <a:off x="508000" y="1333500"/>
            <a:ext cx="444500" cy="444500"/>
          </a:xfrm>
          <a:custGeom>
            <a:avLst/>
            <a:gdLst/>
            <a:ahLst/>
            <a:cxnLst/>
            <a:rect l="l" t="t" r="r" b="b"/>
            <a:pathLst>
              <a:path w="444500" h="444500">
                <a:moveTo>
                  <a:pt x="0" y="0"/>
                </a:moveTo>
                <a:lnTo>
                  <a:pt x="444500" y="0"/>
                </a:lnTo>
                <a:lnTo>
                  <a:pt x="444500" y="444500"/>
                </a:lnTo>
                <a:lnTo>
                  <a:pt x="0" y="444500"/>
                </a:lnTo>
                <a:lnTo>
                  <a:pt x="0" y="0"/>
                </a:lnTo>
                <a:close/>
              </a:path>
            </a:pathLst>
          </a:custGeom>
          <a:solidFill>
            <a:srgbClr val="2A4D53"/>
          </a:solidFill>
          <a:ln/>
        </p:spPr>
      </p:sp>
      <p:sp>
        <p:nvSpPr>
          <p:cNvPr id="8" name="Text 6"/>
          <p:cNvSpPr/>
          <p:nvPr/>
        </p:nvSpPr>
        <p:spPr>
          <a:xfrm>
            <a:off x="460375" y="1333500"/>
            <a:ext cx="539750" cy="444500"/>
          </a:xfrm>
          <a:prstGeom prst="rect">
            <a:avLst/>
          </a:prstGeom>
          <a:noFill/>
          <a:ln/>
        </p:spPr>
        <p:txBody>
          <a:bodyPr wrap="square" lIns="0" tIns="0" rIns="0" bIns="0" rtlCol="0" anchor="ctr"/>
          <a:lstStyle/>
          <a:p>
            <a:pPr algn="ctr">
              <a:lnSpc>
                <a:spcPct val="110000"/>
              </a:lnSpc>
            </a:pPr>
            <a:r>
              <a:rPr lang="en-US" sz="1500" b="1" dirty="0">
                <a:solidFill>
                  <a:srgbClr val="F8F7F5"/>
                </a:solidFill>
                <a:latin typeface="Liter" pitchFamily="34" charset="0"/>
                <a:ea typeface="Liter" pitchFamily="34" charset="-122"/>
                <a:cs typeface="Liter" pitchFamily="34" charset="-120"/>
              </a:rPr>
              <a:t>1</a:t>
            </a:r>
            <a:endParaRPr lang="en-US" sz="1600" dirty="0"/>
          </a:p>
        </p:txBody>
      </p:sp>
      <p:sp>
        <p:nvSpPr>
          <p:cNvPr id="9" name="Text 7"/>
          <p:cNvSpPr/>
          <p:nvPr/>
        </p:nvSpPr>
        <p:spPr>
          <a:xfrm>
            <a:off x="1047750" y="1428750"/>
            <a:ext cx="2792730" cy="238125"/>
          </a:xfrm>
          <a:prstGeom prst="rect">
            <a:avLst/>
          </a:prstGeom>
          <a:noFill/>
          <a:ln/>
        </p:spPr>
        <p:txBody>
          <a:bodyPr wrap="square" lIns="0" tIns="0" rIns="0" bIns="0" rtlCol="0" anchor="ctr"/>
          <a:lstStyle/>
          <a:p>
            <a:pPr>
              <a:lnSpc>
                <a:spcPct val="110000"/>
              </a:lnSpc>
            </a:pPr>
            <a:r>
              <a:rPr lang="en-US" b="1" dirty="0">
                <a:solidFill>
                  <a:srgbClr val="2A4D53"/>
                </a:solidFill>
                <a:latin typeface="Liter" pitchFamily="34" charset="0"/>
                <a:ea typeface="Liter" pitchFamily="34" charset="-122"/>
                <a:cs typeface="Liter" pitchFamily="34" charset="-120"/>
              </a:rPr>
              <a:t>Who Needs Care Most?</a:t>
            </a:r>
            <a:endParaRPr lang="en-US" dirty="0"/>
          </a:p>
        </p:txBody>
      </p:sp>
      <p:sp>
        <p:nvSpPr>
          <p:cNvPr id="10" name="Shape 8"/>
          <p:cNvSpPr/>
          <p:nvPr/>
        </p:nvSpPr>
        <p:spPr>
          <a:xfrm>
            <a:off x="547688" y="1936750"/>
            <a:ext cx="119063" cy="158750"/>
          </a:xfrm>
          <a:custGeom>
            <a:avLst/>
            <a:gdLst/>
            <a:ahLst/>
            <a:cxnLst/>
            <a:rect l="l" t="t" r="r" b="b"/>
            <a:pathLst>
              <a:path w="119063" h="158750">
                <a:moveTo>
                  <a:pt x="37207" y="27285"/>
                </a:moveTo>
                <a:cubicBezTo>
                  <a:pt x="37207" y="14964"/>
                  <a:pt x="47210" y="4961"/>
                  <a:pt x="59531" y="4961"/>
                </a:cubicBezTo>
                <a:cubicBezTo>
                  <a:pt x="71852" y="4961"/>
                  <a:pt x="81855" y="14964"/>
                  <a:pt x="81855" y="27285"/>
                </a:cubicBezTo>
                <a:cubicBezTo>
                  <a:pt x="81855" y="39606"/>
                  <a:pt x="71852" y="49609"/>
                  <a:pt x="59531" y="49609"/>
                </a:cubicBezTo>
                <a:cubicBezTo>
                  <a:pt x="47210" y="49609"/>
                  <a:pt x="37207" y="39606"/>
                  <a:pt x="37207" y="27285"/>
                </a:cubicBezTo>
                <a:close/>
                <a:moveTo>
                  <a:pt x="2387" y="44803"/>
                </a:moveTo>
                <a:cubicBezTo>
                  <a:pt x="6418" y="39253"/>
                  <a:pt x="14170" y="38044"/>
                  <a:pt x="19720" y="42075"/>
                </a:cubicBezTo>
                <a:lnTo>
                  <a:pt x="30944" y="50229"/>
                </a:lnTo>
                <a:cubicBezTo>
                  <a:pt x="39253" y="56276"/>
                  <a:pt x="49268" y="59531"/>
                  <a:pt x="59531" y="59531"/>
                </a:cubicBezTo>
                <a:cubicBezTo>
                  <a:pt x="69794" y="59531"/>
                  <a:pt x="79809" y="56276"/>
                  <a:pt x="88119" y="50229"/>
                </a:cubicBezTo>
                <a:lnTo>
                  <a:pt x="99343" y="42044"/>
                </a:lnTo>
                <a:cubicBezTo>
                  <a:pt x="104893" y="38013"/>
                  <a:pt x="112644" y="39253"/>
                  <a:pt x="116675" y="44772"/>
                </a:cubicBezTo>
                <a:cubicBezTo>
                  <a:pt x="120706" y="50292"/>
                  <a:pt x="119466" y="58074"/>
                  <a:pt x="113947" y="62105"/>
                </a:cubicBezTo>
                <a:lnTo>
                  <a:pt x="102722" y="70290"/>
                </a:lnTo>
                <a:cubicBezTo>
                  <a:pt x="98506" y="73360"/>
                  <a:pt x="94010" y="75933"/>
                  <a:pt x="89297" y="78042"/>
                </a:cubicBezTo>
                <a:lnTo>
                  <a:pt x="89297" y="89297"/>
                </a:lnTo>
                <a:lnTo>
                  <a:pt x="29766" y="89297"/>
                </a:lnTo>
                <a:lnTo>
                  <a:pt x="29766" y="78042"/>
                </a:lnTo>
                <a:cubicBezTo>
                  <a:pt x="25053" y="75964"/>
                  <a:pt x="20557" y="73360"/>
                  <a:pt x="16340" y="70290"/>
                </a:cubicBezTo>
                <a:lnTo>
                  <a:pt x="5116" y="62105"/>
                </a:lnTo>
                <a:cubicBezTo>
                  <a:pt x="-434" y="58074"/>
                  <a:pt x="-1643" y="50323"/>
                  <a:pt x="2387" y="44772"/>
                </a:cubicBezTo>
                <a:close/>
                <a:moveTo>
                  <a:pt x="30231" y="102102"/>
                </a:moveTo>
                <a:lnTo>
                  <a:pt x="49020" y="118535"/>
                </a:lnTo>
                <a:lnTo>
                  <a:pt x="40959" y="130070"/>
                </a:lnTo>
                <a:lnTo>
                  <a:pt x="48493" y="137604"/>
                </a:lnTo>
                <a:cubicBezTo>
                  <a:pt x="53330" y="142441"/>
                  <a:pt x="53330" y="150285"/>
                  <a:pt x="48493" y="155153"/>
                </a:cubicBezTo>
                <a:cubicBezTo>
                  <a:pt x="43656" y="160021"/>
                  <a:pt x="35812" y="159990"/>
                  <a:pt x="30944" y="155153"/>
                </a:cubicBezTo>
                <a:lnTo>
                  <a:pt x="16061" y="140271"/>
                </a:lnTo>
                <a:cubicBezTo>
                  <a:pt x="11782" y="135992"/>
                  <a:pt x="11193" y="129294"/>
                  <a:pt x="14635" y="124365"/>
                </a:cubicBezTo>
                <a:lnTo>
                  <a:pt x="30200" y="102102"/>
                </a:lnTo>
                <a:close/>
                <a:moveTo>
                  <a:pt x="70073" y="118535"/>
                </a:moveTo>
                <a:lnTo>
                  <a:pt x="88863" y="102102"/>
                </a:lnTo>
                <a:lnTo>
                  <a:pt x="104428" y="124365"/>
                </a:lnTo>
                <a:cubicBezTo>
                  <a:pt x="107869" y="129294"/>
                  <a:pt x="107280" y="135992"/>
                  <a:pt x="103032" y="140240"/>
                </a:cubicBezTo>
                <a:lnTo>
                  <a:pt x="88150" y="155122"/>
                </a:lnTo>
                <a:cubicBezTo>
                  <a:pt x="83313" y="159959"/>
                  <a:pt x="75468" y="159959"/>
                  <a:pt x="70600" y="155122"/>
                </a:cubicBezTo>
                <a:cubicBezTo>
                  <a:pt x="65732" y="150285"/>
                  <a:pt x="65763" y="142441"/>
                  <a:pt x="70600" y="137573"/>
                </a:cubicBezTo>
                <a:lnTo>
                  <a:pt x="78135" y="130039"/>
                </a:lnTo>
                <a:lnTo>
                  <a:pt x="70073" y="118504"/>
                </a:lnTo>
                <a:close/>
              </a:path>
            </a:pathLst>
          </a:custGeom>
          <a:solidFill>
            <a:srgbClr val="C87E62"/>
          </a:solidFill>
          <a:ln/>
        </p:spPr>
      </p:sp>
      <p:sp>
        <p:nvSpPr>
          <p:cNvPr id="11" name="Text 9"/>
          <p:cNvSpPr/>
          <p:nvPr/>
        </p:nvSpPr>
        <p:spPr>
          <a:xfrm>
            <a:off x="801688" y="1905000"/>
            <a:ext cx="2630828" cy="142875"/>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Under-1 &amp; Under-5 Children</a:t>
            </a:r>
            <a:endParaRPr lang="en-US" sz="1500" b="1" dirty="0"/>
          </a:p>
        </p:txBody>
      </p:sp>
      <p:sp>
        <p:nvSpPr>
          <p:cNvPr id="12" name="Text 10"/>
          <p:cNvSpPr/>
          <p:nvPr/>
        </p:nvSpPr>
        <p:spPr>
          <a:xfrm>
            <a:off x="801687" y="2127249"/>
            <a:ext cx="3038793" cy="222249"/>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Most vulnerable pediatric populations</a:t>
            </a:r>
            <a:endParaRPr lang="en-US" sz="1300" b="1" dirty="0"/>
          </a:p>
        </p:txBody>
      </p:sp>
      <p:sp>
        <p:nvSpPr>
          <p:cNvPr id="13" name="Shape 11"/>
          <p:cNvSpPr/>
          <p:nvPr/>
        </p:nvSpPr>
        <p:spPr>
          <a:xfrm>
            <a:off x="547688" y="2444750"/>
            <a:ext cx="119063" cy="158750"/>
          </a:xfrm>
          <a:custGeom>
            <a:avLst/>
            <a:gdLst/>
            <a:ahLst/>
            <a:cxnLst/>
            <a:rect l="l" t="t" r="r" b="b"/>
            <a:pathLst>
              <a:path w="119063" h="158750">
                <a:moveTo>
                  <a:pt x="42168" y="7441"/>
                </a:moveTo>
                <a:cubicBezTo>
                  <a:pt x="42168" y="-2142"/>
                  <a:pt x="49948" y="-9922"/>
                  <a:pt x="59531" y="-9922"/>
                </a:cubicBezTo>
                <a:cubicBezTo>
                  <a:pt x="69114" y="-9922"/>
                  <a:pt x="76895" y="-2142"/>
                  <a:pt x="76895" y="7441"/>
                </a:cubicBezTo>
                <a:cubicBezTo>
                  <a:pt x="76895" y="17024"/>
                  <a:pt x="69114" y="24805"/>
                  <a:pt x="59531" y="24805"/>
                </a:cubicBezTo>
                <a:cubicBezTo>
                  <a:pt x="49948" y="24805"/>
                  <a:pt x="42168" y="17024"/>
                  <a:pt x="42168" y="7441"/>
                </a:cubicBezTo>
                <a:close/>
                <a:moveTo>
                  <a:pt x="34727" y="119062"/>
                </a:moveTo>
                <a:lnTo>
                  <a:pt x="26727" y="119062"/>
                </a:lnTo>
                <a:cubicBezTo>
                  <a:pt x="23347" y="119062"/>
                  <a:pt x="20960" y="115745"/>
                  <a:pt x="22014" y="112520"/>
                </a:cubicBezTo>
                <a:lnTo>
                  <a:pt x="35347" y="72523"/>
                </a:lnTo>
                <a:lnTo>
                  <a:pt x="20371" y="92708"/>
                </a:lnTo>
                <a:cubicBezTo>
                  <a:pt x="17115" y="97110"/>
                  <a:pt x="10883" y="98041"/>
                  <a:pt x="6480" y="94754"/>
                </a:cubicBezTo>
                <a:cubicBezTo>
                  <a:pt x="2077" y="91467"/>
                  <a:pt x="1147" y="85266"/>
                  <a:pt x="4434" y="80863"/>
                </a:cubicBezTo>
                <a:lnTo>
                  <a:pt x="26293" y="51408"/>
                </a:lnTo>
                <a:cubicBezTo>
                  <a:pt x="34106" y="40928"/>
                  <a:pt x="46416" y="34727"/>
                  <a:pt x="59531" y="34727"/>
                </a:cubicBezTo>
                <a:cubicBezTo>
                  <a:pt x="72647" y="34727"/>
                  <a:pt x="84956" y="40928"/>
                  <a:pt x="92770" y="51439"/>
                </a:cubicBezTo>
                <a:lnTo>
                  <a:pt x="114629" y="80894"/>
                </a:lnTo>
                <a:cubicBezTo>
                  <a:pt x="117884" y="85297"/>
                  <a:pt x="116985" y="91498"/>
                  <a:pt x="112582" y="94785"/>
                </a:cubicBezTo>
                <a:cubicBezTo>
                  <a:pt x="108179" y="98072"/>
                  <a:pt x="101978" y="97141"/>
                  <a:pt x="98692" y="92739"/>
                </a:cubicBezTo>
                <a:lnTo>
                  <a:pt x="83716" y="72554"/>
                </a:lnTo>
                <a:lnTo>
                  <a:pt x="97048" y="112520"/>
                </a:lnTo>
                <a:cubicBezTo>
                  <a:pt x="98134" y="115745"/>
                  <a:pt x="95715" y="119062"/>
                  <a:pt x="92335" y="119062"/>
                </a:cubicBezTo>
                <a:lnTo>
                  <a:pt x="84336" y="119062"/>
                </a:lnTo>
                <a:lnTo>
                  <a:pt x="84336" y="158750"/>
                </a:lnTo>
                <a:cubicBezTo>
                  <a:pt x="84336" y="164238"/>
                  <a:pt x="79902" y="168672"/>
                  <a:pt x="74414" y="168672"/>
                </a:cubicBezTo>
                <a:cubicBezTo>
                  <a:pt x="68926" y="168672"/>
                  <a:pt x="64492" y="164238"/>
                  <a:pt x="64492" y="158750"/>
                </a:cubicBezTo>
                <a:lnTo>
                  <a:pt x="64492" y="119062"/>
                </a:lnTo>
                <a:lnTo>
                  <a:pt x="54570" y="119062"/>
                </a:lnTo>
                <a:lnTo>
                  <a:pt x="54570" y="158750"/>
                </a:lnTo>
                <a:cubicBezTo>
                  <a:pt x="54570" y="164238"/>
                  <a:pt x="50136" y="168672"/>
                  <a:pt x="44648" y="168672"/>
                </a:cubicBezTo>
                <a:cubicBezTo>
                  <a:pt x="39160" y="168672"/>
                  <a:pt x="34727" y="164238"/>
                  <a:pt x="34727" y="158750"/>
                </a:cubicBezTo>
                <a:lnTo>
                  <a:pt x="34727" y="119062"/>
                </a:lnTo>
                <a:close/>
              </a:path>
            </a:pathLst>
          </a:custGeom>
          <a:solidFill>
            <a:srgbClr val="C87E62"/>
          </a:solidFill>
          <a:ln/>
        </p:spPr>
      </p:sp>
      <p:sp>
        <p:nvSpPr>
          <p:cNvPr id="14" name="Text 12"/>
          <p:cNvSpPr/>
          <p:nvPr/>
        </p:nvSpPr>
        <p:spPr>
          <a:xfrm>
            <a:off x="801688" y="2412999"/>
            <a:ext cx="2230438" cy="238125"/>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Pregnant Women</a:t>
            </a:r>
            <a:endParaRPr lang="en-US" sz="1500" dirty="0"/>
          </a:p>
        </p:txBody>
      </p:sp>
      <p:sp>
        <p:nvSpPr>
          <p:cNvPr id="15" name="Text 13"/>
          <p:cNvSpPr/>
          <p:nvPr/>
        </p:nvSpPr>
        <p:spPr>
          <a:xfrm>
            <a:off x="825500" y="2682873"/>
            <a:ext cx="1920875" cy="158750"/>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Maternal health priorities</a:t>
            </a:r>
            <a:endParaRPr lang="en-US" sz="1300" b="1" dirty="0"/>
          </a:p>
        </p:txBody>
      </p:sp>
      <p:sp>
        <p:nvSpPr>
          <p:cNvPr id="16" name="Shape 14"/>
          <p:cNvSpPr/>
          <p:nvPr/>
        </p:nvSpPr>
        <p:spPr>
          <a:xfrm>
            <a:off x="537766" y="2952750"/>
            <a:ext cx="138906" cy="158750"/>
          </a:xfrm>
          <a:custGeom>
            <a:avLst/>
            <a:gdLst/>
            <a:ahLst/>
            <a:cxnLst/>
            <a:rect l="l" t="t" r="r" b="b"/>
            <a:pathLst>
              <a:path w="138906" h="158750">
                <a:moveTo>
                  <a:pt x="75251" y="24805"/>
                </a:moveTo>
                <a:lnTo>
                  <a:pt x="103560" y="24805"/>
                </a:lnTo>
                <a:cubicBezTo>
                  <a:pt x="100242" y="17177"/>
                  <a:pt x="94413" y="10883"/>
                  <a:pt x="87157" y="6945"/>
                </a:cubicBezTo>
                <a:lnTo>
                  <a:pt x="75251" y="24805"/>
                </a:lnTo>
                <a:close/>
                <a:moveTo>
                  <a:pt x="74972" y="2884"/>
                </a:moveTo>
                <a:cubicBezTo>
                  <a:pt x="73174" y="2604"/>
                  <a:pt x="71313" y="2480"/>
                  <a:pt x="69453" y="2480"/>
                </a:cubicBezTo>
                <a:cubicBezTo>
                  <a:pt x="54198" y="2480"/>
                  <a:pt x="41083" y="11658"/>
                  <a:pt x="35347" y="24805"/>
                </a:cubicBezTo>
                <a:lnTo>
                  <a:pt x="60337" y="24805"/>
                </a:lnTo>
                <a:lnTo>
                  <a:pt x="74941" y="2884"/>
                </a:lnTo>
                <a:close/>
                <a:moveTo>
                  <a:pt x="69453" y="76895"/>
                </a:moveTo>
                <a:cubicBezTo>
                  <a:pt x="90010" y="76895"/>
                  <a:pt x="106660" y="60244"/>
                  <a:pt x="106660" y="39688"/>
                </a:cubicBezTo>
                <a:lnTo>
                  <a:pt x="32246" y="39688"/>
                </a:lnTo>
                <a:cubicBezTo>
                  <a:pt x="32246" y="60244"/>
                  <a:pt x="48896" y="76895"/>
                  <a:pt x="69453" y="76895"/>
                </a:cubicBezTo>
                <a:close/>
                <a:moveTo>
                  <a:pt x="30603" y="105978"/>
                </a:moveTo>
                <a:cubicBezTo>
                  <a:pt x="15286" y="114784"/>
                  <a:pt x="4961" y="131310"/>
                  <a:pt x="4961" y="150254"/>
                </a:cubicBezTo>
                <a:cubicBezTo>
                  <a:pt x="4961" y="154936"/>
                  <a:pt x="8775" y="158750"/>
                  <a:pt x="13457" y="158750"/>
                </a:cubicBezTo>
                <a:lnTo>
                  <a:pt x="60275" y="158750"/>
                </a:lnTo>
                <a:lnTo>
                  <a:pt x="30572" y="105978"/>
                </a:lnTo>
                <a:close/>
                <a:moveTo>
                  <a:pt x="44586" y="100490"/>
                </a:moveTo>
                <a:lnTo>
                  <a:pt x="57826" y="124023"/>
                </a:lnTo>
                <a:lnTo>
                  <a:pt x="84336" y="124023"/>
                </a:lnTo>
                <a:cubicBezTo>
                  <a:pt x="98041" y="124023"/>
                  <a:pt x="109141" y="135124"/>
                  <a:pt x="109141" y="148828"/>
                </a:cubicBezTo>
                <a:cubicBezTo>
                  <a:pt x="109141" y="152363"/>
                  <a:pt x="108396" y="155711"/>
                  <a:pt x="107063" y="158750"/>
                </a:cubicBezTo>
                <a:lnTo>
                  <a:pt x="125419" y="158750"/>
                </a:lnTo>
                <a:cubicBezTo>
                  <a:pt x="130101" y="158750"/>
                  <a:pt x="133914" y="154936"/>
                  <a:pt x="133914" y="150254"/>
                </a:cubicBezTo>
                <a:cubicBezTo>
                  <a:pt x="133914" y="122070"/>
                  <a:pt x="111063" y="99219"/>
                  <a:pt x="82879" y="99219"/>
                </a:cubicBezTo>
                <a:lnTo>
                  <a:pt x="55935" y="99219"/>
                </a:lnTo>
                <a:cubicBezTo>
                  <a:pt x="52028" y="99219"/>
                  <a:pt x="48214" y="99653"/>
                  <a:pt x="44555" y="100490"/>
                </a:cubicBezTo>
                <a:close/>
                <a:moveTo>
                  <a:pt x="66198" y="138906"/>
                </a:moveTo>
                <a:lnTo>
                  <a:pt x="77360" y="158750"/>
                </a:lnTo>
                <a:lnTo>
                  <a:pt x="84336" y="158750"/>
                </a:lnTo>
                <a:cubicBezTo>
                  <a:pt x="89824" y="158750"/>
                  <a:pt x="94258" y="154316"/>
                  <a:pt x="94258" y="148828"/>
                </a:cubicBezTo>
                <a:cubicBezTo>
                  <a:pt x="94258" y="143340"/>
                  <a:pt x="89824" y="138906"/>
                  <a:pt x="84336" y="138906"/>
                </a:cubicBezTo>
                <a:lnTo>
                  <a:pt x="66198" y="138906"/>
                </a:lnTo>
                <a:close/>
              </a:path>
            </a:pathLst>
          </a:custGeom>
          <a:solidFill>
            <a:srgbClr val="C87E62"/>
          </a:solidFill>
          <a:ln/>
        </p:spPr>
      </p:sp>
      <p:sp>
        <p:nvSpPr>
          <p:cNvPr id="17" name="Text 15"/>
          <p:cNvSpPr/>
          <p:nvPr/>
        </p:nvSpPr>
        <p:spPr>
          <a:xfrm>
            <a:off x="801688" y="2921000"/>
            <a:ext cx="2282032" cy="186903"/>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Persons with Disabilities</a:t>
            </a:r>
            <a:endParaRPr lang="en-US" sz="1500" dirty="0"/>
          </a:p>
        </p:txBody>
      </p:sp>
      <p:sp>
        <p:nvSpPr>
          <p:cNvPr id="18" name="Text 16"/>
          <p:cNvSpPr/>
          <p:nvPr/>
        </p:nvSpPr>
        <p:spPr>
          <a:xfrm>
            <a:off x="801688" y="3143250"/>
            <a:ext cx="2555876" cy="337716"/>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Special accessibility requirements</a:t>
            </a:r>
            <a:endParaRPr lang="en-US" sz="1300" b="1" dirty="0"/>
          </a:p>
        </p:txBody>
      </p:sp>
      <p:sp>
        <p:nvSpPr>
          <p:cNvPr id="19" name="Shape 17"/>
          <p:cNvSpPr/>
          <p:nvPr/>
        </p:nvSpPr>
        <p:spPr>
          <a:xfrm>
            <a:off x="6175375" y="1127125"/>
            <a:ext cx="5699125" cy="2464966"/>
          </a:xfrm>
          <a:custGeom>
            <a:avLst/>
            <a:gdLst/>
            <a:ahLst/>
            <a:cxnLst/>
            <a:rect l="l" t="t" r="r" b="b"/>
            <a:pathLst>
              <a:path w="5699125" h="2928938">
                <a:moveTo>
                  <a:pt x="0" y="0"/>
                </a:moveTo>
                <a:lnTo>
                  <a:pt x="5699125" y="0"/>
                </a:lnTo>
                <a:lnTo>
                  <a:pt x="5699125" y="2928938"/>
                </a:lnTo>
                <a:lnTo>
                  <a:pt x="0" y="2928938"/>
                </a:lnTo>
                <a:lnTo>
                  <a:pt x="0" y="0"/>
                </a:lnTo>
                <a:close/>
              </a:path>
            </a:pathLst>
          </a:custGeom>
          <a:solidFill>
            <a:srgbClr val="FFFFFF"/>
          </a:solidFill>
          <a:ln/>
          <a:effectLst>
            <a:outerShdw blurRad="23813" dist="7938" dir="5400000" algn="bl" rotWithShape="0">
              <a:srgbClr val="000000">
                <a:alpha val="10196"/>
              </a:srgbClr>
            </a:outerShdw>
          </a:effectLst>
        </p:spPr>
      </p:sp>
      <p:sp>
        <p:nvSpPr>
          <p:cNvPr id="20" name="Shape 18"/>
          <p:cNvSpPr/>
          <p:nvPr/>
        </p:nvSpPr>
        <p:spPr>
          <a:xfrm>
            <a:off x="6175375" y="1127125"/>
            <a:ext cx="5699125" cy="31750"/>
          </a:xfrm>
          <a:custGeom>
            <a:avLst/>
            <a:gdLst/>
            <a:ahLst/>
            <a:cxnLst/>
            <a:rect l="l" t="t" r="r" b="b"/>
            <a:pathLst>
              <a:path w="5699125" h="31750">
                <a:moveTo>
                  <a:pt x="0" y="0"/>
                </a:moveTo>
                <a:lnTo>
                  <a:pt x="5699125" y="0"/>
                </a:lnTo>
                <a:lnTo>
                  <a:pt x="5699125" y="31750"/>
                </a:lnTo>
                <a:lnTo>
                  <a:pt x="0" y="31750"/>
                </a:lnTo>
                <a:lnTo>
                  <a:pt x="0" y="0"/>
                </a:lnTo>
                <a:close/>
              </a:path>
            </a:pathLst>
          </a:custGeom>
          <a:solidFill>
            <a:srgbClr val="C87E62"/>
          </a:solidFill>
          <a:ln/>
        </p:spPr>
      </p:sp>
      <p:sp>
        <p:nvSpPr>
          <p:cNvPr id="21" name="Shape 19"/>
          <p:cNvSpPr/>
          <p:nvPr/>
        </p:nvSpPr>
        <p:spPr>
          <a:xfrm>
            <a:off x="6365875" y="1333500"/>
            <a:ext cx="444500" cy="444500"/>
          </a:xfrm>
          <a:custGeom>
            <a:avLst/>
            <a:gdLst/>
            <a:ahLst/>
            <a:cxnLst/>
            <a:rect l="l" t="t" r="r" b="b"/>
            <a:pathLst>
              <a:path w="444500" h="444500">
                <a:moveTo>
                  <a:pt x="0" y="0"/>
                </a:moveTo>
                <a:lnTo>
                  <a:pt x="444500" y="0"/>
                </a:lnTo>
                <a:lnTo>
                  <a:pt x="444500" y="444500"/>
                </a:lnTo>
                <a:lnTo>
                  <a:pt x="0" y="444500"/>
                </a:lnTo>
                <a:lnTo>
                  <a:pt x="0" y="0"/>
                </a:lnTo>
                <a:close/>
              </a:path>
            </a:pathLst>
          </a:custGeom>
          <a:solidFill>
            <a:srgbClr val="C87E62"/>
          </a:solidFill>
          <a:ln/>
        </p:spPr>
      </p:sp>
      <p:sp>
        <p:nvSpPr>
          <p:cNvPr id="22" name="Text 20"/>
          <p:cNvSpPr/>
          <p:nvPr/>
        </p:nvSpPr>
        <p:spPr>
          <a:xfrm>
            <a:off x="6318250" y="1333500"/>
            <a:ext cx="539750" cy="444500"/>
          </a:xfrm>
          <a:prstGeom prst="rect">
            <a:avLst/>
          </a:prstGeom>
          <a:noFill/>
          <a:ln/>
        </p:spPr>
        <p:txBody>
          <a:bodyPr wrap="square" lIns="0" tIns="0" rIns="0" bIns="0" rtlCol="0" anchor="ctr"/>
          <a:lstStyle/>
          <a:p>
            <a:pPr algn="ctr">
              <a:lnSpc>
                <a:spcPct val="110000"/>
              </a:lnSpc>
            </a:pPr>
            <a:r>
              <a:rPr lang="en-US" sz="1500" b="1" dirty="0">
                <a:solidFill>
                  <a:srgbClr val="F8F7F5"/>
                </a:solidFill>
                <a:latin typeface="Liter" pitchFamily="34" charset="0"/>
                <a:ea typeface="Liter" pitchFamily="34" charset="-122"/>
                <a:cs typeface="Liter" pitchFamily="34" charset="-120"/>
              </a:rPr>
              <a:t>2</a:t>
            </a:r>
            <a:endParaRPr lang="en-US" sz="1600" dirty="0"/>
          </a:p>
        </p:txBody>
      </p:sp>
      <p:sp>
        <p:nvSpPr>
          <p:cNvPr id="23" name="Text 21"/>
          <p:cNvSpPr/>
          <p:nvPr/>
        </p:nvSpPr>
        <p:spPr>
          <a:xfrm>
            <a:off x="6905624" y="1428750"/>
            <a:ext cx="3152775" cy="238125"/>
          </a:xfrm>
          <a:prstGeom prst="rect">
            <a:avLst/>
          </a:prstGeom>
          <a:noFill/>
          <a:ln/>
        </p:spPr>
        <p:txBody>
          <a:bodyPr wrap="square" lIns="0" tIns="0" rIns="0" bIns="0" rtlCol="0" anchor="ctr"/>
          <a:lstStyle/>
          <a:p>
            <a:pPr>
              <a:lnSpc>
                <a:spcPct val="110000"/>
              </a:lnSpc>
            </a:pPr>
            <a:r>
              <a:rPr lang="en-US" b="1" dirty="0">
                <a:solidFill>
                  <a:srgbClr val="2A4D53"/>
                </a:solidFill>
                <a:latin typeface="Liter" pitchFamily="34" charset="0"/>
                <a:ea typeface="Liter" pitchFamily="34" charset="-122"/>
                <a:cs typeface="Liter" pitchFamily="34" charset="-120"/>
              </a:rPr>
              <a:t>Who Has Access Problems?</a:t>
            </a:r>
            <a:endParaRPr lang="en-US" dirty="0"/>
          </a:p>
        </p:txBody>
      </p:sp>
      <p:sp>
        <p:nvSpPr>
          <p:cNvPr id="24" name="Shape 22"/>
          <p:cNvSpPr/>
          <p:nvPr/>
        </p:nvSpPr>
        <p:spPr>
          <a:xfrm>
            <a:off x="6385719" y="1936750"/>
            <a:ext cx="158750" cy="158750"/>
          </a:xfrm>
          <a:custGeom>
            <a:avLst/>
            <a:gdLst/>
            <a:ahLst/>
            <a:cxnLst/>
            <a:rect l="l" t="t" r="r" b="b"/>
            <a:pathLst>
              <a:path w="158750" h="158750">
                <a:moveTo>
                  <a:pt x="158750" y="29766"/>
                </a:moveTo>
                <a:cubicBezTo>
                  <a:pt x="158750" y="45331"/>
                  <a:pt x="140426" y="68554"/>
                  <a:pt x="132519" y="77825"/>
                </a:cubicBezTo>
                <a:cubicBezTo>
                  <a:pt x="131341" y="79189"/>
                  <a:pt x="129604" y="79716"/>
                  <a:pt x="128023" y="79375"/>
                </a:cubicBezTo>
                <a:lnTo>
                  <a:pt x="99219" y="79375"/>
                </a:lnTo>
                <a:cubicBezTo>
                  <a:pt x="93731" y="79375"/>
                  <a:pt x="89297" y="83809"/>
                  <a:pt x="89297" y="89297"/>
                </a:cubicBezTo>
                <a:cubicBezTo>
                  <a:pt x="89297" y="94785"/>
                  <a:pt x="93731" y="99219"/>
                  <a:pt x="99219" y="99219"/>
                </a:cubicBezTo>
                <a:lnTo>
                  <a:pt x="128984" y="99219"/>
                </a:lnTo>
                <a:cubicBezTo>
                  <a:pt x="145417" y="99219"/>
                  <a:pt x="158750" y="112551"/>
                  <a:pt x="158750" y="128984"/>
                </a:cubicBezTo>
                <a:cubicBezTo>
                  <a:pt x="158750" y="145417"/>
                  <a:pt x="145417" y="158750"/>
                  <a:pt x="128984" y="158750"/>
                </a:cubicBezTo>
                <a:lnTo>
                  <a:pt x="43284" y="158750"/>
                </a:lnTo>
                <a:cubicBezTo>
                  <a:pt x="45982" y="155680"/>
                  <a:pt x="49268" y="151743"/>
                  <a:pt x="52586" y="147340"/>
                </a:cubicBezTo>
                <a:cubicBezTo>
                  <a:pt x="54539" y="144735"/>
                  <a:pt x="56555" y="141883"/>
                  <a:pt x="58477" y="138906"/>
                </a:cubicBezTo>
                <a:lnTo>
                  <a:pt x="128984" y="138906"/>
                </a:lnTo>
                <a:cubicBezTo>
                  <a:pt x="134472" y="138906"/>
                  <a:pt x="138906" y="134472"/>
                  <a:pt x="138906" y="128984"/>
                </a:cubicBezTo>
                <a:cubicBezTo>
                  <a:pt x="138906" y="123496"/>
                  <a:pt x="134472" y="119062"/>
                  <a:pt x="128984" y="119062"/>
                </a:cubicBezTo>
                <a:lnTo>
                  <a:pt x="99219" y="119062"/>
                </a:lnTo>
                <a:cubicBezTo>
                  <a:pt x="82786" y="119062"/>
                  <a:pt x="69453" y="105730"/>
                  <a:pt x="69453" y="89297"/>
                </a:cubicBezTo>
                <a:cubicBezTo>
                  <a:pt x="69453" y="72864"/>
                  <a:pt x="82786" y="59531"/>
                  <a:pt x="99219" y="59531"/>
                </a:cubicBezTo>
                <a:lnTo>
                  <a:pt x="111559" y="59531"/>
                </a:lnTo>
                <a:cubicBezTo>
                  <a:pt x="105048" y="49764"/>
                  <a:pt x="99219" y="38540"/>
                  <a:pt x="99219" y="29766"/>
                </a:cubicBezTo>
                <a:cubicBezTo>
                  <a:pt x="99219" y="13333"/>
                  <a:pt x="112551" y="0"/>
                  <a:pt x="128984" y="0"/>
                </a:cubicBezTo>
                <a:cubicBezTo>
                  <a:pt x="145417" y="0"/>
                  <a:pt x="158750" y="13333"/>
                  <a:pt x="158750" y="29766"/>
                </a:cubicBezTo>
                <a:close/>
                <a:moveTo>
                  <a:pt x="36308" y="151650"/>
                </a:moveTo>
                <a:cubicBezTo>
                  <a:pt x="35130" y="152983"/>
                  <a:pt x="34075" y="154161"/>
                  <a:pt x="33176" y="155153"/>
                </a:cubicBezTo>
                <a:lnTo>
                  <a:pt x="32618" y="155773"/>
                </a:lnTo>
                <a:lnTo>
                  <a:pt x="32556" y="155711"/>
                </a:lnTo>
                <a:cubicBezTo>
                  <a:pt x="30696" y="157138"/>
                  <a:pt x="28029" y="156952"/>
                  <a:pt x="26355" y="155153"/>
                </a:cubicBezTo>
                <a:cubicBezTo>
                  <a:pt x="18542" y="146658"/>
                  <a:pt x="0" y="124799"/>
                  <a:pt x="0" y="109141"/>
                </a:cubicBezTo>
                <a:cubicBezTo>
                  <a:pt x="0" y="92708"/>
                  <a:pt x="13333" y="79375"/>
                  <a:pt x="29766" y="79375"/>
                </a:cubicBezTo>
                <a:cubicBezTo>
                  <a:pt x="46199" y="79375"/>
                  <a:pt x="59531" y="92708"/>
                  <a:pt x="59531" y="109141"/>
                </a:cubicBezTo>
                <a:cubicBezTo>
                  <a:pt x="59531" y="118442"/>
                  <a:pt x="52989" y="129915"/>
                  <a:pt x="46044" y="139495"/>
                </a:cubicBezTo>
                <a:cubicBezTo>
                  <a:pt x="42726" y="144053"/>
                  <a:pt x="39315" y="148177"/>
                  <a:pt x="36494" y="151433"/>
                </a:cubicBezTo>
                <a:lnTo>
                  <a:pt x="36308" y="151650"/>
                </a:lnTo>
                <a:close/>
                <a:moveTo>
                  <a:pt x="39688" y="109141"/>
                </a:moveTo>
                <a:cubicBezTo>
                  <a:pt x="39688" y="103665"/>
                  <a:pt x="35242" y="99219"/>
                  <a:pt x="29766" y="99219"/>
                </a:cubicBezTo>
                <a:cubicBezTo>
                  <a:pt x="24290" y="99219"/>
                  <a:pt x="19844" y="103665"/>
                  <a:pt x="19844" y="109141"/>
                </a:cubicBezTo>
                <a:cubicBezTo>
                  <a:pt x="19844" y="114617"/>
                  <a:pt x="24290" y="119062"/>
                  <a:pt x="29766" y="119062"/>
                </a:cubicBezTo>
                <a:cubicBezTo>
                  <a:pt x="35242" y="119062"/>
                  <a:pt x="39688" y="114617"/>
                  <a:pt x="39688" y="109141"/>
                </a:cubicBezTo>
                <a:close/>
                <a:moveTo>
                  <a:pt x="128984" y="39688"/>
                </a:moveTo>
                <a:cubicBezTo>
                  <a:pt x="134460" y="39688"/>
                  <a:pt x="138906" y="35242"/>
                  <a:pt x="138906" y="29766"/>
                </a:cubicBezTo>
                <a:cubicBezTo>
                  <a:pt x="138906" y="24290"/>
                  <a:pt x="134460" y="19844"/>
                  <a:pt x="128984" y="19844"/>
                </a:cubicBezTo>
                <a:cubicBezTo>
                  <a:pt x="123508" y="19844"/>
                  <a:pt x="119062" y="24290"/>
                  <a:pt x="119062" y="29766"/>
                </a:cubicBezTo>
                <a:cubicBezTo>
                  <a:pt x="119062" y="35242"/>
                  <a:pt x="123508" y="39688"/>
                  <a:pt x="128984" y="39688"/>
                </a:cubicBezTo>
                <a:close/>
              </a:path>
            </a:pathLst>
          </a:custGeom>
          <a:solidFill>
            <a:srgbClr val="2A4D53"/>
          </a:solidFill>
          <a:ln/>
        </p:spPr>
      </p:sp>
      <p:sp>
        <p:nvSpPr>
          <p:cNvPr id="25" name="Text 23"/>
          <p:cNvSpPr/>
          <p:nvPr/>
        </p:nvSpPr>
        <p:spPr>
          <a:xfrm>
            <a:off x="6659563" y="1904999"/>
            <a:ext cx="2245286" cy="238125"/>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Distance &gt;5km</a:t>
            </a:r>
            <a:endParaRPr lang="en-US" sz="1500" dirty="0"/>
          </a:p>
        </p:txBody>
      </p:sp>
      <p:sp>
        <p:nvSpPr>
          <p:cNvPr id="26" name="Text 24"/>
          <p:cNvSpPr/>
          <p:nvPr/>
        </p:nvSpPr>
        <p:spPr>
          <a:xfrm>
            <a:off x="6659563" y="2127250"/>
            <a:ext cx="2245286" cy="216296"/>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Geographic barriers to care</a:t>
            </a:r>
            <a:endParaRPr lang="en-US" sz="1300" b="1" dirty="0"/>
          </a:p>
        </p:txBody>
      </p:sp>
      <p:sp>
        <p:nvSpPr>
          <p:cNvPr id="27" name="Shape 25"/>
          <p:cNvSpPr/>
          <p:nvPr/>
        </p:nvSpPr>
        <p:spPr>
          <a:xfrm>
            <a:off x="6385719" y="2444750"/>
            <a:ext cx="158750" cy="158750"/>
          </a:xfrm>
          <a:custGeom>
            <a:avLst/>
            <a:gdLst/>
            <a:ahLst/>
            <a:cxnLst/>
            <a:rect l="l" t="t" r="r" b="b"/>
            <a:pathLst>
              <a:path w="158750" h="158750">
                <a:moveTo>
                  <a:pt x="79530" y="0"/>
                </a:moveTo>
                <a:cubicBezTo>
                  <a:pt x="84088" y="0"/>
                  <a:pt x="88274" y="2511"/>
                  <a:pt x="90444" y="6511"/>
                </a:cubicBezTo>
                <a:lnTo>
                  <a:pt x="157417" y="130535"/>
                </a:lnTo>
                <a:cubicBezTo>
                  <a:pt x="159494" y="134379"/>
                  <a:pt x="159401" y="139030"/>
                  <a:pt x="157169" y="142782"/>
                </a:cubicBezTo>
                <a:cubicBezTo>
                  <a:pt x="154936" y="146534"/>
                  <a:pt x="150875" y="148828"/>
                  <a:pt x="146534" y="148828"/>
                </a:cubicBezTo>
                <a:lnTo>
                  <a:pt x="12588" y="148828"/>
                </a:lnTo>
                <a:cubicBezTo>
                  <a:pt x="8217" y="148828"/>
                  <a:pt x="4186" y="146534"/>
                  <a:pt x="1953" y="142782"/>
                </a:cubicBezTo>
                <a:cubicBezTo>
                  <a:pt x="-279" y="139030"/>
                  <a:pt x="-372" y="134379"/>
                  <a:pt x="1705" y="130535"/>
                </a:cubicBezTo>
                <a:lnTo>
                  <a:pt x="68678" y="6511"/>
                </a:lnTo>
                <a:lnTo>
                  <a:pt x="69577" y="5085"/>
                </a:lnTo>
                <a:cubicBezTo>
                  <a:pt x="71841" y="1922"/>
                  <a:pt x="75530" y="0"/>
                  <a:pt x="79530" y="0"/>
                </a:cubicBezTo>
                <a:close/>
                <a:moveTo>
                  <a:pt x="52834" y="77484"/>
                </a:moveTo>
                <a:lnTo>
                  <a:pt x="61144" y="85793"/>
                </a:lnTo>
                <a:cubicBezTo>
                  <a:pt x="63066" y="87716"/>
                  <a:pt x="66229" y="87716"/>
                  <a:pt x="68151" y="85793"/>
                </a:cubicBezTo>
                <a:lnTo>
                  <a:pt x="81576" y="72368"/>
                </a:lnTo>
                <a:cubicBezTo>
                  <a:pt x="83437" y="70507"/>
                  <a:pt x="85948" y="69453"/>
                  <a:pt x="88584" y="69453"/>
                </a:cubicBezTo>
                <a:lnTo>
                  <a:pt x="101854" y="69453"/>
                </a:lnTo>
                <a:lnTo>
                  <a:pt x="79499" y="28060"/>
                </a:lnTo>
                <a:lnTo>
                  <a:pt x="52803" y="77484"/>
                </a:lnTo>
                <a:close/>
              </a:path>
            </a:pathLst>
          </a:custGeom>
          <a:solidFill>
            <a:srgbClr val="2A4D53"/>
          </a:solidFill>
          <a:ln/>
        </p:spPr>
      </p:sp>
      <p:sp>
        <p:nvSpPr>
          <p:cNvPr id="28" name="Text 26"/>
          <p:cNvSpPr/>
          <p:nvPr/>
        </p:nvSpPr>
        <p:spPr>
          <a:xfrm>
            <a:off x="6659563" y="2413000"/>
            <a:ext cx="2071688" cy="222250"/>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Hard-to-Reach (HTR)</a:t>
            </a:r>
            <a:endParaRPr lang="en-US" sz="1500" dirty="0"/>
          </a:p>
        </p:txBody>
      </p:sp>
      <p:sp>
        <p:nvSpPr>
          <p:cNvPr id="29" name="Text 27"/>
          <p:cNvSpPr/>
          <p:nvPr/>
        </p:nvSpPr>
        <p:spPr>
          <a:xfrm>
            <a:off x="6659562" y="2635250"/>
            <a:ext cx="3033077" cy="200422"/>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Terrain and infrastructure challenges</a:t>
            </a:r>
            <a:endParaRPr lang="en-US" sz="1300" b="1" dirty="0"/>
          </a:p>
        </p:txBody>
      </p:sp>
      <p:sp>
        <p:nvSpPr>
          <p:cNvPr id="30" name="Shape 28"/>
          <p:cNvSpPr/>
          <p:nvPr/>
        </p:nvSpPr>
        <p:spPr>
          <a:xfrm>
            <a:off x="6385719" y="2952750"/>
            <a:ext cx="158750" cy="158750"/>
          </a:xfrm>
          <a:custGeom>
            <a:avLst/>
            <a:gdLst/>
            <a:ahLst/>
            <a:cxnLst/>
            <a:rect l="l" t="t" r="r" b="b"/>
            <a:pathLst>
              <a:path w="158750" h="158750">
                <a:moveTo>
                  <a:pt x="79375" y="0"/>
                </a:moveTo>
                <a:cubicBezTo>
                  <a:pt x="80801" y="0"/>
                  <a:pt x="82228" y="310"/>
                  <a:pt x="83530" y="899"/>
                </a:cubicBezTo>
                <a:lnTo>
                  <a:pt x="141945" y="25673"/>
                </a:lnTo>
                <a:cubicBezTo>
                  <a:pt x="148766" y="28556"/>
                  <a:pt x="153851" y="35285"/>
                  <a:pt x="153820" y="43408"/>
                </a:cubicBezTo>
                <a:cubicBezTo>
                  <a:pt x="153665" y="74166"/>
                  <a:pt x="141015" y="130442"/>
                  <a:pt x="87592" y="156021"/>
                </a:cubicBezTo>
                <a:cubicBezTo>
                  <a:pt x="82414" y="158502"/>
                  <a:pt x="76398" y="158502"/>
                  <a:pt x="71220" y="156021"/>
                </a:cubicBezTo>
                <a:cubicBezTo>
                  <a:pt x="17766" y="130442"/>
                  <a:pt x="5147" y="74166"/>
                  <a:pt x="4992" y="43408"/>
                </a:cubicBezTo>
                <a:cubicBezTo>
                  <a:pt x="4961" y="35285"/>
                  <a:pt x="10046" y="28556"/>
                  <a:pt x="16867" y="25673"/>
                </a:cubicBezTo>
                <a:lnTo>
                  <a:pt x="75251" y="899"/>
                </a:lnTo>
                <a:cubicBezTo>
                  <a:pt x="76553" y="310"/>
                  <a:pt x="77949" y="0"/>
                  <a:pt x="79375" y="0"/>
                </a:cubicBezTo>
                <a:close/>
                <a:moveTo>
                  <a:pt x="79375" y="20712"/>
                </a:moveTo>
                <a:lnTo>
                  <a:pt x="79375" y="137945"/>
                </a:lnTo>
                <a:cubicBezTo>
                  <a:pt x="122163" y="117233"/>
                  <a:pt x="133666" y="71344"/>
                  <a:pt x="133945" y="43873"/>
                </a:cubicBezTo>
                <a:lnTo>
                  <a:pt x="79375" y="20743"/>
                </a:lnTo>
                <a:lnTo>
                  <a:pt x="79375" y="20743"/>
                </a:lnTo>
                <a:close/>
              </a:path>
            </a:pathLst>
          </a:custGeom>
          <a:solidFill>
            <a:srgbClr val="2A4D53"/>
          </a:solidFill>
          <a:ln/>
        </p:spPr>
      </p:sp>
      <p:sp>
        <p:nvSpPr>
          <p:cNvPr id="31" name="Text 29"/>
          <p:cNvSpPr/>
          <p:nvPr/>
        </p:nvSpPr>
        <p:spPr>
          <a:xfrm>
            <a:off x="6659563" y="2921000"/>
            <a:ext cx="2611046" cy="238124"/>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Security-Compromised Areas</a:t>
            </a:r>
            <a:endParaRPr lang="en-US" sz="1500" dirty="0"/>
          </a:p>
        </p:txBody>
      </p:sp>
      <p:sp>
        <p:nvSpPr>
          <p:cNvPr id="32" name="Text 30"/>
          <p:cNvSpPr/>
          <p:nvPr/>
        </p:nvSpPr>
        <p:spPr>
          <a:xfrm>
            <a:off x="6659562" y="3143250"/>
            <a:ext cx="2611045" cy="238124"/>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Safety risks for patients and staff</a:t>
            </a:r>
            <a:endParaRPr lang="en-US" sz="1300" b="1" dirty="0"/>
          </a:p>
        </p:txBody>
      </p:sp>
      <p:sp>
        <p:nvSpPr>
          <p:cNvPr id="33" name="Shape 31"/>
          <p:cNvSpPr/>
          <p:nvPr/>
        </p:nvSpPr>
        <p:spPr>
          <a:xfrm>
            <a:off x="377031" y="4211841"/>
            <a:ext cx="5494739" cy="1888729"/>
          </a:xfrm>
          <a:custGeom>
            <a:avLst/>
            <a:gdLst/>
            <a:ahLst/>
            <a:cxnLst/>
            <a:rect l="l" t="t" r="r" b="b"/>
            <a:pathLst>
              <a:path w="5699125" h="2928938">
                <a:moveTo>
                  <a:pt x="0" y="0"/>
                </a:moveTo>
                <a:lnTo>
                  <a:pt x="5699125" y="0"/>
                </a:lnTo>
                <a:lnTo>
                  <a:pt x="5699125" y="2928938"/>
                </a:lnTo>
                <a:lnTo>
                  <a:pt x="0" y="2928938"/>
                </a:lnTo>
                <a:lnTo>
                  <a:pt x="0" y="0"/>
                </a:lnTo>
                <a:close/>
              </a:path>
            </a:pathLst>
          </a:custGeom>
          <a:solidFill>
            <a:srgbClr val="FFFFFF"/>
          </a:solidFill>
          <a:ln/>
          <a:effectLst>
            <a:outerShdw blurRad="23813" dist="7938" dir="5400000" algn="bl" rotWithShape="0">
              <a:srgbClr val="000000">
                <a:alpha val="10196"/>
              </a:srgbClr>
            </a:outerShdw>
          </a:effectLst>
        </p:spPr>
      </p:sp>
      <p:sp>
        <p:nvSpPr>
          <p:cNvPr id="34" name="Shape 32"/>
          <p:cNvSpPr/>
          <p:nvPr/>
        </p:nvSpPr>
        <p:spPr>
          <a:xfrm>
            <a:off x="317500" y="3697591"/>
            <a:ext cx="5699125" cy="31750"/>
          </a:xfrm>
          <a:custGeom>
            <a:avLst/>
            <a:gdLst/>
            <a:ahLst/>
            <a:cxnLst/>
            <a:rect l="l" t="t" r="r" b="b"/>
            <a:pathLst>
              <a:path w="5699125" h="31750">
                <a:moveTo>
                  <a:pt x="0" y="0"/>
                </a:moveTo>
                <a:lnTo>
                  <a:pt x="5699125" y="0"/>
                </a:lnTo>
                <a:lnTo>
                  <a:pt x="5699125" y="31750"/>
                </a:lnTo>
                <a:lnTo>
                  <a:pt x="0" y="31750"/>
                </a:lnTo>
                <a:lnTo>
                  <a:pt x="0" y="0"/>
                </a:lnTo>
                <a:close/>
              </a:path>
            </a:pathLst>
          </a:custGeom>
          <a:solidFill>
            <a:srgbClr val="2A4D53"/>
          </a:solidFill>
          <a:ln/>
        </p:spPr>
      </p:sp>
      <p:sp>
        <p:nvSpPr>
          <p:cNvPr id="35" name="Shape 33"/>
          <p:cNvSpPr/>
          <p:nvPr/>
        </p:nvSpPr>
        <p:spPr>
          <a:xfrm>
            <a:off x="508000" y="3903966"/>
            <a:ext cx="444500" cy="444500"/>
          </a:xfrm>
          <a:custGeom>
            <a:avLst/>
            <a:gdLst/>
            <a:ahLst/>
            <a:cxnLst/>
            <a:rect l="l" t="t" r="r" b="b"/>
            <a:pathLst>
              <a:path w="444500" h="444500">
                <a:moveTo>
                  <a:pt x="0" y="0"/>
                </a:moveTo>
                <a:lnTo>
                  <a:pt x="444500" y="0"/>
                </a:lnTo>
                <a:lnTo>
                  <a:pt x="444500" y="444500"/>
                </a:lnTo>
                <a:lnTo>
                  <a:pt x="0" y="444500"/>
                </a:lnTo>
                <a:lnTo>
                  <a:pt x="0" y="0"/>
                </a:lnTo>
                <a:close/>
              </a:path>
            </a:pathLst>
          </a:custGeom>
          <a:solidFill>
            <a:srgbClr val="2A4D53"/>
          </a:solidFill>
          <a:ln/>
        </p:spPr>
      </p:sp>
      <p:sp>
        <p:nvSpPr>
          <p:cNvPr id="36" name="Text 34"/>
          <p:cNvSpPr/>
          <p:nvPr/>
        </p:nvSpPr>
        <p:spPr>
          <a:xfrm>
            <a:off x="460375" y="3903966"/>
            <a:ext cx="539750" cy="444500"/>
          </a:xfrm>
          <a:prstGeom prst="rect">
            <a:avLst/>
          </a:prstGeom>
          <a:noFill/>
          <a:ln/>
        </p:spPr>
        <p:txBody>
          <a:bodyPr wrap="square" lIns="0" tIns="0" rIns="0" bIns="0" rtlCol="0" anchor="ctr"/>
          <a:lstStyle/>
          <a:p>
            <a:pPr algn="ctr">
              <a:lnSpc>
                <a:spcPct val="110000"/>
              </a:lnSpc>
            </a:pPr>
            <a:r>
              <a:rPr lang="en-US" sz="1500" b="1" dirty="0">
                <a:solidFill>
                  <a:srgbClr val="F8F7F5"/>
                </a:solidFill>
                <a:latin typeface="Liter" pitchFamily="34" charset="0"/>
                <a:ea typeface="Liter" pitchFamily="34" charset="-122"/>
                <a:cs typeface="Liter" pitchFamily="34" charset="-120"/>
              </a:rPr>
              <a:t>3</a:t>
            </a:r>
            <a:endParaRPr lang="en-US" sz="1600" dirty="0"/>
          </a:p>
        </p:txBody>
      </p:sp>
      <p:sp>
        <p:nvSpPr>
          <p:cNvPr id="37" name="Text 35"/>
          <p:cNvSpPr/>
          <p:nvPr/>
        </p:nvSpPr>
        <p:spPr>
          <a:xfrm>
            <a:off x="1047750" y="3999216"/>
            <a:ext cx="2384766" cy="254000"/>
          </a:xfrm>
          <a:prstGeom prst="rect">
            <a:avLst/>
          </a:prstGeom>
          <a:noFill/>
          <a:ln/>
        </p:spPr>
        <p:txBody>
          <a:bodyPr wrap="square" lIns="0" tIns="0" rIns="0" bIns="0" rtlCol="0" anchor="ctr"/>
          <a:lstStyle/>
          <a:p>
            <a:pPr>
              <a:lnSpc>
                <a:spcPct val="110000"/>
              </a:lnSpc>
            </a:pPr>
            <a:r>
              <a:rPr lang="en-US" b="1" dirty="0">
                <a:solidFill>
                  <a:srgbClr val="2A4D53"/>
                </a:solidFill>
                <a:latin typeface="Liter" pitchFamily="34" charset="0"/>
                <a:ea typeface="Liter" pitchFamily="34" charset="-122"/>
                <a:cs typeface="Liter" pitchFamily="34" charset="-120"/>
              </a:rPr>
              <a:t>Are Facilities Ready?</a:t>
            </a:r>
            <a:endParaRPr lang="en-US" dirty="0"/>
          </a:p>
        </p:txBody>
      </p:sp>
      <p:sp>
        <p:nvSpPr>
          <p:cNvPr id="38" name="Shape 36"/>
          <p:cNvSpPr/>
          <p:nvPr/>
        </p:nvSpPr>
        <p:spPr>
          <a:xfrm>
            <a:off x="537766" y="4507216"/>
            <a:ext cx="138906" cy="158750"/>
          </a:xfrm>
          <a:custGeom>
            <a:avLst/>
            <a:gdLst/>
            <a:ahLst/>
            <a:cxnLst/>
            <a:rect l="l" t="t" r="r" b="b"/>
            <a:pathLst>
              <a:path w="138906" h="158750">
                <a:moveTo>
                  <a:pt x="69453" y="2480"/>
                </a:moveTo>
                <a:cubicBezTo>
                  <a:pt x="48918" y="2480"/>
                  <a:pt x="32246" y="19152"/>
                  <a:pt x="32246" y="39688"/>
                </a:cubicBezTo>
                <a:cubicBezTo>
                  <a:pt x="32246" y="60223"/>
                  <a:pt x="48918" y="76895"/>
                  <a:pt x="69453" y="76895"/>
                </a:cubicBezTo>
                <a:cubicBezTo>
                  <a:pt x="89988" y="76895"/>
                  <a:pt x="106660" y="60223"/>
                  <a:pt x="106660" y="39688"/>
                </a:cubicBezTo>
                <a:cubicBezTo>
                  <a:pt x="106660" y="19152"/>
                  <a:pt x="89988" y="2480"/>
                  <a:pt x="69453" y="2480"/>
                </a:cubicBezTo>
                <a:close/>
                <a:moveTo>
                  <a:pt x="88057" y="99467"/>
                </a:moveTo>
                <a:cubicBezTo>
                  <a:pt x="86382" y="99312"/>
                  <a:pt x="84646" y="99219"/>
                  <a:pt x="82910" y="99219"/>
                </a:cubicBezTo>
                <a:lnTo>
                  <a:pt x="55966" y="99219"/>
                </a:lnTo>
                <a:cubicBezTo>
                  <a:pt x="54229" y="99219"/>
                  <a:pt x="52524" y="99312"/>
                  <a:pt x="50819" y="99467"/>
                </a:cubicBezTo>
                <a:lnTo>
                  <a:pt x="50819" y="120396"/>
                </a:lnTo>
                <a:cubicBezTo>
                  <a:pt x="55935" y="122752"/>
                  <a:pt x="59500" y="127930"/>
                  <a:pt x="59500" y="133914"/>
                </a:cubicBezTo>
                <a:cubicBezTo>
                  <a:pt x="59500" y="142131"/>
                  <a:pt x="52834" y="148797"/>
                  <a:pt x="44617" y="148797"/>
                </a:cubicBezTo>
                <a:cubicBezTo>
                  <a:pt x="36401" y="148797"/>
                  <a:pt x="29735" y="142131"/>
                  <a:pt x="29735" y="133914"/>
                </a:cubicBezTo>
                <a:cubicBezTo>
                  <a:pt x="29735" y="127899"/>
                  <a:pt x="33300" y="122721"/>
                  <a:pt x="38416" y="120396"/>
                </a:cubicBezTo>
                <a:lnTo>
                  <a:pt x="38416" y="102288"/>
                </a:lnTo>
                <a:cubicBezTo>
                  <a:pt x="18914" y="109451"/>
                  <a:pt x="4961" y="128240"/>
                  <a:pt x="4961" y="150254"/>
                </a:cubicBezTo>
                <a:cubicBezTo>
                  <a:pt x="4961" y="154936"/>
                  <a:pt x="8775" y="158750"/>
                  <a:pt x="13457" y="158750"/>
                </a:cubicBezTo>
                <a:lnTo>
                  <a:pt x="125419" y="158750"/>
                </a:lnTo>
                <a:cubicBezTo>
                  <a:pt x="130101" y="158750"/>
                  <a:pt x="133914" y="154936"/>
                  <a:pt x="133914" y="150254"/>
                </a:cubicBezTo>
                <a:cubicBezTo>
                  <a:pt x="133914" y="128240"/>
                  <a:pt x="119962" y="109482"/>
                  <a:pt x="100428" y="102319"/>
                </a:cubicBezTo>
                <a:lnTo>
                  <a:pt x="100428" y="113916"/>
                </a:lnTo>
                <a:cubicBezTo>
                  <a:pt x="107652" y="116458"/>
                  <a:pt x="112830" y="123372"/>
                  <a:pt x="112830" y="131465"/>
                </a:cubicBezTo>
                <a:lnTo>
                  <a:pt x="112830" y="141387"/>
                </a:lnTo>
                <a:cubicBezTo>
                  <a:pt x="112830" y="144797"/>
                  <a:pt x="110040" y="147588"/>
                  <a:pt x="106629" y="147588"/>
                </a:cubicBezTo>
                <a:cubicBezTo>
                  <a:pt x="103219" y="147588"/>
                  <a:pt x="100428" y="144797"/>
                  <a:pt x="100428" y="141387"/>
                </a:cubicBezTo>
                <a:lnTo>
                  <a:pt x="100428" y="131465"/>
                </a:lnTo>
                <a:cubicBezTo>
                  <a:pt x="100428" y="128054"/>
                  <a:pt x="97637" y="125264"/>
                  <a:pt x="94227" y="125264"/>
                </a:cubicBezTo>
                <a:cubicBezTo>
                  <a:pt x="90816" y="125264"/>
                  <a:pt x="88026" y="128054"/>
                  <a:pt x="88026" y="131465"/>
                </a:cubicBezTo>
                <a:lnTo>
                  <a:pt x="88026" y="141387"/>
                </a:lnTo>
                <a:cubicBezTo>
                  <a:pt x="88026" y="144797"/>
                  <a:pt x="85235" y="147588"/>
                  <a:pt x="81824" y="147588"/>
                </a:cubicBezTo>
                <a:cubicBezTo>
                  <a:pt x="78414" y="147588"/>
                  <a:pt x="75623" y="144797"/>
                  <a:pt x="75623" y="141387"/>
                </a:cubicBezTo>
                <a:lnTo>
                  <a:pt x="75623" y="131465"/>
                </a:lnTo>
                <a:cubicBezTo>
                  <a:pt x="75623" y="123372"/>
                  <a:pt x="80801" y="116489"/>
                  <a:pt x="88026" y="113916"/>
                </a:cubicBezTo>
                <a:lnTo>
                  <a:pt x="88026" y="99467"/>
                </a:lnTo>
                <a:close/>
              </a:path>
            </a:pathLst>
          </a:custGeom>
          <a:solidFill>
            <a:srgbClr val="C87E62"/>
          </a:solidFill>
          <a:ln/>
        </p:spPr>
      </p:sp>
      <p:sp>
        <p:nvSpPr>
          <p:cNvPr id="39" name="Text 37"/>
          <p:cNvSpPr/>
          <p:nvPr/>
        </p:nvSpPr>
        <p:spPr>
          <a:xfrm>
            <a:off x="801688" y="4475466"/>
            <a:ext cx="1754188" cy="222250"/>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Staff Availability</a:t>
            </a:r>
            <a:endParaRPr lang="en-US" sz="1500" dirty="0"/>
          </a:p>
        </p:txBody>
      </p:sp>
      <p:sp>
        <p:nvSpPr>
          <p:cNvPr id="40" name="Text 38"/>
          <p:cNvSpPr/>
          <p:nvPr/>
        </p:nvSpPr>
        <p:spPr>
          <a:xfrm>
            <a:off x="801688" y="4697716"/>
            <a:ext cx="2384766" cy="222250"/>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Healthcare workforce capacity</a:t>
            </a:r>
            <a:endParaRPr lang="en-US" sz="1300" b="1" dirty="0"/>
          </a:p>
        </p:txBody>
      </p:sp>
      <p:sp>
        <p:nvSpPr>
          <p:cNvPr id="41" name="Shape 39"/>
          <p:cNvSpPr/>
          <p:nvPr/>
        </p:nvSpPr>
        <p:spPr>
          <a:xfrm>
            <a:off x="527844" y="5544716"/>
            <a:ext cx="158750" cy="158750"/>
          </a:xfrm>
          <a:custGeom>
            <a:avLst/>
            <a:gdLst/>
            <a:ahLst/>
            <a:cxnLst/>
            <a:rect l="l" t="t" r="r" b="b"/>
            <a:pathLst>
              <a:path w="158750" h="158750">
                <a:moveTo>
                  <a:pt x="19844" y="34727"/>
                </a:moveTo>
                <a:cubicBezTo>
                  <a:pt x="19844" y="26510"/>
                  <a:pt x="26510" y="19844"/>
                  <a:pt x="34727" y="19844"/>
                </a:cubicBezTo>
                <a:cubicBezTo>
                  <a:pt x="42943" y="19844"/>
                  <a:pt x="49609" y="26510"/>
                  <a:pt x="49609" y="34727"/>
                </a:cubicBezTo>
                <a:lnTo>
                  <a:pt x="49609" y="69453"/>
                </a:lnTo>
                <a:lnTo>
                  <a:pt x="19844" y="69453"/>
                </a:lnTo>
                <a:lnTo>
                  <a:pt x="19844" y="34727"/>
                </a:lnTo>
                <a:close/>
                <a:moveTo>
                  <a:pt x="54570" y="114102"/>
                </a:moveTo>
                <a:cubicBezTo>
                  <a:pt x="54570" y="99002"/>
                  <a:pt x="60182" y="85204"/>
                  <a:pt x="69453" y="74724"/>
                </a:cubicBezTo>
                <a:lnTo>
                  <a:pt x="69453" y="34727"/>
                </a:lnTo>
                <a:cubicBezTo>
                  <a:pt x="69453" y="15534"/>
                  <a:pt x="53919" y="0"/>
                  <a:pt x="34727" y="0"/>
                </a:cubicBezTo>
                <a:cubicBezTo>
                  <a:pt x="15534" y="0"/>
                  <a:pt x="0" y="15534"/>
                  <a:pt x="0" y="34727"/>
                </a:cubicBezTo>
                <a:lnTo>
                  <a:pt x="0" y="124023"/>
                </a:lnTo>
                <a:cubicBezTo>
                  <a:pt x="0" y="143216"/>
                  <a:pt x="15534" y="158750"/>
                  <a:pt x="34727" y="158750"/>
                </a:cubicBezTo>
                <a:cubicBezTo>
                  <a:pt x="46292" y="158750"/>
                  <a:pt x="56524" y="153107"/>
                  <a:pt x="62849" y="144394"/>
                </a:cubicBezTo>
                <a:cubicBezTo>
                  <a:pt x="57578" y="135527"/>
                  <a:pt x="54570" y="125171"/>
                  <a:pt x="54570" y="114102"/>
                </a:cubicBezTo>
                <a:close/>
                <a:moveTo>
                  <a:pt x="74631" y="135000"/>
                </a:moveTo>
                <a:cubicBezTo>
                  <a:pt x="76057" y="137697"/>
                  <a:pt x="79685" y="138007"/>
                  <a:pt x="81855" y="135837"/>
                </a:cubicBezTo>
                <a:lnTo>
                  <a:pt x="135837" y="81855"/>
                </a:lnTo>
                <a:cubicBezTo>
                  <a:pt x="138007" y="79685"/>
                  <a:pt x="137697" y="76057"/>
                  <a:pt x="135000" y="74631"/>
                </a:cubicBezTo>
                <a:cubicBezTo>
                  <a:pt x="128767" y="71313"/>
                  <a:pt x="121667" y="69453"/>
                  <a:pt x="114102" y="69453"/>
                </a:cubicBezTo>
                <a:cubicBezTo>
                  <a:pt x="89452" y="69453"/>
                  <a:pt x="69453" y="89452"/>
                  <a:pt x="69453" y="114102"/>
                </a:cubicBezTo>
                <a:cubicBezTo>
                  <a:pt x="69453" y="121636"/>
                  <a:pt x="71313" y="128767"/>
                  <a:pt x="74631" y="135000"/>
                </a:cubicBezTo>
                <a:close/>
                <a:moveTo>
                  <a:pt x="92366" y="146348"/>
                </a:moveTo>
                <a:cubicBezTo>
                  <a:pt x="90196" y="148518"/>
                  <a:pt x="90506" y="152146"/>
                  <a:pt x="93204" y="153572"/>
                </a:cubicBezTo>
                <a:cubicBezTo>
                  <a:pt x="99436" y="156890"/>
                  <a:pt x="106536" y="158750"/>
                  <a:pt x="114102" y="158750"/>
                </a:cubicBezTo>
                <a:cubicBezTo>
                  <a:pt x="138751" y="158750"/>
                  <a:pt x="158750" y="138751"/>
                  <a:pt x="158750" y="114102"/>
                </a:cubicBezTo>
                <a:cubicBezTo>
                  <a:pt x="158750" y="106567"/>
                  <a:pt x="156890" y="99436"/>
                  <a:pt x="153572" y="93204"/>
                </a:cubicBezTo>
                <a:cubicBezTo>
                  <a:pt x="152146" y="90506"/>
                  <a:pt x="148518" y="90196"/>
                  <a:pt x="146348" y="92366"/>
                </a:cubicBezTo>
                <a:lnTo>
                  <a:pt x="92366" y="146348"/>
                </a:lnTo>
                <a:close/>
              </a:path>
            </a:pathLst>
          </a:custGeom>
          <a:solidFill>
            <a:srgbClr val="C87E62"/>
          </a:solidFill>
          <a:ln/>
        </p:spPr>
      </p:sp>
      <p:sp>
        <p:nvSpPr>
          <p:cNvPr id="42" name="Text 40"/>
          <p:cNvSpPr/>
          <p:nvPr/>
        </p:nvSpPr>
        <p:spPr>
          <a:xfrm>
            <a:off x="801688" y="4983466"/>
            <a:ext cx="2630828" cy="254000"/>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Vaccine &amp; Drug Availability</a:t>
            </a:r>
            <a:endParaRPr lang="en-US" sz="1500" dirty="0"/>
          </a:p>
        </p:txBody>
      </p:sp>
      <p:sp>
        <p:nvSpPr>
          <p:cNvPr id="43" name="Text 41"/>
          <p:cNvSpPr/>
          <p:nvPr/>
        </p:nvSpPr>
        <p:spPr>
          <a:xfrm>
            <a:off x="801688" y="5205716"/>
            <a:ext cx="2230438" cy="158748"/>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Essential medical supplies</a:t>
            </a:r>
            <a:endParaRPr lang="en-US" sz="1300" b="1" dirty="0"/>
          </a:p>
        </p:txBody>
      </p:sp>
      <p:sp>
        <p:nvSpPr>
          <p:cNvPr id="44" name="Shape 42"/>
          <p:cNvSpPr/>
          <p:nvPr/>
        </p:nvSpPr>
        <p:spPr>
          <a:xfrm>
            <a:off x="530601" y="5025966"/>
            <a:ext cx="119063" cy="158750"/>
          </a:xfrm>
          <a:custGeom>
            <a:avLst/>
            <a:gdLst/>
            <a:ahLst/>
            <a:cxnLst/>
            <a:rect l="l" t="t" r="r" b="b"/>
            <a:pathLst>
              <a:path w="119063" h="158750">
                <a:moveTo>
                  <a:pt x="96552" y="9922"/>
                </a:moveTo>
                <a:lnTo>
                  <a:pt x="99219" y="9922"/>
                </a:lnTo>
                <a:cubicBezTo>
                  <a:pt x="110164" y="9922"/>
                  <a:pt x="119062" y="18821"/>
                  <a:pt x="119062" y="29766"/>
                </a:cubicBezTo>
                <a:lnTo>
                  <a:pt x="119062" y="138906"/>
                </a:lnTo>
                <a:cubicBezTo>
                  <a:pt x="119062" y="149851"/>
                  <a:pt x="110164" y="158750"/>
                  <a:pt x="99219" y="158750"/>
                </a:cubicBezTo>
                <a:lnTo>
                  <a:pt x="19844" y="158750"/>
                </a:lnTo>
                <a:cubicBezTo>
                  <a:pt x="8899" y="158750"/>
                  <a:pt x="0" y="149851"/>
                  <a:pt x="0" y="138906"/>
                </a:cubicBezTo>
                <a:lnTo>
                  <a:pt x="0" y="29766"/>
                </a:lnTo>
                <a:cubicBezTo>
                  <a:pt x="0" y="18821"/>
                  <a:pt x="8899" y="9922"/>
                  <a:pt x="19844" y="9922"/>
                </a:cubicBezTo>
                <a:lnTo>
                  <a:pt x="22510" y="9922"/>
                </a:lnTo>
                <a:cubicBezTo>
                  <a:pt x="25921" y="4000"/>
                  <a:pt x="32339" y="0"/>
                  <a:pt x="39688" y="0"/>
                </a:cubicBezTo>
                <a:lnTo>
                  <a:pt x="79375" y="0"/>
                </a:lnTo>
                <a:cubicBezTo>
                  <a:pt x="86723" y="0"/>
                  <a:pt x="93142" y="4000"/>
                  <a:pt x="96552" y="9922"/>
                </a:cubicBezTo>
                <a:close/>
                <a:moveTo>
                  <a:pt x="76895" y="34727"/>
                </a:moveTo>
                <a:cubicBezTo>
                  <a:pt x="81018" y="34727"/>
                  <a:pt x="84336" y="31409"/>
                  <a:pt x="84336" y="27285"/>
                </a:cubicBezTo>
                <a:cubicBezTo>
                  <a:pt x="84336" y="23161"/>
                  <a:pt x="81018" y="19844"/>
                  <a:pt x="76895" y="19844"/>
                </a:cubicBezTo>
                <a:lnTo>
                  <a:pt x="42168" y="19844"/>
                </a:lnTo>
                <a:cubicBezTo>
                  <a:pt x="38044" y="19844"/>
                  <a:pt x="34727" y="23161"/>
                  <a:pt x="34727" y="27285"/>
                </a:cubicBezTo>
                <a:cubicBezTo>
                  <a:pt x="34727" y="31409"/>
                  <a:pt x="38044" y="34727"/>
                  <a:pt x="42168" y="34727"/>
                </a:cubicBezTo>
                <a:lnTo>
                  <a:pt x="76895" y="34727"/>
                </a:lnTo>
                <a:close/>
                <a:moveTo>
                  <a:pt x="85700" y="80832"/>
                </a:moveTo>
                <a:cubicBezTo>
                  <a:pt x="87871" y="77360"/>
                  <a:pt x="86816" y="72771"/>
                  <a:pt x="83344" y="70569"/>
                </a:cubicBezTo>
                <a:cubicBezTo>
                  <a:pt x="79871" y="68368"/>
                  <a:pt x="75282" y="69453"/>
                  <a:pt x="73081" y="72926"/>
                </a:cubicBezTo>
                <a:lnTo>
                  <a:pt x="54043" y="103405"/>
                </a:lnTo>
                <a:lnTo>
                  <a:pt x="45672" y="92242"/>
                </a:lnTo>
                <a:cubicBezTo>
                  <a:pt x="43191" y="88956"/>
                  <a:pt x="38540" y="88274"/>
                  <a:pt x="35254" y="90754"/>
                </a:cubicBezTo>
                <a:cubicBezTo>
                  <a:pt x="31967" y="93235"/>
                  <a:pt x="31285" y="97885"/>
                  <a:pt x="33765" y="101172"/>
                </a:cubicBezTo>
                <a:lnTo>
                  <a:pt x="48648" y="121016"/>
                </a:lnTo>
                <a:cubicBezTo>
                  <a:pt x="50105" y="122969"/>
                  <a:pt x="52462" y="124085"/>
                  <a:pt x="54911" y="123992"/>
                </a:cubicBezTo>
                <a:cubicBezTo>
                  <a:pt x="57361" y="123899"/>
                  <a:pt x="59593" y="122597"/>
                  <a:pt x="60896" y="120489"/>
                </a:cubicBezTo>
                <a:lnTo>
                  <a:pt x="85700" y="80801"/>
                </a:lnTo>
                <a:close/>
              </a:path>
            </a:pathLst>
          </a:custGeom>
          <a:solidFill>
            <a:srgbClr val="C87E62"/>
          </a:solidFill>
          <a:ln/>
        </p:spPr>
      </p:sp>
      <p:sp>
        <p:nvSpPr>
          <p:cNvPr id="45" name="Text 43"/>
          <p:cNvSpPr/>
          <p:nvPr/>
        </p:nvSpPr>
        <p:spPr>
          <a:xfrm>
            <a:off x="801688" y="5491466"/>
            <a:ext cx="2630828" cy="233784"/>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Reporting Tools (NHMIS)</a:t>
            </a:r>
            <a:endParaRPr lang="en-US" sz="1500" dirty="0"/>
          </a:p>
        </p:txBody>
      </p:sp>
      <p:sp>
        <p:nvSpPr>
          <p:cNvPr id="46" name="Text 44"/>
          <p:cNvSpPr/>
          <p:nvPr/>
        </p:nvSpPr>
        <p:spPr>
          <a:xfrm>
            <a:off x="801688" y="5713716"/>
            <a:ext cx="2630828" cy="254000"/>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Data collection infrastructure</a:t>
            </a:r>
            <a:endParaRPr lang="en-US" sz="1300" b="1" dirty="0"/>
          </a:p>
        </p:txBody>
      </p:sp>
      <p:sp>
        <p:nvSpPr>
          <p:cNvPr id="47" name="Shape 45"/>
          <p:cNvSpPr/>
          <p:nvPr/>
        </p:nvSpPr>
        <p:spPr>
          <a:xfrm>
            <a:off x="6175375" y="3697591"/>
            <a:ext cx="5699125" cy="2298549"/>
          </a:xfrm>
          <a:custGeom>
            <a:avLst/>
            <a:gdLst/>
            <a:ahLst/>
            <a:cxnLst/>
            <a:rect l="l" t="t" r="r" b="b"/>
            <a:pathLst>
              <a:path w="5699125" h="2928938">
                <a:moveTo>
                  <a:pt x="0" y="0"/>
                </a:moveTo>
                <a:lnTo>
                  <a:pt x="5699125" y="0"/>
                </a:lnTo>
                <a:lnTo>
                  <a:pt x="5699125" y="2928938"/>
                </a:lnTo>
                <a:lnTo>
                  <a:pt x="0" y="2928938"/>
                </a:lnTo>
                <a:lnTo>
                  <a:pt x="0" y="0"/>
                </a:lnTo>
                <a:close/>
              </a:path>
            </a:pathLst>
          </a:custGeom>
          <a:solidFill>
            <a:srgbClr val="FFFFFF"/>
          </a:solidFill>
          <a:ln/>
          <a:effectLst>
            <a:outerShdw blurRad="23813" dist="7938" dir="5400000" algn="bl" rotWithShape="0">
              <a:srgbClr val="000000">
                <a:alpha val="10196"/>
              </a:srgbClr>
            </a:outerShdw>
          </a:effectLst>
        </p:spPr>
      </p:sp>
      <p:sp>
        <p:nvSpPr>
          <p:cNvPr id="48" name="Shape 46"/>
          <p:cNvSpPr/>
          <p:nvPr/>
        </p:nvSpPr>
        <p:spPr>
          <a:xfrm>
            <a:off x="6175375" y="3697591"/>
            <a:ext cx="5699125" cy="31750"/>
          </a:xfrm>
          <a:custGeom>
            <a:avLst/>
            <a:gdLst/>
            <a:ahLst/>
            <a:cxnLst/>
            <a:rect l="l" t="t" r="r" b="b"/>
            <a:pathLst>
              <a:path w="5699125" h="31750">
                <a:moveTo>
                  <a:pt x="0" y="0"/>
                </a:moveTo>
                <a:lnTo>
                  <a:pt x="5699125" y="0"/>
                </a:lnTo>
                <a:lnTo>
                  <a:pt x="5699125" y="31750"/>
                </a:lnTo>
                <a:lnTo>
                  <a:pt x="0" y="31750"/>
                </a:lnTo>
                <a:lnTo>
                  <a:pt x="0" y="0"/>
                </a:lnTo>
                <a:close/>
              </a:path>
            </a:pathLst>
          </a:custGeom>
          <a:solidFill>
            <a:srgbClr val="C87E62"/>
          </a:solidFill>
          <a:ln/>
        </p:spPr>
      </p:sp>
      <p:sp>
        <p:nvSpPr>
          <p:cNvPr id="49" name="Shape 47"/>
          <p:cNvSpPr/>
          <p:nvPr/>
        </p:nvSpPr>
        <p:spPr>
          <a:xfrm>
            <a:off x="6365875" y="3903966"/>
            <a:ext cx="444500" cy="444500"/>
          </a:xfrm>
          <a:custGeom>
            <a:avLst/>
            <a:gdLst/>
            <a:ahLst/>
            <a:cxnLst/>
            <a:rect l="l" t="t" r="r" b="b"/>
            <a:pathLst>
              <a:path w="444500" h="444500">
                <a:moveTo>
                  <a:pt x="0" y="0"/>
                </a:moveTo>
                <a:lnTo>
                  <a:pt x="444500" y="0"/>
                </a:lnTo>
                <a:lnTo>
                  <a:pt x="444500" y="444500"/>
                </a:lnTo>
                <a:lnTo>
                  <a:pt x="0" y="444500"/>
                </a:lnTo>
                <a:lnTo>
                  <a:pt x="0" y="0"/>
                </a:lnTo>
                <a:close/>
              </a:path>
            </a:pathLst>
          </a:custGeom>
          <a:solidFill>
            <a:srgbClr val="C87E62"/>
          </a:solidFill>
          <a:ln/>
        </p:spPr>
      </p:sp>
      <p:sp>
        <p:nvSpPr>
          <p:cNvPr id="50" name="Text 48"/>
          <p:cNvSpPr/>
          <p:nvPr/>
        </p:nvSpPr>
        <p:spPr>
          <a:xfrm>
            <a:off x="6318250" y="3903966"/>
            <a:ext cx="539750" cy="444500"/>
          </a:xfrm>
          <a:prstGeom prst="rect">
            <a:avLst/>
          </a:prstGeom>
          <a:noFill/>
          <a:ln/>
        </p:spPr>
        <p:txBody>
          <a:bodyPr wrap="square" lIns="0" tIns="0" rIns="0" bIns="0" rtlCol="0" anchor="ctr"/>
          <a:lstStyle/>
          <a:p>
            <a:pPr algn="ctr">
              <a:lnSpc>
                <a:spcPct val="110000"/>
              </a:lnSpc>
            </a:pPr>
            <a:r>
              <a:rPr lang="en-US" sz="1500" b="1" dirty="0">
                <a:solidFill>
                  <a:srgbClr val="F8F7F5"/>
                </a:solidFill>
                <a:latin typeface="Liter" pitchFamily="34" charset="0"/>
                <a:ea typeface="Liter" pitchFamily="34" charset="-122"/>
                <a:cs typeface="Liter" pitchFamily="34" charset="-120"/>
              </a:rPr>
              <a:t>4</a:t>
            </a:r>
            <a:endParaRPr lang="en-US" sz="1600" dirty="0"/>
          </a:p>
        </p:txBody>
      </p:sp>
      <p:sp>
        <p:nvSpPr>
          <p:cNvPr id="51" name="Text 49"/>
          <p:cNvSpPr/>
          <p:nvPr/>
        </p:nvSpPr>
        <p:spPr>
          <a:xfrm>
            <a:off x="6905624" y="3999216"/>
            <a:ext cx="4238625" cy="254000"/>
          </a:xfrm>
          <a:prstGeom prst="rect">
            <a:avLst/>
          </a:prstGeom>
          <a:noFill/>
          <a:ln/>
        </p:spPr>
        <p:txBody>
          <a:bodyPr wrap="square" lIns="0" tIns="0" rIns="0" bIns="0" rtlCol="0" anchor="ctr"/>
          <a:lstStyle/>
          <a:p>
            <a:pPr>
              <a:lnSpc>
                <a:spcPct val="110000"/>
              </a:lnSpc>
            </a:pPr>
            <a:r>
              <a:rPr lang="en-US" b="1" dirty="0">
                <a:solidFill>
                  <a:srgbClr val="2A4D53"/>
                </a:solidFill>
                <a:latin typeface="Liter" pitchFamily="34" charset="0"/>
                <a:ea typeface="Liter" pitchFamily="34" charset="-122"/>
                <a:cs typeface="Liter" pitchFamily="34" charset="-120"/>
              </a:rPr>
              <a:t>Where Should Resources Go First?</a:t>
            </a:r>
            <a:endParaRPr lang="en-US" dirty="0"/>
          </a:p>
        </p:txBody>
      </p:sp>
      <p:sp>
        <p:nvSpPr>
          <p:cNvPr id="52" name="Shape 50"/>
          <p:cNvSpPr/>
          <p:nvPr/>
        </p:nvSpPr>
        <p:spPr>
          <a:xfrm>
            <a:off x="6365875" y="4507216"/>
            <a:ext cx="198438" cy="158750"/>
          </a:xfrm>
          <a:custGeom>
            <a:avLst/>
            <a:gdLst/>
            <a:ahLst/>
            <a:cxnLst/>
            <a:rect l="l" t="t" r="r" b="b"/>
            <a:pathLst>
              <a:path w="198438" h="158750">
                <a:moveTo>
                  <a:pt x="119062" y="9922"/>
                </a:moveTo>
                <a:lnTo>
                  <a:pt x="158750" y="9922"/>
                </a:lnTo>
                <a:cubicBezTo>
                  <a:pt x="164238" y="9922"/>
                  <a:pt x="168672" y="14356"/>
                  <a:pt x="168672" y="19844"/>
                </a:cubicBezTo>
                <a:cubicBezTo>
                  <a:pt x="168672" y="25332"/>
                  <a:pt x="164238" y="29766"/>
                  <a:pt x="158750" y="29766"/>
                </a:cubicBezTo>
                <a:lnTo>
                  <a:pt x="123527" y="29766"/>
                </a:lnTo>
                <a:cubicBezTo>
                  <a:pt x="121915" y="37765"/>
                  <a:pt x="116427" y="44369"/>
                  <a:pt x="109141" y="47532"/>
                </a:cubicBezTo>
                <a:lnTo>
                  <a:pt x="109141" y="138906"/>
                </a:lnTo>
                <a:lnTo>
                  <a:pt x="158750" y="138906"/>
                </a:lnTo>
                <a:cubicBezTo>
                  <a:pt x="164238" y="138906"/>
                  <a:pt x="168672" y="143340"/>
                  <a:pt x="168672" y="148828"/>
                </a:cubicBezTo>
                <a:cubicBezTo>
                  <a:pt x="168672" y="154316"/>
                  <a:pt x="164238" y="158750"/>
                  <a:pt x="158750" y="158750"/>
                </a:cubicBezTo>
                <a:lnTo>
                  <a:pt x="39688" y="158750"/>
                </a:lnTo>
                <a:cubicBezTo>
                  <a:pt x="34199" y="158750"/>
                  <a:pt x="29766" y="154316"/>
                  <a:pt x="29766" y="148828"/>
                </a:cubicBezTo>
                <a:cubicBezTo>
                  <a:pt x="29766" y="143340"/>
                  <a:pt x="34199" y="138906"/>
                  <a:pt x="39688" y="138906"/>
                </a:cubicBezTo>
                <a:lnTo>
                  <a:pt x="89297" y="138906"/>
                </a:lnTo>
                <a:lnTo>
                  <a:pt x="89297" y="47532"/>
                </a:lnTo>
                <a:cubicBezTo>
                  <a:pt x="82010" y="44338"/>
                  <a:pt x="76522" y="37734"/>
                  <a:pt x="74910" y="29766"/>
                </a:cubicBezTo>
                <a:lnTo>
                  <a:pt x="39688" y="29766"/>
                </a:lnTo>
                <a:cubicBezTo>
                  <a:pt x="34199" y="29766"/>
                  <a:pt x="29766" y="25332"/>
                  <a:pt x="29766" y="19844"/>
                </a:cubicBezTo>
                <a:cubicBezTo>
                  <a:pt x="29766" y="14356"/>
                  <a:pt x="34199" y="9922"/>
                  <a:pt x="39688" y="9922"/>
                </a:cubicBezTo>
                <a:lnTo>
                  <a:pt x="79375" y="9922"/>
                </a:lnTo>
                <a:cubicBezTo>
                  <a:pt x="83902" y="3907"/>
                  <a:pt x="91095" y="0"/>
                  <a:pt x="99219" y="0"/>
                </a:cubicBezTo>
                <a:cubicBezTo>
                  <a:pt x="107342" y="0"/>
                  <a:pt x="114536" y="3907"/>
                  <a:pt x="119062" y="9922"/>
                </a:cubicBezTo>
                <a:close/>
                <a:moveTo>
                  <a:pt x="136302" y="99219"/>
                </a:moveTo>
                <a:lnTo>
                  <a:pt x="181198" y="99219"/>
                </a:lnTo>
                <a:lnTo>
                  <a:pt x="158750" y="60709"/>
                </a:lnTo>
                <a:lnTo>
                  <a:pt x="136302" y="99219"/>
                </a:lnTo>
                <a:close/>
                <a:moveTo>
                  <a:pt x="158750" y="128984"/>
                </a:moveTo>
                <a:cubicBezTo>
                  <a:pt x="139247" y="128984"/>
                  <a:pt x="123031" y="118442"/>
                  <a:pt x="119683" y="104521"/>
                </a:cubicBezTo>
                <a:cubicBezTo>
                  <a:pt x="118876" y="101110"/>
                  <a:pt x="119993" y="97606"/>
                  <a:pt x="121760" y="94568"/>
                </a:cubicBezTo>
                <a:lnTo>
                  <a:pt x="151278" y="43966"/>
                </a:lnTo>
                <a:cubicBezTo>
                  <a:pt x="152828" y="41300"/>
                  <a:pt x="155680" y="39688"/>
                  <a:pt x="158750" y="39688"/>
                </a:cubicBezTo>
                <a:cubicBezTo>
                  <a:pt x="161820" y="39688"/>
                  <a:pt x="164672" y="41331"/>
                  <a:pt x="166222" y="43966"/>
                </a:cubicBezTo>
                <a:lnTo>
                  <a:pt x="195740" y="94568"/>
                </a:lnTo>
                <a:cubicBezTo>
                  <a:pt x="197507" y="97606"/>
                  <a:pt x="198624" y="101110"/>
                  <a:pt x="197817" y="104521"/>
                </a:cubicBezTo>
                <a:cubicBezTo>
                  <a:pt x="194469" y="118411"/>
                  <a:pt x="178253" y="128984"/>
                  <a:pt x="158750" y="128984"/>
                </a:cubicBezTo>
                <a:close/>
                <a:moveTo>
                  <a:pt x="39315" y="60709"/>
                </a:moveTo>
                <a:lnTo>
                  <a:pt x="16867" y="99219"/>
                </a:lnTo>
                <a:lnTo>
                  <a:pt x="61795" y="99219"/>
                </a:lnTo>
                <a:lnTo>
                  <a:pt x="39315" y="60709"/>
                </a:lnTo>
                <a:close/>
                <a:moveTo>
                  <a:pt x="279" y="104521"/>
                </a:moveTo>
                <a:cubicBezTo>
                  <a:pt x="-527" y="101110"/>
                  <a:pt x="589" y="97606"/>
                  <a:pt x="2356" y="94568"/>
                </a:cubicBezTo>
                <a:lnTo>
                  <a:pt x="31874" y="43966"/>
                </a:lnTo>
                <a:cubicBezTo>
                  <a:pt x="33424" y="41300"/>
                  <a:pt x="36277" y="39688"/>
                  <a:pt x="39346" y="39688"/>
                </a:cubicBezTo>
                <a:cubicBezTo>
                  <a:pt x="42416" y="39688"/>
                  <a:pt x="45269" y="41331"/>
                  <a:pt x="46819" y="43966"/>
                </a:cubicBezTo>
                <a:lnTo>
                  <a:pt x="76336" y="94568"/>
                </a:lnTo>
                <a:cubicBezTo>
                  <a:pt x="78104" y="97606"/>
                  <a:pt x="79220" y="101110"/>
                  <a:pt x="78414" y="104521"/>
                </a:cubicBezTo>
                <a:cubicBezTo>
                  <a:pt x="75065" y="118411"/>
                  <a:pt x="58849" y="128984"/>
                  <a:pt x="39346" y="128984"/>
                </a:cubicBezTo>
                <a:cubicBezTo>
                  <a:pt x="19844" y="128984"/>
                  <a:pt x="3628" y="118442"/>
                  <a:pt x="279" y="104521"/>
                </a:cubicBezTo>
                <a:close/>
              </a:path>
            </a:pathLst>
          </a:custGeom>
          <a:solidFill>
            <a:srgbClr val="2A4D53"/>
          </a:solidFill>
          <a:ln/>
        </p:spPr>
      </p:sp>
      <p:sp>
        <p:nvSpPr>
          <p:cNvPr id="53" name="Text 51"/>
          <p:cNvSpPr/>
          <p:nvPr/>
        </p:nvSpPr>
        <p:spPr>
          <a:xfrm>
            <a:off x="6659562" y="4475466"/>
            <a:ext cx="3145619" cy="158750"/>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High Population + Low Service</a:t>
            </a:r>
            <a:endParaRPr lang="en-US" sz="1500" b="1" dirty="0"/>
          </a:p>
        </p:txBody>
      </p:sp>
      <p:sp>
        <p:nvSpPr>
          <p:cNvPr id="54" name="Text 52"/>
          <p:cNvSpPr/>
          <p:nvPr/>
        </p:nvSpPr>
        <p:spPr>
          <a:xfrm>
            <a:off x="6659562" y="4697716"/>
            <a:ext cx="2484437" cy="158750"/>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Demand-supply mismatches</a:t>
            </a:r>
            <a:endParaRPr lang="en-US" sz="1300" b="1" dirty="0"/>
          </a:p>
        </p:txBody>
      </p:sp>
      <p:sp>
        <p:nvSpPr>
          <p:cNvPr id="55" name="Shape 53"/>
          <p:cNvSpPr/>
          <p:nvPr/>
        </p:nvSpPr>
        <p:spPr>
          <a:xfrm>
            <a:off x="6353593" y="5013211"/>
            <a:ext cx="158750" cy="158750"/>
          </a:xfrm>
          <a:custGeom>
            <a:avLst/>
            <a:gdLst/>
            <a:ahLst/>
            <a:cxnLst/>
            <a:rect l="l" t="t" r="r" b="b"/>
            <a:pathLst>
              <a:path w="158750" h="158750">
                <a:moveTo>
                  <a:pt x="79375" y="0"/>
                </a:moveTo>
                <a:cubicBezTo>
                  <a:pt x="83933" y="0"/>
                  <a:pt x="88119" y="2511"/>
                  <a:pt x="90289" y="6511"/>
                </a:cubicBezTo>
                <a:lnTo>
                  <a:pt x="157262" y="130535"/>
                </a:lnTo>
                <a:cubicBezTo>
                  <a:pt x="159339" y="134379"/>
                  <a:pt x="159246" y="139030"/>
                  <a:pt x="157014" y="142782"/>
                </a:cubicBezTo>
                <a:cubicBezTo>
                  <a:pt x="154781" y="146534"/>
                  <a:pt x="150719" y="148828"/>
                  <a:pt x="146348" y="148828"/>
                </a:cubicBezTo>
                <a:lnTo>
                  <a:pt x="12402" y="148828"/>
                </a:lnTo>
                <a:cubicBezTo>
                  <a:pt x="8031" y="148828"/>
                  <a:pt x="4000" y="146534"/>
                  <a:pt x="1736" y="142782"/>
                </a:cubicBezTo>
                <a:cubicBezTo>
                  <a:pt x="-527" y="139030"/>
                  <a:pt x="-589" y="134379"/>
                  <a:pt x="1488" y="130535"/>
                </a:cubicBezTo>
                <a:lnTo>
                  <a:pt x="68461" y="6511"/>
                </a:lnTo>
                <a:cubicBezTo>
                  <a:pt x="70631" y="2511"/>
                  <a:pt x="74817" y="0"/>
                  <a:pt x="79375" y="0"/>
                </a:cubicBezTo>
                <a:close/>
                <a:moveTo>
                  <a:pt x="79375" y="52090"/>
                </a:moveTo>
                <a:cubicBezTo>
                  <a:pt x="75251" y="52090"/>
                  <a:pt x="71934" y="55407"/>
                  <a:pt x="71934" y="59531"/>
                </a:cubicBezTo>
                <a:lnTo>
                  <a:pt x="71934" y="94258"/>
                </a:lnTo>
                <a:cubicBezTo>
                  <a:pt x="71934" y="98382"/>
                  <a:pt x="75251" y="101699"/>
                  <a:pt x="79375" y="101699"/>
                </a:cubicBezTo>
                <a:cubicBezTo>
                  <a:pt x="83499" y="101699"/>
                  <a:pt x="86816" y="98382"/>
                  <a:pt x="86816" y="94258"/>
                </a:cubicBezTo>
                <a:lnTo>
                  <a:pt x="86816" y="59531"/>
                </a:lnTo>
                <a:cubicBezTo>
                  <a:pt x="86816" y="55407"/>
                  <a:pt x="83499" y="52090"/>
                  <a:pt x="79375" y="52090"/>
                </a:cubicBezTo>
                <a:close/>
                <a:moveTo>
                  <a:pt x="87654" y="119062"/>
                </a:moveTo>
                <a:cubicBezTo>
                  <a:pt x="87842" y="115990"/>
                  <a:pt x="86309" y="113066"/>
                  <a:pt x="83675" y="111473"/>
                </a:cubicBezTo>
                <a:cubicBezTo>
                  <a:pt x="81041" y="109879"/>
                  <a:pt x="77740" y="109879"/>
                  <a:pt x="75106" y="111473"/>
                </a:cubicBezTo>
                <a:cubicBezTo>
                  <a:pt x="72472" y="113066"/>
                  <a:pt x="70939" y="115990"/>
                  <a:pt x="71127" y="119062"/>
                </a:cubicBezTo>
                <a:cubicBezTo>
                  <a:pt x="70939" y="122135"/>
                  <a:pt x="72472" y="125059"/>
                  <a:pt x="75106" y="126652"/>
                </a:cubicBezTo>
                <a:cubicBezTo>
                  <a:pt x="77740" y="128246"/>
                  <a:pt x="81041" y="128246"/>
                  <a:pt x="83675" y="126652"/>
                </a:cubicBezTo>
                <a:cubicBezTo>
                  <a:pt x="86309" y="125059"/>
                  <a:pt x="87842" y="122135"/>
                  <a:pt x="87654" y="119062"/>
                </a:cubicBezTo>
                <a:close/>
              </a:path>
            </a:pathLst>
          </a:custGeom>
          <a:solidFill>
            <a:srgbClr val="2A4D53"/>
          </a:solidFill>
          <a:ln/>
        </p:spPr>
      </p:sp>
      <p:sp>
        <p:nvSpPr>
          <p:cNvPr id="56" name="Text 54"/>
          <p:cNvSpPr/>
          <p:nvPr/>
        </p:nvSpPr>
        <p:spPr>
          <a:xfrm>
            <a:off x="6659563" y="4983466"/>
            <a:ext cx="2611044" cy="254000"/>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High Risk + Low Readiness</a:t>
            </a:r>
            <a:endParaRPr lang="en-US" sz="1500" dirty="0"/>
          </a:p>
        </p:txBody>
      </p:sp>
      <p:sp>
        <p:nvSpPr>
          <p:cNvPr id="57" name="Text 55"/>
          <p:cNvSpPr/>
          <p:nvPr/>
        </p:nvSpPr>
        <p:spPr>
          <a:xfrm>
            <a:off x="6659563" y="5205716"/>
            <a:ext cx="3398836" cy="285750"/>
          </a:xfrm>
          <a:prstGeom prst="rect">
            <a:avLst/>
          </a:prstGeom>
          <a:noFill/>
          <a:ln/>
        </p:spPr>
        <p:txBody>
          <a:bodyPr wrap="square" lIns="0" tIns="0" rIns="0" bIns="0" rtlCol="0" anchor="ctr"/>
          <a:lstStyle/>
          <a:p>
            <a:pPr>
              <a:lnSpc>
                <a:spcPct val="130000"/>
              </a:lnSpc>
            </a:pPr>
            <a:r>
              <a:rPr lang="en-US" sz="1300" b="1" dirty="0">
                <a:solidFill>
                  <a:srgbClr val="A9A299"/>
                </a:solidFill>
                <a:latin typeface="Quattrocento Sans" pitchFamily="34" charset="0"/>
                <a:ea typeface="Quattrocento Sans" pitchFamily="34" charset="-122"/>
                <a:cs typeface="Quattrocento Sans" pitchFamily="34" charset="-120"/>
              </a:rPr>
              <a:t>Critical intervention zones</a:t>
            </a:r>
            <a:endParaRPr lang="en-US" sz="1300" b="1" dirty="0"/>
          </a:p>
        </p:txBody>
      </p:sp>
      <p:sp>
        <p:nvSpPr>
          <p:cNvPr id="58" name="Shape 56"/>
          <p:cNvSpPr/>
          <p:nvPr/>
        </p:nvSpPr>
        <p:spPr>
          <a:xfrm>
            <a:off x="238125" y="6137216"/>
            <a:ext cx="11557000" cy="656271"/>
          </a:xfrm>
          <a:custGeom>
            <a:avLst/>
            <a:gdLst/>
            <a:ahLst/>
            <a:cxnLst/>
            <a:rect l="l" t="t" r="r" b="b"/>
            <a:pathLst>
              <a:path w="11557000" h="595313">
                <a:moveTo>
                  <a:pt x="0" y="0"/>
                </a:moveTo>
                <a:lnTo>
                  <a:pt x="11557000" y="0"/>
                </a:lnTo>
                <a:lnTo>
                  <a:pt x="11557000" y="595313"/>
                </a:lnTo>
                <a:lnTo>
                  <a:pt x="0" y="595313"/>
                </a:lnTo>
                <a:lnTo>
                  <a:pt x="0" y="0"/>
                </a:lnTo>
                <a:close/>
              </a:path>
            </a:pathLst>
          </a:custGeom>
          <a:solidFill>
            <a:srgbClr val="2A4D53"/>
          </a:solidFill>
          <a:ln/>
        </p:spPr>
        <p:txBody>
          <a:bodyPr/>
          <a:lstStyle/>
          <a:p>
            <a:endParaRPr lang="en-US" dirty="0"/>
          </a:p>
        </p:txBody>
      </p:sp>
      <p:sp>
        <p:nvSpPr>
          <p:cNvPr id="59" name="Shape 57"/>
          <p:cNvSpPr/>
          <p:nvPr/>
        </p:nvSpPr>
        <p:spPr>
          <a:xfrm>
            <a:off x="428625" y="6475284"/>
            <a:ext cx="267891" cy="238125"/>
          </a:xfrm>
          <a:custGeom>
            <a:avLst/>
            <a:gdLst/>
            <a:ahLst/>
            <a:cxnLst/>
            <a:rect l="l" t="t" r="r" b="b"/>
            <a:pathLst>
              <a:path w="267891" h="238125">
                <a:moveTo>
                  <a:pt x="195104" y="44648"/>
                </a:moveTo>
                <a:cubicBezTo>
                  <a:pt x="187384" y="44648"/>
                  <a:pt x="179896" y="46741"/>
                  <a:pt x="173338" y="50555"/>
                </a:cubicBezTo>
                <a:cubicBezTo>
                  <a:pt x="165990" y="43114"/>
                  <a:pt x="157432" y="36881"/>
                  <a:pt x="147991" y="32184"/>
                </a:cubicBezTo>
                <a:cubicBezTo>
                  <a:pt x="161106" y="21022"/>
                  <a:pt x="177803" y="14883"/>
                  <a:pt x="195104" y="14883"/>
                </a:cubicBezTo>
                <a:cubicBezTo>
                  <a:pt x="235288" y="14883"/>
                  <a:pt x="267891" y="47439"/>
                  <a:pt x="267891" y="87669"/>
                </a:cubicBezTo>
                <a:cubicBezTo>
                  <a:pt x="267891" y="106970"/>
                  <a:pt x="260217" y="125481"/>
                  <a:pt x="246590" y="139108"/>
                </a:cubicBezTo>
                <a:lnTo>
                  <a:pt x="213522" y="172176"/>
                </a:lnTo>
                <a:cubicBezTo>
                  <a:pt x="199895" y="185803"/>
                  <a:pt x="181384" y="193477"/>
                  <a:pt x="162083" y="193477"/>
                </a:cubicBezTo>
                <a:cubicBezTo>
                  <a:pt x="121900" y="193477"/>
                  <a:pt x="89297" y="160920"/>
                  <a:pt x="89297" y="120690"/>
                </a:cubicBezTo>
                <a:cubicBezTo>
                  <a:pt x="89297" y="119993"/>
                  <a:pt x="89297" y="119295"/>
                  <a:pt x="89343" y="118597"/>
                </a:cubicBezTo>
                <a:cubicBezTo>
                  <a:pt x="89576" y="110365"/>
                  <a:pt x="96413" y="103901"/>
                  <a:pt x="104645" y="104133"/>
                </a:cubicBezTo>
                <a:cubicBezTo>
                  <a:pt x="112877" y="104366"/>
                  <a:pt x="119342" y="111203"/>
                  <a:pt x="119109" y="119435"/>
                </a:cubicBezTo>
                <a:cubicBezTo>
                  <a:pt x="119109" y="119853"/>
                  <a:pt x="119109" y="120272"/>
                  <a:pt x="119109" y="120644"/>
                </a:cubicBezTo>
                <a:cubicBezTo>
                  <a:pt x="119109" y="144410"/>
                  <a:pt x="138364" y="163664"/>
                  <a:pt x="162130" y="163664"/>
                </a:cubicBezTo>
                <a:cubicBezTo>
                  <a:pt x="173524" y="163664"/>
                  <a:pt x="184454" y="159153"/>
                  <a:pt x="192546" y="151061"/>
                </a:cubicBezTo>
                <a:lnTo>
                  <a:pt x="225614" y="117993"/>
                </a:lnTo>
                <a:cubicBezTo>
                  <a:pt x="233660" y="109947"/>
                  <a:pt x="238218" y="98971"/>
                  <a:pt x="238218" y="87576"/>
                </a:cubicBezTo>
                <a:cubicBezTo>
                  <a:pt x="238218" y="63810"/>
                  <a:pt x="218963" y="44555"/>
                  <a:pt x="195197" y="44555"/>
                </a:cubicBezTo>
                <a:close/>
                <a:moveTo>
                  <a:pt x="127992" y="80600"/>
                </a:moveTo>
                <a:cubicBezTo>
                  <a:pt x="127109" y="80228"/>
                  <a:pt x="126225" y="79716"/>
                  <a:pt x="125434" y="79158"/>
                </a:cubicBezTo>
                <a:cubicBezTo>
                  <a:pt x="119574" y="76135"/>
                  <a:pt x="112877" y="74414"/>
                  <a:pt x="105854" y="74414"/>
                </a:cubicBezTo>
                <a:cubicBezTo>
                  <a:pt x="94459" y="74414"/>
                  <a:pt x="83530" y="78925"/>
                  <a:pt x="75437" y="87018"/>
                </a:cubicBezTo>
                <a:lnTo>
                  <a:pt x="42370" y="120086"/>
                </a:lnTo>
                <a:cubicBezTo>
                  <a:pt x="34323" y="128132"/>
                  <a:pt x="29766" y="139108"/>
                  <a:pt x="29766" y="150502"/>
                </a:cubicBezTo>
                <a:cubicBezTo>
                  <a:pt x="29766" y="174268"/>
                  <a:pt x="49020" y="193523"/>
                  <a:pt x="72786" y="193523"/>
                </a:cubicBezTo>
                <a:cubicBezTo>
                  <a:pt x="80460" y="193523"/>
                  <a:pt x="87948" y="191477"/>
                  <a:pt x="94506" y="187663"/>
                </a:cubicBezTo>
                <a:cubicBezTo>
                  <a:pt x="101854" y="195104"/>
                  <a:pt x="110412" y="201337"/>
                  <a:pt x="119900" y="206034"/>
                </a:cubicBezTo>
                <a:cubicBezTo>
                  <a:pt x="106784" y="217150"/>
                  <a:pt x="90134" y="223335"/>
                  <a:pt x="72786" y="223335"/>
                </a:cubicBezTo>
                <a:cubicBezTo>
                  <a:pt x="32603" y="223335"/>
                  <a:pt x="0" y="190779"/>
                  <a:pt x="0" y="150549"/>
                </a:cubicBezTo>
                <a:cubicBezTo>
                  <a:pt x="0" y="131248"/>
                  <a:pt x="7674" y="112737"/>
                  <a:pt x="21301" y="99110"/>
                </a:cubicBezTo>
                <a:lnTo>
                  <a:pt x="54369" y="66042"/>
                </a:lnTo>
                <a:cubicBezTo>
                  <a:pt x="67996" y="52415"/>
                  <a:pt x="86506" y="44741"/>
                  <a:pt x="105807" y="44741"/>
                </a:cubicBezTo>
                <a:cubicBezTo>
                  <a:pt x="146084" y="44741"/>
                  <a:pt x="178594" y="77577"/>
                  <a:pt x="178594" y="117714"/>
                </a:cubicBezTo>
                <a:cubicBezTo>
                  <a:pt x="178594" y="118318"/>
                  <a:pt x="178594" y="118923"/>
                  <a:pt x="178594" y="119528"/>
                </a:cubicBezTo>
                <a:cubicBezTo>
                  <a:pt x="178408" y="127760"/>
                  <a:pt x="171571" y="134224"/>
                  <a:pt x="163339" y="134038"/>
                </a:cubicBezTo>
                <a:cubicBezTo>
                  <a:pt x="155107" y="133852"/>
                  <a:pt x="148642" y="127016"/>
                  <a:pt x="148828" y="118783"/>
                </a:cubicBezTo>
                <a:cubicBezTo>
                  <a:pt x="148828" y="118411"/>
                  <a:pt x="148828" y="118086"/>
                  <a:pt x="148828" y="117714"/>
                </a:cubicBezTo>
                <a:cubicBezTo>
                  <a:pt x="148828" y="102040"/>
                  <a:pt x="140457" y="88274"/>
                  <a:pt x="127992" y="80693"/>
                </a:cubicBezTo>
                <a:close/>
              </a:path>
            </a:pathLst>
          </a:custGeom>
          <a:solidFill>
            <a:srgbClr val="C87E62"/>
          </a:solidFill>
          <a:ln/>
        </p:spPr>
      </p:sp>
      <p:sp>
        <p:nvSpPr>
          <p:cNvPr id="60" name="Text 58"/>
          <p:cNvSpPr/>
          <p:nvPr/>
        </p:nvSpPr>
        <p:spPr>
          <a:xfrm>
            <a:off x="873125" y="6245799"/>
            <a:ext cx="10922000" cy="415086"/>
          </a:xfrm>
          <a:prstGeom prst="rect">
            <a:avLst/>
          </a:prstGeom>
          <a:noFill/>
          <a:ln/>
        </p:spPr>
        <p:txBody>
          <a:bodyPr wrap="square" lIns="0" tIns="0" rIns="0" bIns="0" rtlCol="0" anchor="ctr"/>
          <a:lstStyle/>
          <a:p>
            <a:pPr>
              <a:lnSpc>
                <a:spcPct val="140000"/>
              </a:lnSpc>
            </a:pPr>
            <a:r>
              <a:rPr lang="en-US" b="1" dirty="0">
                <a:solidFill>
                  <a:schemeClr val="accent2">
                    <a:lumMod val="40000"/>
                    <a:lumOff val="60000"/>
                  </a:schemeClr>
                </a:solidFill>
                <a:latin typeface="Segoe UI Semibold" panose="020B0702040204020203" pitchFamily="34" charset="0"/>
                <a:ea typeface="Liter" pitchFamily="34" charset="-122"/>
                <a:cs typeface="Segoe UI Semibold" panose="020B0702040204020203" pitchFamily="34" charset="0"/>
              </a:rPr>
              <a:t>Connecting The Dots:</a:t>
            </a:r>
            <a:r>
              <a:rPr lang="en-US" dirty="0">
                <a:solidFill>
                  <a:schemeClr val="accent2">
                    <a:lumMod val="40000"/>
                    <a:lumOff val="60000"/>
                  </a:schemeClr>
                </a:solidFill>
                <a:latin typeface="Segoe UI Semibold" panose="020B0702040204020203" pitchFamily="34" charset="0"/>
                <a:ea typeface="Sorts Mill Goudy" pitchFamily="34" charset="-122"/>
                <a:cs typeface="Segoe UI Semibold" panose="020B0702040204020203" pitchFamily="34" charset="0"/>
              </a:rPr>
              <a:t> People → Access → Facility Readiness → </a:t>
            </a:r>
            <a:r>
              <a:rPr lang="en-US">
                <a:solidFill>
                  <a:schemeClr val="accent2">
                    <a:lumMod val="40000"/>
                    <a:lumOff val="60000"/>
                  </a:schemeClr>
                </a:solidFill>
                <a:latin typeface="Segoe UI Semibold" panose="020B0702040204020203" pitchFamily="34" charset="0"/>
                <a:ea typeface="Sorts Mill Goudy" pitchFamily="34" charset="-122"/>
                <a:cs typeface="Segoe UI Semibold" panose="020B0702040204020203" pitchFamily="34" charset="0"/>
              </a:rPr>
              <a:t>Risk.</a:t>
            </a:r>
            <a:r>
              <a:rPr lang="en-US" dirty="0">
                <a:solidFill>
                  <a:schemeClr val="accent2">
                    <a:lumMod val="40000"/>
                    <a:lumOff val="60000"/>
                  </a:schemeClr>
                </a:solidFill>
                <a:latin typeface="Segoe UI Semibold" panose="020B0702040204020203" pitchFamily="34" charset="0"/>
                <a:ea typeface="Sorts Mill Goudy" pitchFamily="34" charset="-122"/>
                <a:cs typeface="Segoe UI Semibold" panose="020B0702040204020203" pitchFamily="34" charset="0"/>
              </a:rPr>
              <a:t> </a:t>
            </a:r>
            <a:r>
              <a:rPr lang="en-US">
                <a:solidFill>
                  <a:schemeClr val="accent2">
                    <a:lumMod val="40000"/>
                    <a:lumOff val="60000"/>
                  </a:schemeClr>
                </a:solidFill>
                <a:latin typeface="Segoe UI Semibold" panose="020B0702040204020203" pitchFamily="34" charset="0"/>
                <a:cs typeface="Segoe UI Semibold" panose="020B0702040204020203" pitchFamily="34" charset="0"/>
              </a:rPr>
              <a:t>And </a:t>
            </a:r>
            <a:r>
              <a:rPr lang="en-US" dirty="0">
                <a:solidFill>
                  <a:schemeClr val="accent2">
                    <a:lumMod val="40000"/>
                    <a:lumOff val="60000"/>
                  </a:schemeClr>
                </a:solidFill>
                <a:latin typeface="Segoe UI Semibold" panose="020B0702040204020203" pitchFamily="34" charset="0"/>
                <a:cs typeface="Segoe UI Semibold" panose="020B0702040204020203" pitchFamily="34" charset="0"/>
              </a:rPr>
              <a:t>Together They Tell One Clear Story About Where Kaduna State Should Focus Health Interventions.</a:t>
            </a:r>
          </a:p>
        </p:txBody>
      </p:sp>
    </p:spTree>
    <p:extLst>
      <p:ext uri="{BB962C8B-B14F-4D97-AF65-F5344CB8AC3E}">
        <p14:creationId xmlns:p14="http://schemas.microsoft.com/office/powerpoint/2010/main" val="7727115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7500" y="571500"/>
            <a:ext cx="508000" cy="31750"/>
          </a:xfrm>
          <a:custGeom>
            <a:avLst/>
            <a:gdLst/>
            <a:ahLst/>
            <a:cxnLst/>
            <a:rect l="l" t="t" r="r" b="b"/>
            <a:pathLst>
              <a:path w="508000" h="31750">
                <a:moveTo>
                  <a:pt x="0" y="0"/>
                </a:moveTo>
                <a:lnTo>
                  <a:pt x="508000" y="0"/>
                </a:lnTo>
                <a:lnTo>
                  <a:pt x="508000" y="31750"/>
                </a:lnTo>
                <a:lnTo>
                  <a:pt x="0" y="31750"/>
                </a:lnTo>
                <a:lnTo>
                  <a:pt x="0" y="0"/>
                </a:lnTo>
                <a:close/>
              </a:path>
            </a:pathLst>
          </a:custGeom>
          <a:solidFill>
            <a:srgbClr val="C87E62"/>
          </a:solidFill>
          <a:ln/>
        </p:spPr>
      </p:sp>
      <p:sp>
        <p:nvSpPr>
          <p:cNvPr id="3" name="Text 1"/>
          <p:cNvSpPr/>
          <p:nvPr/>
        </p:nvSpPr>
        <p:spPr>
          <a:xfrm>
            <a:off x="1011163" y="134937"/>
            <a:ext cx="7897813" cy="190500"/>
          </a:xfrm>
          <a:prstGeom prst="rect">
            <a:avLst/>
          </a:prstGeom>
          <a:noFill/>
          <a:ln/>
        </p:spPr>
        <p:txBody>
          <a:bodyPr wrap="square" lIns="0" tIns="0" rIns="0" bIns="0" rtlCol="0" anchor="ctr"/>
          <a:lstStyle/>
          <a:p>
            <a:pPr>
              <a:lnSpc>
                <a:spcPct val="130000"/>
              </a:lnSpc>
            </a:pPr>
            <a:r>
              <a:rPr lang="en-US" sz="2000" b="1" kern="0" spc="100" dirty="0">
                <a:solidFill>
                  <a:srgbClr val="A9A299"/>
                </a:solidFill>
                <a:latin typeface="Liter" pitchFamily="34" charset="0"/>
                <a:ea typeface="Liter" pitchFamily="34" charset="-122"/>
                <a:cs typeface="Liter" pitchFamily="34" charset="-120"/>
              </a:rPr>
              <a:t>Question 1</a:t>
            </a:r>
            <a:endParaRPr lang="en-US" sz="2000" b="1" dirty="0"/>
          </a:p>
        </p:txBody>
      </p:sp>
      <p:sp>
        <p:nvSpPr>
          <p:cNvPr id="4" name="Text 2"/>
          <p:cNvSpPr/>
          <p:nvPr/>
        </p:nvSpPr>
        <p:spPr>
          <a:xfrm>
            <a:off x="952500" y="539750"/>
            <a:ext cx="9091832" cy="301625"/>
          </a:xfrm>
          <a:prstGeom prst="rect">
            <a:avLst/>
          </a:prstGeom>
          <a:noFill/>
          <a:ln/>
        </p:spPr>
        <p:txBody>
          <a:bodyPr wrap="square" lIns="0" tIns="0" rIns="0" bIns="0" rtlCol="0" anchor="ctr"/>
          <a:lstStyle/>
          <a:p>
            <a:pPr>
              <a:lnSpc>
                <a:spcPct val="90000"/>
              </a:lnSpc>
            </a:pPr>
            <a:r>
              <a:rPr lang="en-US" sz="2250" b="1" dirty="0">
                <a:solidFill>
                  <a:srgbClr val="2A4D53"/>
                </a:solidFill>
                <a:latin typeface="Liter" pitchFamily="34" charset="0"/>
                <a:ea typeface="Liter" pitchFamily="34" charset="-122"/>
                <a:cs typeface="Liter" pitchFamily="34" charset="-120"/>
              </a:rPr>
              <a:t>Which LGAs Have the Highest Population but Poorest Access?</a:t>
            </a:r>
            <a:endParaRPr lang="en-US" sz="1600" dirty="0"/>
          </a:p>
        </p:txBody>
      </p:sp>
      <p:sp>
        <p:nvSpPr>
          <p:cNvPr id="5" name="Shape 3"/>
          <p:cNvSpPr/>
          <p:nvPr/>
        </p:nvSpPr>
        <p:spPr>
          <a:xfrm>
            <a:off x="317500" y="1047750"/>
            <a:ext cx="4945063" cy="1230313"/>
          </a:xfrm>
          <a:custGeom>
            <a:avLst/>
            <a:gdLst/>
            <a:ahLst/>
            <a:cxnLst/>
            <a:rect l="l" t="t" r="r" b="b"/>
            <a:pathLst>
              <a:path w="4945063" h="1230313">
                <a:moveTo>
                  <a:pt x="0" y="0"/>
                </a:moveTo>
                <a:lnTo>
                  <a:pt x="4945063" y="0"/>
                </a:lnTo>
                <a:lnTo>
                  <a:pt x="4945063" y="1230313"/>
                </a:lnTo>
                <a:lnTo>
                  <a:pt x="0" y="1230313"/>
                </a:lnTo>
                <a:lnTo>
                  <a:pt x="0" y="0"/>
                </a:lnTo>
                <a:close/>
              </a:path>
            </a:pathLst>
          </a:custGeom>
          <a:solidFill>
            <a:srgbClr val="2A4D53"/>
          </a:solidFill>
          <a:ln/>
        </p:spPr>
      </p:sp>
      <p:sp>
        <p:nvSpPr>
          <p:cNvPr id="6" name="Shape 4"/>
          <p:cNvSpPr/>
          <p:nvPr/>
        </p:nvSpPr>
        <p:spPr>
          <a:xfrm>
            <a:off x="569516" y="1246188"/>
            <a:ext cx="178594" cy="238125"/>
          </a:xfrm>
          <a:custGeom>
            <a:avLst/>
            <a:gdLst/>
            <a:ahLst/>
            <a:cxnLst/>
            <a:rect l="l" t="t" r="r" b="b"/>
            <a:pathLst>
              <a:path w="178594" h="238125">
                <a:moveTo>
                  <a:pt x="136224" y="178594"/>
                </a:moveTo>
                <a:cubicBezTo>
                  <a:pt x="139619" y="168222"/>
                  <a:pt x="146410" y="158828"/>
                  <a:pt x="154084" y="150735"/>
                </a:cubicBezTo>
                <a:cubicBezTo>
                  <a:pt x="169292" y="134736"/>
                  <a:pt x="178594" y="113109"/>
                  <a:pt x="178594" y="89297"/>
                </a:cubicBezTo>
                <a:cubicBezTo>
                  <a:pt x="178594" y="39998"/>
                  <a:pt x="138596" y="0"/>
                  <a:pt x="89297" y="0"/>
                </a:cubicBezTo>
                <a:cubicBezTo>
                  <a:pt x="39998" y="0"/>
                  <a:pt x="0" y="39998"/>
                  <a:pt x="0" y="89297"/>
                </a:cubicBezTo>
                <a:cubicBezTo>
                  <a:pt x="0" y="113109"/>
                  <a:pt x="9302" y="134736"/>
                  <a:pt x="24510" y="150735"/>
                </a:cubicBezTo>
                <a:cubicBezTo>
                  <a:pt x="32184" y="158828"/>
                  <a:pt x="39021" y="168222"/>
                  <a:pt x="42370" y="178594"/>
                </a:cubicBezTo>
                <a:lnTo>
                  <a:pt x="136178" y="178594"/>
                </a:lnTo>
                <a:close/>
                <a:moveTo>
                  <a:pt x="133945" y="200918"/>
                </a:moveTo>
                <a:lnTo>
                  <a:pt x="44648" y="200918"/>
                </a:lnTo>
                <a:lnTo>
                  <a:pt x="44648" y="208359"/>
                </a:lnTo>
                <a:cubicBezTo>
                  <a:pt x="44648" y="228916"/>
                  <a:pt x="61299" y="245566"/>
                  <a:pt x="81855" y="245566"/>
                </a:cubicBezTo>
                <a:lnTo>
                  <a:pt x="96738" y="245566"/>
                </a:lnTo>
                <a:cubicBezTo>
                  <a:pt x="117295" y="245566"/>
                  <a:pt x="133945" y="228916"/>
                  <a:pt x="133945" y="208359"/>
                </a:cubicBezTo>
                <a:lnTo>
                  <a:pt x="133945" y="200918"/>
                </a:lnTo>
                <a:close/>
                <a:moveTo>
                  <a:pt x="85576" y="52090"/>
                </a:moveTo>
                <a:cubicBezTo>
                  <a:pt x="67066" y="52090"/>
                  <a:pt x="52090" y="67066"/>
                  <a:pt x="52090" y="85576"/>
                </a:cubicBezTo>
                <a:cubicBezTo>
                  <a:pt x="52090" y="91762"/>
                  <a:pt x="47113" y="96738"/>
                  <a:pt x="40928" y="96738"/>
                </a:cubicBezTo>
                <a:cubicBezTo>
                  <a:pt x="34742" y="96738"/>
                  <a:pt x="29766" y="91762"/>
                  <a:pt x="29766" y="85576"/>
                </a:cubicBezTo>
                <a:cubicBezTo>
                  <a:pt x="29766" y="54741"/>
                  <a:pt x="54741" y="29766"/>
                  <a:pt x="85576" y="29766"/>
                </a:cubicBezTo>
                <a:cubicBezTo>
                  <a:pt x="91762" y="29766"/>
                  <a:pt x="96738" y="34742"/>
                  <a:pt x="96738" y="40928"/>
                </a:cubicBezTo>
                <a:cubicBezTo>
                  <a:pt x="96738" y="47113"/>
                  <a:pt x="91762" y="52090"/>
                  <a:pt x="85576" y="52090"/>
                </a:cubicBezTo>
                <a:close/>
              </a:path>
            </a:pathLst>
          </a:custGeom>
          <a:solidFill>
            <a:srgbClr val="C87E62"/>
          </a:solidFill>
          <a:ln/>
        </p:spPr>
      </p:sp>
      <p:sp>
        <p:nvSpPr>
          <p:cNvPr id="7" name="Text 5"/>
          <p:cNvSpPr/>
          <p:nvPr/>
        </p:nvSpPr>
        <p:spPr>
          <a:xfrm>
            <a:off x="900906" y="1238250"/>
            <a:ext cx="2109580" cy="174625"/>
          </a:xfrm>
          <a:prstGeom prst="rect">
            <a:avLst/>
          </a:prstGeom>
          <a:noFill/>
          <a:ln/>
        </p:spPr>
        <p:txBody>
          <a:bodyPr wrap="square" lIns="0" tIns="0" rIns="0" bIns="0" rtlCol="0" anchor="ctr"/>
          <a:lstStyle/>
          <a:p>
            <a:pPr>
              <a:lnSpc>
                <a:spcPct val="110000"/>
              </a:lnSpc>
            </a:pPr>
            <a:r>
              <a:rPr lang="en-US" b="1" dirty="0">
                <a:solidFill>
                  <a:srgbClr val="F8F7F5"/>
                </a:solidFill>
                <a:latin typeface="Liter" pitchFamily="34" charset="0"/>
                <a:ea typeface="Liter" pitchFamily="34" charset="-122"/>
                <a:cs typeface="Liter" pitchFamily="34" charset="-120"/>
              </a:rPr>
              <a:t>The Challenge</a:t>
            </a:r>
            <a:endParaRPr lang="en-US" dirty="0"/>
          </a:p>
        </p:txBody>
      </p:sp>
      <p:sp>
        <p:nvSpPr>
          <p:cNvPr id="8" name="Text 6"/>
          <p:cNvSpPr/>
          <p:nvPr/>
        </p:nvSpPr>
        <p:spPr>
          <a:xfrm>
            <a:off x="504899" y="1706221"/>
            <a:ext cx="4635500" cy="468313"/>
          </a:xfrm>
          <a:prstGeom prst="rect">
            <a:avLst/>
          </a:prstGeom>
          <a:noFill/>
          <a:ln/>
        </p:spPr>
        <p:txBody>
          <a:bodyPr wrap="square" lIns="0" tIns="0" rIns="0" bIns="0" rtlCol="0" anchor="ctr"/>
          <a:lstStyle/>
          <a:p>
            <a:pPr>
              <a:lnSpc>
                <a:spcPct val="140000"/>
              </a:lnSpc>
            </a:pPr>
            <a:r>
              <a:rPr lang="en-US" sz="1400" dirty="0">
                <a:solidFill>
                  <a:srgbClr val="F8F7F5"/>
                </a:solidFill>
                <a:latin typeface="Quattrocento Sans" pitchFamily="34" charset="0"/>
                <a:ea typeface="Quattrocento Sans" pitchFamily="34" charset="-122"/>
                <a:cs typeface="Quattrocento Sans" pitchFamily="34" charset="-120"/>
              </a:rPr>
              <a:t>Some LGAs have a </a:t>
            </a:r>
            <a:r>
              <a:rPr lang="en-US" sz="1400" b="1" dirty="0">
                <a:solidFill>
                  <a:srgbClr val="F8F7F5"/>
                </a:solidFill>
                <a:highlight>
                  <a:srgbClr val="C87E62">
                    <a:alpha val="100000"/>
                  </a:srgbClr>
                </a:highlight>
                <a:latin typeface="Quattrocento Sans" pitchFamily="34" charset="0"/>
                <a:ea typeface="Quattrocento Sans" pitchFamily="34" charset="-122"/>
                <a:cs typeface="Quattrocento Sans" pitchFamily="34" charset="-120"/>
              </a:rPr>
              <a:t>large population </a:t>
            </a:r>
            <a:r>
              <a:rPr lang="en-US" sz="1400" dirty="0">
                <a:solidFill>
                  <a:srgbClr val="F8F7F5"/>
                </a:solidFill>
                <a:latin typeface="Quattrocento Sans" pitchFamily="34" charset="0"/>
                <a:ea typeface="Quattrocento Sans" pitchFamily="34" charset="-122"/>
                <a:cs typeface="Quattrocento Sans" pitchFamily="34" charset="-120"/>
              </a:rPr>
              <a:t>, but these people often live </a:t>
            </a:r>
            <a:r>
              <a:rPr lang="en-US" sz="1400" b="1" dirty="0">
                <a:solidFill>
                  <a:srgbClr val="F8F7F5"/>
                </a:solidFill>
                <a:highlight>
                  <a:srgbClr val="C87E62">
                    <a:alpha val="100000"/>
                  </a:srgbClr>
                </a:highlight>
                <a:latin typeface="Quattrocento Sans" pitchFamily="34" charset="0"/>
                <a:ea typeface="Quattrocento Sans" pitchFamily="34" charset="-122"/>
                <a:cs typeface="Quattrocento Sans" pitchFamily="34" charset="-120"/>
              </a:rPr>
              <a:t>far from facilities </a:t>
            </a:r>
            <a:r>
              <a:rPr lang="en-US" sz="1400" dirty="0">
                <a:solidFill>
                  <a:srgbClr val="F8F7F5"/>
                </a:solidFill>
                <a:latin typeface="Quattrocento Sans" pitchFamily="34" charset="0"/>
                <a:ea typeface="Quattrocento Sans" pitchFamily="34" charset="-122"/>
                <a:cs typeface="Quattrocento Sans" pitchFamily="34" charset="-120"/>
              </a:rPr>
              <a:t>or rely on a </a:t>
            </a:r>
            <a:r>
              <a:rPr lang="en-US" sz="1400" b="1" dirty="0">
                <a:solidFill>
                  <a:srgbClr val="F8F7F5"/>
                </a:solidFill>
                <a:highlight>
                  <a:srgbClr val="C87E62">
                    <a:alpha val="100000"/>
                  </a:srgbClr>
                </a:highlight>
                <a:latin typeface="Quattrocento Sans" pitchFamily="34" charset="0"/>
                <a:ea typeface="Quattrocento Sans" pitchFamily="34" charset="-122"/>
                <a:cs typeface="Quattrocento Sans" pitchFamily="34" charset="-120"/>
              </a:rPr>
              <a:t>limited number of facilities </a:t>
            </a:r>
            <a:r>
              <a:rPr lang="en-US" sz="1400" dirty="0">
                <a:solidFill>
                  <a:srgbClr val="F8F7F5"/>
                </a:solidFill>
                <a:latin typeface="Quattrocento Sans" pitchFamily="34" charset="0"/>
                <a:ea typeface="Quattrocento Sans" pitchFamily="34" charset="-122"/>
                <a:cs typeface="Quattrocento Sans" pitchFamily="34" charset="-120"/>
              </a:rPr>
              <a:t>.</a:t>
            </a:r>
            <a:endParaRPr lang="en-US" sz="1400" dirty="0"/>
          </a:p>
        </p:txBody>
      </p:sp>
      <p:sp>
        <p:nvSpPr>
          <p:cNvPr id="10" name="Shape 8"/>
          <p:cNvSpPr/>
          <p:nvPr/>
        </p:nvSpPr>
        <p:spPr>
          <a:xfrm flipH="1">
            <a:off x="287656" y="2432844"/>
            <a:ext cx="45719" cy="4361656"/>
          </a:xfrm>
          <a:custGeom>
            <a:avLst/>
            <a:gdLst/>
            <a:ahLst/>
            <a:cxnLst/>
            <a:rect l="l" t="t" r="r" b="b"/>
            <a:pathLst>
              <a:path w="31750" h="5556250">
                <a:moveTo>
                  <a:pt x="0" y="0"/>
                </a:moveTo>
                <a:lnTo>
                  <a:pt x="31750" y="0"/>
                </a:lnTo>
                <a:lnTo>
                  <a:pt x="31750" y="5556250"/>
                </a:lnTo>
                <a:lnTo>
                  <a:pt x="0" y="5556250"/>
                </a:lnTo>
                <a:lnTo>
                  <a:pt x="0" y="0"/>
                </a:lnTo>
                <a:close/>
              </a:path>
            </a:pathLst>
          </a:custGeom>
          <a:solidFill>
            <a:srgbClr val="C87E62"/>
          </a:solidFill>
          <a:ln/>
        </p:spPr>
      </p:sp>
      <p:sp>
        <p:nvSpPr>
          <p:cNvPr id="11" name="Shape 9"/>
          <p:cNvSpPr/>
          <p:nvPr/>
        </p:nvSpPr>
        <p:spPr>
          <a:xfrm>
            <a:off x="587375" y="2655094"/>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35719" y="23812"/>
                </a:moveTo>
                <a:lnTo>
                  <a:pt x="107156" y="23812"/>
                </a:lnTo>
                <a:cubicBezTo>
                  <a:pt x="113742" y="23812"/>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2" y="86320"/>
                </a:moveTo>
                <a:cubicBezTo>
                  <a:pt x="41672" y="91249"/>
                  <a:pt x="37671" y="95250"/>
                  <a:pt x="32742" y="95250"/>
                </a:cubicBezTo>
                <a:cubicBezTo>
                  <a:pt x="27814" y="95250"/>
                  <a:pt x="23812" y="91249"/>
                  <a:pt x="23812" y="86320"/>
                </a:cubicBezTo>
                <a:cubicBezTo>
                  <a:pt x="23812" y="81392"/>
                  <a:pt x="27814" y="77391"/>
                  <a:pt x="32742" y="77391"/>
                </a:cubicBezTo>
                <a:cubicBezTo>
                  <a:pt x="37671" y="77391"/>
                  <a:pt x="41672" y="81392"/>
                  <a:pt x="41672" y="86320"/>
                </a:cubicBezTo>
                <a:close/>
                <a:moveTo>
                  <a:pt x="71438" y="95250"/>
                </a:moveTo>
                <a:cubicBezTo>
                  <a:pt x="66509" y="95250"/>
                  <a:pt x="62508" y="91249"/>
                  <a:pt x="62508" y="86320"/>
                </a:cubicBezTo>
                <a:cubicBezTo>
                  <a:pt x="62508" y="81392"/>
                  <a:pt x="66509" y="77391"/>
                  <a:pt x="71438" y="77391"/>
                </a:cubicBezTo>
                <a:cubicBezTo>
                  <a:pt x="76366" y="77391"/>
                  <a:pt x="80367" y="81392"/>
                  <a:pt x="80367" y="86320"/>
                </a:cubicBezTo>
                <a:cubicBezTo>
                  <a:pt x="80367" y="91249"/>
                  <a:pt x="76366" y="95250"/>
                  <a:pt x="71438" y="95250"/>
                </a:cubicBezTo>
                <a:close/>
                <a:moveTo>
                  <a:pt x="119063" y="86320"/>
                </a:moveTo>
                <a:cubicBezTo>
                  <a:pt x="119063" y="91249"/>
                  <a:pt x="115061" y="95250"/>
                  <a:pt x="110133" y="95250"/>
                </a:cubicBezTo>
                <a:cubicBezTo>
                  <a:pt x="105204" y="95250"/>
                  <a:pt x="101203" y="91249"/>
                  <a:pt x="101203" y="86320"/>
                </a:cubicBezTo>
                <a:cubicBezTo>
                  <a:pt x="101203" y="81392"/>
                  <a:pt x="105204" y="77391"/>
                  <a:pt x="110133" y="77391"/>
                </a:cubicBezTo>
                <a:cubicBezTo>
                  <a:pt x="115061" y="77391"/>
                  <a:pt x="119063" y="81392"/>
                  <a:pt x="119063" y="86320"/>
                </a:cubicBezTo>
                <a:close/>
                <a:moveTo>
                  <a:pt x="32742" y="130969"/>
                </a:moveTo>
                <a:cubicBezTo>
                  <a:pt x="27814" y="130969"/>
                  <a:pt x="23812" y="126967"/>
                  <a:pt x="23812" y="122039"/>
                </a:cubicBezTo>
                <a:cubicBezTo>
                  <a:pt x="23812" y="117111"/>
                  <a:pt x="27814" y="113109"/>
                  <a:pt x="32742" y="113109"/>
                </a:cubicBezTo>
                <a:cubicBezTo>
                  <a:pt x="37671" y="113109"/>
                  <a:pt x="41672" y="117111"/>
                  <a:pt x="41672" y="122039"/>
                </a:cubicBezTo>
                <a:cubicBezTo>
                  <a:pt x="41672"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3" y="126967"/>
                  <a:pt x="101203" y="122039"/>
                </a:cubicBezTo>
                <a:cubicBezTo>
                  <a:pt x="101203"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8"/>
                  <a:pt x="32742" y="148828"/>
                </a:cubicBezTo>
                <a:lnTo>
                  <a:pt x="74414" y="148828"/>
                </a:lnTo>
                <a:cubicBezTo>
                  <a:pt x="79363" y="148828"/>
                  <a:pt x="83344" y="152809"/>
                  <a:pt x="83344" y="157758"/>
                </a:cubicBezTo>
                <a:cubicBezTo>
                  <a:pt x="83344" y="162706"/>
                  <a:pt x="79363" y="166688"/>
                  <a:pt x="74414" y="166688"/>
                </a:cubicBezTo>
                <a:lnTo>
                  <a:pt x="32742" y="166688"/>
                </a:lnTo>
                <a:cubicBezTo>
                  <a:pt x="27794" y="166688"/>
                  <a:pt x="23812" y="162706"/>
                  <a:pt x="23812" y="157758"/>
                </a:cubicBezTo>
                <a:close/>
                <a:moveTo>
                  <a:pt x="110133" y="148828"/>
                </a:moveTo>
                <a:cubicBezTo>
                  <a:pt x="115081" y="148828"/>
                  <a:pt x="119063" y="152809"/>
                  <a:pt x="119063" y="157758"/>
                </a:cubicBezTo>
                <a:cubicBezTo>
                  <a:pt x="119063" y="162706"/>
                  <a:pt x="115081" y="166688"/>
                  <a:pt x="110133" y="166688"/>
                </a:cubicBezTo>
                <a:cubicBezTo>
                  <a:pt x="105184" y="166688"/>
                  <a:pt x="101203" y="162706"/>
                  <a:pt x="101203" y="157758"/>
                </a:cubicBezTo>
                <a:cubicBezTo>
                  <a:pt x="101203" y="152809"/>
                  <a:pt x="105184" y="148828"/>
                  <a:pt x="110133" y="148828"/>
                </a:cubicBezTo>
                <a:close/>
              </a:path>
            </a:pathLst>
          </a:custGeom>
          <a:solidFill>
            <a:srgbClr val="C87E62"/>
          </a:solidFill>
          <a:ln/>
        </p:spPr>
      </p:sp>
      <p:sp>
        <p:nvSpPr>
          <p:cNvPr id="12" name="Text 10"/>
          <p:cNvSpPr/>
          <p:nvPr/>
        </p:nvSpPr>
        <p:spPr>
          <a:xfrm>
            <a:off x="873125" y="2623344"/>
            <a:ext cx="3920342" cy="313190"/>
          </a:xfrm>
          <a:prstGeom prst="rect">
            <a:avLst/>
          </a:prstGeom>
          <a:noFill/>
          <a:ln/>
        </p:spPr>
        <p:txBody>
          <a:bodyPr wrap="square" lIns="0" tIns="0" rIns="0" bIns="0" rtlCol="0" anchor="ctr"/>
          <a:lstStyle/>
          <a:p>
            <a:pPr>
              <a:lnSpc>
                <a:spcPct val="110000"/>
              </a:lnSpc>
            </a:pPr>
            <a:r>
              <a:rPr lang="en-US" sz="1600" b="1" dirty="0">
                <a:solidFill>
                  <a:srgbClr val="2A4D53"/>
                </a:solidFill>
                <a:latin typeface="Liter" pitchFamily="34" charset="0"/>
                <a:ea typeface="Liter" pitchFamily="34" charset="-122"/>
                <a:cs typeface="Liter" pitchFamily="34" charset="-120"/>
              </a:rPr>
              <a:t>How the Priority Index Was Calculated</a:t>
            </a:r>
            <a:endParaRPr lang="en-US" sz="1600" dirty="0"/>
          </a:p>
        </p:txBody>
      </p:sp>
      <p:sp>
        <p:nvSpPr>
          <p:cNvPr id="13" name="Text 11"/>
          <p:cNvSpPr/>
          <p:nvPr/>
        </p:nvSpPr>
        <p:spPr>
          <a:xfrm>
            <a:off x="539750" y="3004344"/>
            <a:ext cx="4595813" cy="412750"/>
          </a:xfrm>
          <a:prstGeom prst="rect">
            <a:avLst/>
          </a:prstGeom>
          <a:noFill/>
          <a:ln/>
        </p:spPr>
        <p:txBody>
          <a:bodyPr wrap="square" lIns="0" tIns="0" rIns="0" bIns="0" rtlCol="0" anchor="ctr"/>
          <a:lstStyle/>
          <a:p>
            <a:pPr>
              <a:lnSpc>
                <a:spcPct val="140000"/>
              </a:lnSpc>
            </a:pPr>
            <a:r>
              <a:rPr lang="en-US" sz="1200" b="1" dirty="0">
                <a:solidFill>
                  <a:srgbClr val="3D3D3D"/>
                </a:solidFill>
                <a:latin typeface="Quattrocento Sans" pitchFamily="34" charset="0"/>
                <a:ea typeface="Quattrocento Sans" pitchFamily="34" charset="-122"/>
                <a:cs typeface="Quattrocento Sans" pitchFamily="34" charset="-120"/>
              </a:rPr>
              <a:t>To identify the areas with the greatest need, we didn't just look at who has the most people or who is the furthest from a clinic; we looked for the overlap of both.</a:t>
            </a:r>
            <a:endParaRPr lang="en-US" sz="1200" b="1" dirty="0"/>
          </a:p>
        </p:txBody>
      </p:sp>
      <p:sp>
        <p:nvSpPr>
          <p:cNvPr id="14" name="Shape 12"/>
          <p:cNvSpPr/>
          <p:nvPr/>
        </p:nvSpPr>
        <p:spPr>
          <a:xfrm>
            <a:off x="661976" y="4644891"/>
            <a:ext cx="254000" cy="254000"/>
          </a:xfrm>
          <a:custGeom>
            <a:avLst/>
            <a:gdLst/>
            <a:ahLst/>
            <a:cxnLst/>
            <a:rect l="l" t="t" r="r" b="b"/>
            <a:pathLst>
              <a:path w="254000" h="254000">
                <a:moveTo>
                  <a:pt x="0" y="0"/>
                </a:moveTo>
                <a:lnTo>
                  <a:pt x="254000" y="0"/>
                </a:lnTo>
                <a:lnTo>
                  <a:pt x="254000" y="254000"/>
                </a:lnTo>
                <a:lnTo>
                  <a:pt x="0" y="254000"/>
                </a:lnTo>
                <a:lnTo>
                  <a:pt x="0" y="0"/>
                </a:lnTo>
                <a:close/>
              </a:path>
            </a:pathLst>
          </a:custGeom>
          <a:solidFill>
            <a:srgbClr val="2A4D53"/>
          </a:solidFill>
          <a:ln/>
        </p:spPr>
        <p:txBody>
          <a:bodyPr/>
          <a:lstStyle/>
          <a:p>
            <a:r>
              <a:rPr lang="en-US" sz="1100" b="1" dirty="0">
                <a:solidFill>
                  <a:schemeClr val="accent2">
                    <a:lumMod val="40000"/>
                    <a:lumOff val="60000"/>
                  </a:schemeClr>
                </a:solidFill>
              </a:rPr>
              <a:t>2</a:t>
            </a:r>
          </a:p>
        </p:txBody>
      </p:sp>
      <p:sp>
        <p:nvSpPr>
          <p:cNvPr id="15" name="Text 13"/>
          <p:cNvSpPr/>
          <p:nvPr/>
        </p:nvSpPr>
        <p:spPr>
          <a:xfrm>
            <a:off x="511969" y="3544094"/>
            <a:ext cx="309563" cy="254000"/>
          </a:xfrm>
          <a:prstGeom prst="rect">
            <a:avLst/>
          </a:prstGeom>
          <a:noFill/>
          <a:ln/>
        </p:spPr>
        <p:txBody>
          <a:bodyPr wrap="square" lIns="0" tIns="0" rIns="0" bIns="0" rtlCol="0" anchor="ctr"/>
          <a:lstStyle/>
          <a:p>
            <a:pPr algn="ctr">
              <a:lnSpc>
                <a:spcPct val="120000"/>
              </a:lnSpc>
            </a:pPr>
            <a:r>
              <a:rPr lang="en-US" sz="875" b="1" dirty="0">
                <a:solidFill>
                  <a:srgbClr val="F8F7F5"/>
                </a:solidFill>
                <a:latin typeface="Liter" pitchFamily="34" charset="0"/>
                <a:ea typeface="Liter" pitchFamily="34" charset="-122"/>
                <a:cs typeface="Liter" pitchFamily="34" charset="-120"/>
              </a:rPr>
              <a:t>1</a:t>
            </a:r>
            <a:endParaRPr lang="en-US" sz="1600" dirty="0"/>
          </a:p>
        </p:txBody>
      </p:sp>
      <p:sp>
        <p:nvSpPr>
          <p:cNvPr id="16" name="Text 14"/>
          <p:cNvSpPr/>
          <p:nvPr/>
        </p:nvSpPr>
        <p:spPr>
          <a:xfrm>
            <a:off x="1067594" y="4023530"/>
            <a:ext cx="2008187" cy="190500"/>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Normalization</a:t>
            </a:r>
            <a:endParaRPr lang="en-US" sz="1500" dirty="0"/>
          </a:p>
        </p:txBody>
      </p:sp>
      <p:sp>
        <p:nvSpPr>
          <p:cNvPr id="17" name="Text 15"/>
          <p:cNvSpPr/>
          <p:nvPr/>
        </p:nvSpPr>
        <p:spPr>
          <a:xfrm>
            <a:off x="1067593" y="4261654"/>
            <a:ext cx="3050725" cy="254000"/>
          </a:xfrm>
          <a:prstGeom prst="rect">
            <a:avLst/>
          </a:prstGeom>
          <a:noFill/>
          <a:ln/>
        </p:spPr>
        <p:txBody>
          <a:bodyPr wrap="square" lIns="0" tIns="0" rIns="0" bIns="0" rtlCol="0" anchor="ctr"/>
          <a:lstStyle/>
          <a:p>
            <a:pPr>
              <a:lnSpc>
                <a:spcPct val="120000"/>
              </a:lnSpc>
            </a:pPr>
            <a:r>
              <a:rPr lang="en-US" sz="1300" b="1" dirty="0">
                <a:solidFill>
                  <a:srgbClr val="A9A299"/>
                </a:solidFill>
                <a:latin typeface="Quattrocento Sans" pitchFamily="34" charset="0"/>
                <a:ea typeface="Quattrocento Sans" pitchFamily="34" charset="-122"/>
                <a:cs typeface="Quattrocento Sans" pitchFamily="34" charset="-120"/>
              </a:rPr>
              <a:t>Scale population and distance to 0.0-1.0</a:t>
            </a:r>
            <a:endParaRPr lang="en-US" sz="1300" b="1" dirty="0"/>
          </a:p>
        </p:txBody>
      </p:sp>
      <p:sp>
        <p:nvSpPr>
          <p:cNvPr id="18" name="Shape 16"/>
          <p:cNvSpPr/>
          <p:nvPr/>
        </p:nvSpPr>
        <p:spPr>
          <a:xfrm>
            <a:off x="661976" y="4007655"/>
            <a:ext cx="254000" cy="254000"/>
          </a:xfrm>
          <a:custGeom>
            <a:avLst/>
            <a:gdLst/>
            <a:ahLst/>
            <a:cxnLst/>
            <a:rect l="l" t="t" r="r" b="b"/>
            <a:pathLst>
              <a:path w="254000" h="254000">
                <a:moveTo>
                  <a:pt x="0" y="0"/>
                </a:moveTo>
                <a:lnTo>
                  <a:pt x="254000" y="0"/>
                </a:lnTo>
                <a:lnTo>
                  <a:pt x="254000" y="254000"/>
                </a:lnTo>
                <a:lnTo>
                  <a:pt x="0" y="254000"/>
                </a:lnTo>
                <a:lnTo>
                  <a:pt x="0" y="0"/>
                </a:lnTo>
                <a:close/>
              </a:path>
            </a:pathLst>
          </a:custGeom>
          <a:solidFill>
            <a:srgbClr val="2A4D53"/>
          </a:solidFill>
          <a:ln/>
        </p:spPr>
        <p:txBody>
          <a:bodyPr/>
          <a:lstStyle/>
          <a:p>
            <a:r>
              <a:rPr lang="en-US" sz="1200" b="1" dirty="0">
                <a:solidFill>
                  <a:schemeClr val="accent2">
                    <a:lumMod val="40000"/>
                    <a:lumOff val="60000"/>
                  </a:schemeClr>
                </a:solidFill>
              </a:rPr>
              <a:t>1</a:t>
            </a:r>
          </a:p>
        </p:txBody>
      </p:sp>
      <p:sp>
        <p:nvSpPr>
          <p:cNvPr id="19" name="Text 17"/>
          <p:cNvSpPr/>
          <p:nvPr/>
        </p:nvSpPr>
        <p:spPr>
          <a:xfrm>
            <a:off x="511969" y="3988594"/>
            <a:ext cx="309563" cy="254000"/>
          </a:xfrm>
          <a:prstGeom prst="rect">
            <a:avLst/>
          </a:prstGeom>
          <a:noFill/>
          <a:ln/>
        </p:spPr>
        <p:txBody>
          <a:bodyPr wrap="square" lIns="0" tIns="0" rIns="0" bIns="0" rtlCol="0" anchor="ctr"/>
          <a:lstStyle/>
          <a:p>
            <a:pPr algn="ctr">
              <a:lnSpc>
                <a:spcPct val="120000"/>
              </a:lnSpc>
            </a:pPr>
            <a:r>
              <a:rPr lang="en-US" sz="875" b="1" dirty="0">
                <a:solidFill>
                  <a:srgbClr val="F8F7F5"/>
                </a:solidFill>
                <a:latin typeface="Liter" pitchFamily="34" charset="0"/>
                <a:ea typeface="Liter" pitchFamily="34" charset="-122"/>
                <a:cs typeface="Liter" pitchFamily="34" charset="-120"/>
              </a:rPr>
              <a:t>2</a:t>
            </a:r>
            <a:endParaRPr lang="en-US" sz="1600" dirty="0"/>
          </a:p>
        </p:txBody>
      </p:sp>
      <p:sp>
        <p:nvSpPr>
          <p:cNvPr id="20" name="Text 18"/>
          <p:cNvSpPr/>
          <p:nvPr/>
        </p:nvSpPr>
        <p:spPr>
          <a:xfrm>
            <a:off x="1100435" y="4624729"/>
            <a:ext cx="1968500" cy="190500"/>
          </a:xfrm>
          <a:prstGeom prst="rect">
            <a:avLst/>
          </a:prstGeom>
          <a:noFill/>
          <a:ln/>
        </p:spPr>
        <p:txBody>
          <a:bodyPr wrap="square" lIns="0" tIns="0" rIns="0" bIns="0" rtlCol="0" anchor="ctr"/>
          <a:lstStyle/>
          <a:p>
            <a:pP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Weighted Scoring</a:t>
            </a:r>
            <a:endParaRPr lang="en-US" sz="1500" dirty="0"/>
          </a:p>
        </p:txBody>
      </p:sp>
      <p:sp>
        <p:nvSpPr>
          <p:cNvPr id="21" name="Text 19"/>
          <p:cNvSpPr/>
          <p:nvPr/>
        </p:nvSpPr>
        <p:spPr>
          <a:xfrm>
            <a:off x="1058662" y="4830823"/>
            <a:ext cx="3059655" cy="227767"/>
          </a:xfrm>
          <a:prstGeom prst="rect">
            <a:avLst/>
          </a:prstGeom>
          <a:noFill/>
          <a:ln/>
        </p:spPr>
        <p:txBody>
          <a:bodyPr wrap="square" lIns="0" tIns="0" rIns="0" bIns="0" rtlCol="0" anchor="ctr"/>
          <a:lstStyle/>
          <a:p>
            <a:pPr>
              <a:lnSpc>
                <a:spcPct val="120000"/>
              </a:lnSpc>
            </a:pPr>
            <a:r>
              <a:rPr lang="en-US" sz="1300" b="1" dirty="0">
                <a:solidFill>
                  <a:srgbClr val="A9A299"/>
                </a:solidFill>
                <a:latin typeface="Quattrocento Sans" pitchFamily="34" charset="0"/>
                <a:ea typeface="Quattrocento Sans" pitchFamily="34" charset="-122"/>
                <a:cs typeface="Quattrocento Sans" pitchFamily="34" charset="-120"/>
              </a:rPr>
              <a:t>Combine into single Priority Index score</a:t>
            </a:r>
            <a:endParaRPr lang="en-US" sz="1300" b="1" dirty="0"/>
          </a:p>
        </p:txBody>
      </p:sp>
      <p:sp>
        <p:nvSpPr>
          <p:cNvPr id="22" name="Shape 20"/>
          <p:cNvSpPr/>
          <p:nvPr/>
        </p:nvSpPr>
        <p:spPr>
          <a:xfrm>
            <a:off x="653049" y="5238750"/>
            <a:ext cx="254000" cy="254000"/>
          </a:xfrm>
          <a:custGeom>
            <a:avLst/>
            <a:gdLst/>
            <a:ahLst/>
            <a:cxnLst/>
            <a:rect l="l" t="t" r="r" b="b"/>
            <a:pathLst>
              <a:path w="254000" h="254000">
                <a:moveTo>
                  <a:pt x="0" y="0"/>
                </a:moveTo>
                <a:lnTo>
                  <a:pt x="254000" y="0"/>
                </a:lnTo>
                <a:lnTo>
                  <a:pt x="254000" y="254000"/>
                </a:lnTo>
                <a:lnTo>
                  <a:pt x="0" y="254000"/>
                </a:lnTo>
                <a:lnTo>
                  <a:pt x="0" y="0"/>
                </a:lnTo>
                <a:close/>
              </a:path>
            </a:pathLst>
          </a:custGeom>
          <a:solidFill>
            <a:srgbClr val="2A4D53"/>
          </a:solidFill>
          <a:ln/>
        </p:spPr>
        <p:txBody>
          <a:bodyPr/>
          <a:lstStyle/>
          <a:p>
            <a:r>
              <a:rPr lang="en-US" sz="1200" b="1" dirty="0">
                <a:solidFill>
                  <a:schemeClr val="accent2">
                    <a:lumMod val="40000"/>
                    <a:lumOff val="60000"/>
                  </a:schemeClr>
                </a:solidFill>
              </a:rPr>
              <a:t>3</a:t>
            </a:r>
          </a:p>
          <a:p>
            <a:endParaRPr lang="en-US" dirty="0"/>
          </a:p>
        </p:txBody>
      </p:sp>
      <p:sp>
        <p:nvSpPr>
          <p:cNvPr id="23" name="Text 21"/>
          <p:cNvSpPr/>
          <p:nvPr/>
        </p:nvSpPr>
        <p:spPr>
          <a:xfrm>
            <a:off x="511969" y="4433094"/>
            <a:ext cx="309563" cy="254000"/>
          </a:xfrm>
          <a:prstGeom prst="rect">
            <a:avLst/>
          </a:prstGeom>
          <a:noFill/>
          <a:ln/>
        </p:spPr>
        <p:txBody>
          <a:bodyPr wrap="square" lIns="0" tIns="0" rIns="0" bIns="0" rtlCol="0" anchor="ctr"/>
          <a:lstStyle/>
          <a:p>
            <a:pPr algn="ctr">
              <a:lnSpc>
                <a:spcPct val="120000"/>
              </a:lnSpc>
            </a:pPr>
            <a:r>
              <a:rPr lang="en-US" sz="875" b="1" dirty="0">
                <a:solidFill>
                  <a:srgbClr val="F8F7F5"/>
                </a:solidFill>
                <a:latin typeface="Liter" pitchFamily="34" charset="0"/>
                <a:ea typeface="Liter" pitchFamily="34" charset="-122"/>
                <a:cs typeface="Liter" pitchFamily="34" charset="-120"/>
              </a:rPr>
              <a:t>3</a:t>
            </a:r>
            <a:endParaRPr lang="en-US" sz="1600" dirty="0"/>
          </a:p>
        </p:txBody>
      </p:sp>
      <p:sp>
        <p:nvSpPr>
          <p:cNvPr id="24" name="Text 22"/>
          <p:cNvSpPr/>
          <p:nvPr/>
        </p:nvSpPr>
        <p:spPr>
          <a:xfrm>
            <a:off x="1041987" y="5238750"/>
            <a:ext cx="2000250" cy="190500"/>
          </a:xfrm>
          <a:prstGeom prst="rect">
            <a:avLst/>
          </a:prstGeom>
          <a:noFill/>
          <a:ln/>
        </p:spPr>
        <p:txBody>
          <a:bodyPr wrap="square" lIns="0" tIns="0" rIns="0" bIns="0" rtlCol="0" anchor="ctr"/>
          <a:lstStyle/>
          <a:p>
            <a:pP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Threshold Analysis</a:t>
            </a:r>
            <a:endParaRPr lang="en-US" sz="1600" dirty="0"/>
          </a:p>
        </p:txBody>
      </p:sp>
      <p:sp>
        <p:nvSpPr>
          <p:cNvPr id="25" name="Text 23"/>
          <p:cNvSpPr/>
          <p:nvPr/>
        </p:nvSpPr>
        <p:spPr>
          <a:xfrm>
            <a:off x="1002299" y="5429249"/>
            <a:ext cx="2937463" cy="301625"/>
          </a:xfrm>
          <a:prstGeom prst="rect">
            <a:avLst/>
          </a:prstGeom>
          <a:noFill/>
          <a:ln/>
        </p:spPr>
        <p:txBody>
          <a:bodyPr wrap="square" lIns="0" tIns="0" rIns="0" bIns="0" rtlCol="0" anchor="ctr"/>
          <a:lstStyle/>
          <a:p>
            <a:pPr>
              <a:lnSpc>
                <a:spcPct val="120000"/>
              </a:lnSpc>
            </a:pPr>
            <a:r>
              <a:rPr lang="en-US" sz="1300" b="1" dirty="0">
                <a:solidFill>
                  <a:srgbClr val="A9A299"/>
                </a:solidFill>
                <a:latin typeface="Quattrocento Sans" pitchFamily="34" charset="0"/>
                <a:ea typeface="Quattrocento Sans" pitchFamily="34" charset="-122"/>
                <a:cs typeface="Quattrocento Sans" pitchFamily="34" charset="-120"/>
              </a:rPr>
              <a:t>Benchmark against 3km safety threshold</a:t>
            </a:r>
            <a:endParaRPr lang="en-US" sz="1300" b="1" dirty="0"/>
          </a:p>
        </p:txBody>
      </p:sp>
      <p:sp>
        <p:nvSpPr>
          <p:cNvPr id="26" name="Shape 24"/>
          <p:cNvSpPr/>
          <p:nvPr/>
        </p:nvSpPr>
        <p:spPr>
          <a:xfrm>
            <a:off x="5451450" y="1047751"/>
            <a:ext cx="6421438" cy="5810250"/>
          </a:xfrm>
          <a:custGeom>
            <a:avLst/>
            <a:gdLst/>
            <a:ahLst/>
            <a:cxnLst/>
            <a:rect l="l" t="t" r="r" b="b"/>
            <a:pathLst>
              <a:path w="6421438" h="6937375">
                <a:moveTo>
                  <a:pt x="0" y="0"/>
                </a:moveTo>
                <a:lnTo>
                  <a:pt x="6421438" y="0"/>
                </a:lnTo>
                <a:lnTo>
                  <a:pt x="6421438" y="6937375"/>
                </a:lnTo>
                <a:lnTo>
                  <a:pt x="0" y="6937375"/>
                </a:lnTo>
                <a:lnTo>
                  <a:pt x="0" y="0"/>
                </a:lnTo>
                <a:close/>
              </a:path>
            </a:pathLst>
          </a:custGeom>
          <a:solidFill>
            <a:srgbClr val="FFFFFF"/>
          </a:solidFill>
          <a:ln/>
          <a:effectLst>
            <a:outerShdw blurRad="23813" dist="7938" dir="5400000" algn="bl" rotWithShape="0">
              <a:srgbClr val="000000">
                <a:alpha val="10196"/>
              </a:srgbClr>
            </a:outerShdw>
          </a:effectLst>
        </p:spPr>
      </p:sp>
      <p:sp>
        <p:nvSpPr>
          <p:cNvPr id="27" name="Text 25"/>
          <p:cNvSpPr/>
          <p:nvPr/>
        </p:nvSpPr>
        <p:spPr>
          <a:xfrm>
            <a:off x="5641950" y="1238250"/>
            <a:ext cx="6135688" cy="254000"/>
          </a:xfrm>
          <a:prstGeom prst="rect">
            <a:avLst/>
          </a:prstGeom>
          <a:noFill/>
          <a:ln/>
        </p:spPr>
        <p:txBody>
          <a:bodyPr wrap="square" lIns="0" tIns="0" rIns="0" bIns="0" rtlCol="0" anchor="ctr"/>
          <a:lstStyle/>
          <a:p>
            <a:pPr>
              <a:lnSpc>
                <a:spcPct val="110000"/>
              </a:lnSpc>
            </a:pPr>
            <a:r>
              <a:rPr lang="en-US" b="1" dirty="0">
                <a:solidFill>
                  <a:srgbClr val="2A4D53"/>
                </a:solidFill>
                <a:latin typeface="Liter" pitchFamily="34" charset="0"/>
                <a:ea typeface="Liter" pitchFamily="34" charset="-122"/>
                <a:cs typeface="Liter" pitchFamily="34" charset="-120"/>
              </a:rPr>
              <a:t>Priority Index Methodology Flow</a:t>
            </a:r>
            <a:endParaRPr lang="en-US" dirty="0"/>
          </a:p>
        </p:txBody>
      </p:sp>
      <p:sp>
        <p:nvSpPr>
          <p:cNvPr id="28" name="Shape 26"/>
          <p:cNvSpPr/>
          <p:nvPr/>
        </p:nvSpPr>
        <p:spPr>
          <a:xfrm>
            <a:off x="5641950" y="1651000"/>
            <a:ext cx="2778125" cy="904875"/>
          </a:xfrm>
          <a:custGeom>
            <a:avLst/>
            <a:gdLst/>
            <a:ahLst/>
            <a:cxnLst/>
            <a:rect l="l" t="t" r="r" b="b"/>
            <a:pathLst>
              <a:path w="2778125" h="904875">
                <a:moveTo>
                  <a:pt x="0" y="0"/>
                </a:moveTo>
                <a:lnTo>
                  <a:pt x="2778125" y="0"/>
                </a:lnTo>
                <a:lnTo>
                  <a:pt x="2778125" y="904875"/>
                </a:lnTo>
                <a:lnTo>
                  <a:pt x="0" y="904875"/>
                </a:lnTo>
                <a:lnTo>
                  <a:pt x="0" y="0"/>
                </a:lnTo>
                <a:close/>
              </a:path>
            </a:pathLst>
          </a:custGeom>
          <a:solidFill>
            <a:srgbClr val="2A4D53">
              <a:alpha val="10196"/>
            </a:srgbClr>
          </a:solidFill>
          <a:ln/>
        </p:spPr>
      </p:sp>
      <p:sp>
        <p:nvSpPr>
          <p:cNvPr id="29" name="Shape 27"/>
          <p:cNvSpPr/>
          <p:nvPr/>
        </p:nvSpPr>
        <p:spPr>
          <a:xfrm>
            <a:off x="6882557" y="1778000"/>
            <a:ext cx="297656" cy="238125"/>
          </a:xfrm>
          <a:custGeom>
            <a:avLst/>
            <a:gdLst/>
            <a:ahLst/>
            <a:cxnLst/>
            <a:rect l="l" t="t" r="r" b="b"/>
            <a:pathLst>
              <a:path w="297656" h="238125">
                <a:moveTo>
                  <a:pt x="148828" y="7441"/>
                </a:moveTo>
                <a:cubicBezTo>
                  <a:pt x="175524" y="7441"/>
                  <a:pt x="197197" y="29115"/>
                  <a:pt x="197197" y="55811"/>
                </a:cubicBezTo>
                <a:cubicBezTo>
                  <a:pt x="197197" y="82506"/>
                  <a:pt x="175524" y="104180"/>
                  <a:pt x="148828" y="104180"/>
                </a:cubicBezTo>
                <a:cubicBezTo>
                  <a:pt x="122132" y="104180"/>
                  <a:pt x="100459" y="82506"/>
                  <a:pt x="100459" y="55811"/>
                </a:cubicBezTo>
                <a:cubicBezTo>
                  <a:pt x="100459" y="29115"/>
                  <a:pt x="122132" y="7441"/>
                  <a:pt x="148828" y="7441"/>
                </a:cubicBezTo>
                <a:close/>
                <a:moveTo>
                  <a:pt x="44648" y="40928"/>
                </a:moveTo>
                <a:cubicBezTo>
                  <a:pt x="63130" y="40928"/>
                  <a:pt x="78135" y="55932"/>
                  <a:pt x="78135" y="74414"/>
                </a:cubicBezTo>
                <a:cubicBezTo>
                  <a:pt x="78135" y="92896"/>
                  <a:pt x="63130" y="107900"/>
                  <a:pt x="44648" y="107900"/>
                </a:cubicBezTo>
                <a:cubicBezTo>
                  <a:pt x="26167" y="107900"/>
                  <a:pt x="11162" y="92896"/>
                  <a:pt x="11162" y="74414"/>
                </a:cubicBezTo>
                <a:cubicBezTo>
                  <a:pt x="11162" y="55932"/>
                  <a:pt x="26167" y="40928"/>
                  <a:pt x="44648" y="40928"/>
                </a:cubicBezTo>
                <a:close/>
                <a:moveTo>
                  <a:pt x="0" y="193477"/>
                </a:moveTo>
                <a:cubicBezTo>
                  <a:pt x="0" y="160595"/>
                  <a:pt x="26650" y="133945"/>
                  <a:pt x="59531" y="133945"/>
                </a:cubicBezTo>
                <a:cubicBezTo>
                  <a:pt x="65484" y="133945"/>
                  <a:pt x="71251" y="134829"/>
                  <a:pt x="76693" y="136457"/>
                </a:cubicBezTo>
                <a:cubicBezTo>
                  <a:pt x="61392" y="153572"/>
                  <a:pt x="52090" y="176175"/>
                  <a:pt x="52090" y="200918"/>
                </a:cubicBezTo>
                <a:lnTo>
                  <a:pt x="52090" y="208359"/>
                </a:lnTo>
                <a:cubicBezTo>
                  <a:pt x="52090" y="213661"/>
                  <a:pt x="53206" y="218684"/>
                  <a:pt x="55206" y="223242"/>
                </a:cubicBezTo>
                <a:lnTo>
                  <a:pt x="14883" y="223242"/>
                </a:lnTo>
                <a:cubicBezTo>
                  <a:pt x="6651" y="223242"/>
                  <a:pt x="0" y="216591"/>
                  <a:pt x="0" y="208359"/>
                </a:cubicBezTo>
                <a:lnTo>
                  <a:pt x="0" y="193477"/>
                </a:lnTo>
                <a:close/>
                <a:moveTo>
                  <a:pt x="242450" y="223242"/>
                </a:moveTo>
                <a:cubicBezTo>
                  <a:pt x="244450" y="218684"/>
                  <a:pt x="245566" y="213661"/>
                  <a:pt x="245566" y="208359"/>
                </a:cubicBezTo>
                <a:lnTo>
                  <a:pt x="245566" y="200918"/>
                </a:lnTo>
                <a:cubicBezTo>
                  <a:pt x="245566" y="176175"/>
                  <a:pt x="236265" y="153572"/>
                  <a:pt x="220963" y="136457"/>
                </a:cubicBezTo>
                <a:cubicBezTo>
                  <a:pt x="226405" y="134829"/>
                  <a:pt x="232172" y="133945"/>
                  <a:pt x="238125" y="133945"/>
                </a:cubicBezTo>
                <a:cubicBezTo>
                  <a:pt x="271007" y="133945"/>
                  <a:pt x="297656" y="160595"/>
                  <a:pt x="297656" y="193477"/>
                </a:cubicBezTo>
                <a:lnTo>
                  <a:pt x="297656" y="208359"/>
                </a:lnTo>
                <a:cubicBezTo>
                  <a:pt x="297656" y="216591"/>
                  <a:pt x="291005" y="223242"/>
                  <a:pt x="282773" y="223242"/>
                </a:cubicBezTo>
                <a:lnTo>
                  <a:pt x="242450" y="223242"/>
                </a:lnTo>
                <a:close/>
                <a:moveTo>
                  <a:pt x="219521" y="74414"/>
                </a:moveTo>
                <a:cubicBezTo>
                  <a:pt x="219521" y="55932"/>
                  <a:pt x="234526" y="40928"/>
                  <a:pt x="253008" y="40928"/>
                </a:cubicBezTo>
                <a:cubicBezTo>
                  <a:pt x="271489" y="40928"/>
                  <a:pt x="286494" y="55932"/>
                  <a:pt x="286494" y="74414"/>
                </a:cubicBezTo>
                <a:cubicBezTo>
                  <a:pt x="286494" y="92896"/>
                  <a:pt x="271489" y="107900"/>
                  <a:pt x="253008" y="107900"/>
                </a:cubicBezTo>
                <a:cubicBezTo>
                  <a:pt x="234526" y="107900"/>
                  <a:pt x="219521" y="92896"/>
                  <a:pt x="219521" y="74414"/>
                </a:cubicBezTo>
                <a:close/>
                <a:moveTo>
                  <a:pt x="74414" y="200918"/>
                </a:moveTo>
                <a:cubicBezTo>
                  <a:pt x="74414" y="159804"/>
                  <a:pt x="107714" y="126504"/>
                  <a:pt x="148828" y="126504"/>
                </a:cubicBezTo>
                <a:cubicBezTo>
                  <a:pt x="189942" y="126504"/>
                  <a:pt x="223242" y="159804"/>
                  <a:pt x="223242" y="200918"/>
                </a:cubicBezTo>
                <a:lnTo>
                  <a:pt x="223242" y="208359"/>
                </a:lnTo>
                <a:cubicBezTo>
                  <a:pt x="223242" y="216591"/>
                  <a:pt x="216591" y="223242"/>
                  <a:pt x="208359" y="223242"/>
                </a:cubicBezTo>
                <a:lnTo>
                  <a:pt x="89297" y="223242"/>
                </a:lnTo>
                <a:cubicBezTo>
                  <a:pt x="81065" y="223242"/>
                  <a:pt x="74414" y="216591"/>
                  <a:pt x="74414" y="208359"/>
                </a:cubicBezTo>
                <a:lnTo>
                  <a:pt x="74414" y="200918"/>
                </a:lnTo>
                <a:close/>
              </a:path>
            </a:pathLst>
          </a:custGeom>
          <a:solidFill>
            <a:srgbClr val="2A4D53"/>
          </a:solidFill>
          <a:ln/>
        </p:spPr>
      </p:sp>
      <p:sp>
        <p:nvSpPr>
          <p:cNvPr id="30" name="Text 28"/>
          <p:cNvSpPr/>
          <p:nvPr/>
        </p:nvSpPr>
        <p:spPr>
          <a:xfrm>
            <a:off x="5737200" y="2079625"/>
            <a:ext cx="2587625" cy="190500"/>
          </a:xfrm>
          <a:prstGeom prst="rect">
            <a:avLst/>
          </a:prstGeom>
          <a:noFill/>
          <a:ln/>
        </p:spPr>
        <p:txBody>
          <a:bodyPr wrap="square" lIns="0" tIns="0" rIns="0" bIns="0" rtlCol="0" anchor="ctr"/>
          <a:lstStyle/>
          <a:p>
            <a:pPr algn="ct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Population Data</a:t>
            </a:r>
            <a:endParaRPr lang="en-US" sz="1600" dirty="0"/>
          </a:p>
        </p:txBody>
      </p:sp>
      <p:sp>
        <p:nvSpPr>
          <p:cNvPr id="31" name="Text 29"/>
          <p:cNvSpPr/>
          <p:nvPr/>
        </p:nvSpPr>
        <p:spPr>
          <a:xfrm>
            <a:off x="5741169" y="2270125"/>
            <a:ext cx="2579688" cy="158750"/>
          </a:xfrm>
          <a:prstGeom prst="rect">
            <a:avLst/>
          </a:prstGeom>
          <a:noFill/>
          <a:ln/>
        </p:spPr>
        <p:txBody>
          <a:bodyPr wrap="square" lIns="0" tIns="0" rIns="0" bIns="0" rtlCol="0" anchor="ctr"/>
          <a:lstStyle/>
          <a:p>
            <a:pPr algn="ctr">
              <a:lnSpc>
                <a:spcPct val="120000"/>
              </a:lnSpc>
            </a:pPr>
            <a:r>
              <a:rPr lang="en-US" sz="1300" b="1" dirty="0">
                <a:solidFill>
                  <a:srgbClr val="A9A299"/>
                </a:solidFill>
                <a:latin typeface="Quattrocento Sans" pitchFamily="34" charset="0"/>
                <a:ea typeface="Quattrocento Sans" pitchFamily="34" charset="-122"/>
                <a:cs typeface="Quattrocento Sans" pitchFamily="34" charset="-120"/>
              </a:rPr>
              <a:t>Hundreds of thousands</a:t>
            </a:r>
            <a:endParaRPr lang="en-US" sz="1300" b="1" dirty="0"/>
          </a:p>
        </p:txBody>
      </p:sp>
      <p:sp>
        <p:nvSpPr>
          <p:cNvPr id="32" name="Shape 30"/>
          <p:cNvSpPr/>
          <p:nvPr/>
        </p:nvSpPr>
        <p:spPr>
          <a:xfrm>
            <a:off x="8579569" y="2008187"/>
            <a:ext cx="166688" cy="190500"/>
          </a:xfrm>
          <a:custGeom>
            <a:avLst/>
            <a:gdLst/>
            <a:ahLst/>
            <a:cxnLst/>
            <a:rect l="l" t="t" r="r" b="b"/>
            <a:pathLst>
              <a:path w="166688" h="190500">
                <a:moveTo>
                  <a:pt x="95250" y="23812"/>
                </a:moveTo>
                <a:cubicBezTo>
                  <a:pt x="95250" y="17227"/>
                  <a:pt x="89929" y="11906"/>
                  <a:pt x="83344" y="11906"/>
                </a:cubicBezTo>
                <a:cubicBezTo>
                  <a:pt x="76758" y="11906"/>
                  <a:pt x="71438" y="17227"/>
                  <a:pt x="71438" y="23812"/>
                </a:cubicBezTo>
                <a:lnTo>
                  <a:pt x="71438" y="83344"/>
                </a:lnTo>
                <a:lnTo>
                  <a:pt x="11906" y="83344"/>
                </a:lnTo>
                <a:cubicBezTo>
                  <a:pt x="5321" y="83344"/>
                  <a:pt x="0" y="88664"/>
                  <a:pt x="0" y="95250"/>
                </a:cubicBezTo>
                <a:cubicBezTo>
                  <a:pt x="0" y="101836"/>
                  <a:pt x="5321" y="107156"/>
                  <a:pt x="11906" y="107156"/>
                </a:cubicBezTo>
                <a:lnTo>
                  <a:pt x="71438" y="107156"/>
                </a:lnTo>
                <a:lnTo>
                  <a:pt x="71438" y="166688"/>
                </a:lnTo>
                <a:cubicBezTo>
                  <a:pt x="71438" y="173273"/>
                  <a:pt x="76758" y="178594"/>
                  <a:pt x="83344" y="178594"/>
                </a:cubicBezTo>
                <a:cubicBezTo>
                  <a:pt x="89929" y="178594"/>
                  <a:pt x="95250" y="173273"/>
                  <a:pt x="95250" y="166688"/>
                </a:cubicBezTo>
                <a:lnTo>
                  <a:pt x="95250" y="107156"/>
                </a:lnTo>
                <a:lnTo>
                  <a:pt x="154781" y="107156"/>
                </a:lnTo>
                <a:cubicBezTo>
                  <a:pt x="161367" y="107156"/>
                  <a:pt x="166688" y="101836"/>
                  <a:pt x="166688" y="95250"/>
                </a:cubicBezTo>
                <a:cubicBezTo>
                  <a:pt x="166688" y="88664"/>
                  <a:pt x="161367" y="83344"/>
                  <a:pt x="154781" y="83344"/>
                </a:cubicBezTo>
                <a:lnTo>
                  <a:pt x="95250" y="83344"/>
                </a:lnTo>
                <a:lnTo>
                  <a:pt x="95250" y="23812"/>
                </a:lnTo>
                <a:close/>
              </a:path>
            </a:pathLst>
          </a:custGeom>
          <a:solidFill>
            <a:srgbClr val="C87E62"/>
          </a:solidFill>
          <a:ln/>
        </p:spPr>
      </p:sp>
      <p:sp>
        <p:nvSpPr>
          <p:cNvPr id="33" name="Shape 31"/>
          <p:cNvSpPr/>
          <p:nvPr/>
        </p:nvSpPr>
        <p:spPr>
          <a:xfrm>
            <a:off x="8908976" y="1651000"/>
            <a:ext cx="2778125" cy="904875"/>
          </a:xfrm>
          <a:custGeom>
            <a:avLst/>
            <a:gdLst/>
            <a:ahLst/>
            <a:cxnLst/>
            <a:rect l="l" t="t" r="r" b="b"/>
            <a:pathLst>
              <a:path w="2778125" h="904875">
                <a:moveTo>
                  <a:pt x="0" y="0"/>
                </a:moveTo>
                <a:lnTo>
                  <a:pt x="2778125" y="0"/>
                </a:lnTo>
                <a:lnTo>
                  <a:pt x="2778125" y="904875"/>
                </a:lnTo>
                <a:lnTo>
                  <a:pt x="0" y="904875"/>
                </a:lnTo>
                <a:lnTo>
                  <a:pt x="0" y="0"/>
                </a:lnTo>
                <a:close/>
              </a:path>
            </a:pathLst>
          </a:custGeom>
          <a:solidFill>
            <a:srgbClr val="C87E62">
              <a:alpha val="10196"/>
            </a:srgbClr>
          </a:solidFill>
          <a:ln/>
        </p:spPr>
      </p:sp>
      <p:sp>
        <p:nvSpPr>
          <p:cNvPr id="34" name="Shape 32"/>
          <p:cNvSpPr/>
          <p:nvPr/>
        </p:nvSpPr>
        <p:spPr>
          <a:xfrm>
            <a:off x="10179348" y="1778000"/>
            <a:ext cx="238125" cy="238125"/>
          </a:xfrm>
          <a:custGeom>
            <a:avLst/>
            <a:gdLst/>
            <a:ahLst/>
            <a:cxnLst/>
            <a:rect l="l" t="t" r="r" b="b"/>
            <a:pathLst>
              <a:path w="238125" h="238125">
                <a:moveTo>
                  <a:pt x="238125" y="44648"/>
                </a:moveTo>
                <a:cubicBezTo>
                  <a:pt x="238125" y="67996"/>
                  <a:pt x="210638" y="102831"/>
                  <a:pt x="198779" y="116737"/>
                </a:cubicBezTo>
                <a:cubicBezTo>
                  <a:pt x="197011" y="118783"/>
                  <a:pt x="194407" y="119574"/>
                  <a:pt x="192035" y="119062"/>
                </a:cubicBezTo>
                <a:lnTo>
                  <a:pt x="148828" y="119062"/>
                </a:lnTo>
                <a:cubicBezTo>
                  <a:pt x="140596" y="119062"/>
                  <a:pt x="133945" y="125713"/>
                  <a:pt x="133945" y="133945"/>
                </a:cubicBezTo>
                <a:cubicBezTo>
                  <a:pt x="133945" y="142177"/>
                  <a:pt x="140596" y="148828"/>
                  <a:pt x="148828" y="148828"/>
                </a:cubicBezTo>
                <a:lnTo>
                  <a:pt x="193477" y="148828"/>
                </a:lnTo>
                <a:cubicBezTo>
                  <a:pt x="218126" y="148828"/>
                  <a:pt x="238125" y="168827"/>
                  <a:pt x="238125" y="193477"/>
                </a:cubicBezTo>
                <a:cubicBezTo>
                  <a:pt x="238125" y="218126"/>
                  <a:pt x="218126" y="238125"/>
                  <a:pt x="193477" y="238125"/>
                </a:cubicBezTo>
                <a:lnTo>
                  <a:pt x="64926" y="238125"/>
                </a:lnTo>
                <a:cubicBezTo>
                  <a:pt x="68973" y="233521"/>
                  <a:pt x="73902" y="227614"/>
                  <a:pt x="78879" y="221010"/>
                </a:cubicBezTo>
                <a:cubicBezTo>
                  <a:pt x="81809" y="217103"/>
                  <a:pt x="84832" y="212824"/>
                  <a:pt x="87716" y="208359"/>
                </a:cubicBezTo>
                <a:lnTo>
                  <a:pt x="193477" y="208359"/>
                </a:lnTo>
                <a:cubicBezTo>
                  <a:pt x="201709" y="208359"/>
                  <a:pt x="208359" y="201709"/>
                  <a:pt x="208359" y="193477"/>
                </a:cubicBezTo>
                <a:cubicBezTo>
                  <a:pt x="208359" y="185245"/>
                  <a:pt x="201709" y="178594"/>
                  <a:pt x="193477" y="178594"/>
                </a:cubicBezTo>
                <a:lnTo>
                  <a:pt x="148828" y="178594"/>
                </a:lnTo>
                <a:cubicBezTo>
                  <a:pt x="124178" y="178594"/>
                  <a:pt x="104180" y="158595"/>
                  <a:pt x="104180" y="133945"/>
                </a:cubicBezTo>
                <a:cubicBezTo>
                  <a:pt x="104180" y="109296"/>
                  <a:pt x="124178" y="89297"/>
                  <a:pt x="148828" y="89297"/>
                </a:cubicBezTo>
                <a:lnTo>
                  <a:pt x="167339" y="89297"/>
                </a:lnTo>
                <a:cubicBezTo>
                  <a:pt x="157572" y="74647"/>
                  <a:pt x="148828" y="57810"/>
                  <a:pt x="148828" y="44648"/>
                </a:cubicBezTo>
                <a:cubicBezTo>
                  <a:pt x="148828" y="19999"/>
                  <a:pt x="168827" y="0"/>
                  <a:pt x="193477" y="0"/>
                </a:cubicBezTo>
                <a:cubicBezTo>
                  <a:pt x="218126" y="0"/>
                  <a:pt x="238125" y="19999"/>
                  <a:pt x="238125" y="44648"/>
                </a:cubicBezTo>
                <a:close/>
                <a:moveTo>
                  <a:pt x="54462" y="227474"/>
                </a:moveTo>
                <a:cubicBezTo>
                  <a:pt x="52694" y="229474"/>
                  <a:pt x="51113" y="231242"/>
                  <a:pt x="49764" y="232730"/>
                </a:cubicBezTo>
                <a:lnTo>
                  <a:pt x="48927" y="233660"/>
                </a:lnTo>
                <a:lnTo>
                  <a:pt x="48834" y="233567"/>
                </a:lnTo>
                <a:cubicBezTo>
                  <a:pt x="46044" y="235707"/>
                  <a:pt x="42044" y="235427"/>
                  <a:pt x="39532" y="232730"/>
                </a:cubicBezTo>
                <a:cubicBezTo>
                  <a:pt x="27812" y="219987"/>
                  <a:pt x="0" y="187198"/>
                  <a:pt x="0" y="163711"/>
                </a:cubicBezTo>
                <a:cubicBezTo>
                  <a:pt x="0" y="139061"/>
                  <a:pt x="19999" y="119062"/>
                  <a:pt x="44648" y="119062"/>
                </a:cubicBezTo>
                <a:cubicBezTo>
                  <a:pt x="69298" y="119062"/>
                  <a:pt x="89297" y="139061"/>
                  <a:pt x="89297" y="163711"/>
                </a:cubicBezTo>
                <a:cubicBezTo>
                  <a:pt x="89297" y="177664"/>
                  <a:pt x="79484" y="194872"/>
                  <a:pt x="69066" y="209243"/>
                </a:cubicBezTo>
                <a:cubicBezTo>
                  <a:pt x="64089" y="216080"/>
                  <a:pt x="58973" y="222266"/>
                  <a:pt x="54741" y="227149"/>
                </a:cubicBezTo>
                <a:lnTo>
                  <a:pt x="54462" y="227474"/>
                </a:lnTo>
                <a:close/>
                <a:moveTo>
                  <a:pt x="59531" y="163711"/>
                </a:moveTo>
                <a:cubicBezTo>
                  <a:pt x="59531" y="155497"/>
                  <a:pt x="52862" y="148828"/>
                  <a:pt x="44648" y="148828"/>
                </a:cubicBezTo>
                <a:cubicBezTo>
                  <a:pt x="36434" y="148828"/>
                  <a:pt x="29766" y="155497"/>
                  <a:pt x="29766" y="163711"/>
                </a:cubicBezTo>
                <a:cubicBezTo>
                  <a:pt x="29766" y="171925"/>
                  <a:pt x="36434" y="178594"/>
                  <a:pt x="44648" y="178594"/>
                </a:cubicBezTo>
                <a:cubicBezTo>
                  <a:pt x="52862" y="178594"/>
                  <a:pt x="59531" y="171925"/>
                  <a:pt x="59531" y="163711"/>
                </a:cubicBezTo>
                <a:close/>
                <a:moveTo>
                  <a:pt x="193477" y="59531"/>
                </a:moveTo>
                <a:cubicBezTo>
                  <a:pt x="201691" y="59531"/>
                  <a:pt x="208359" y="52862"/>
                  <a:pt x="208359" y="44648"/>
                </a:cubicBezTo>
                <a:cubicBezTo>
                  <a:pt x="208359" y="36434"/>
                  <a:pt x="201691" y="29766"/>
                  <a:pt x="193477" y="29766"/>
                </a:cubicBezTo>
                <a:cubicBezTo>
                  <a:pt x="185263" y="29766"/>
                  <a:pt x="178594" y="36434"/>
                  <a:pt x="178594" y="44648"/>
                </a:cubicBezTo>
                <a:cubicBezTo>
                  <a:pt x="178594" y="52862"/>
                  <a:pt x="185263" y="59531"/>
                  <a:pt x="193477" y="59531"/>
                </a:cubicBezTo>
                <a:close/>
              </a:path>
            </a:pathLst>
          </a:custGeom>
          <a:solidFill>
            <a:srgbClr val="C87E62"/>
          </a:solidFill>
          <a:ln/>
        </p:spPr>
      </p:sp>
      <p:sp>
        <p:nvSpPr>
          <p:cNvPr id="35" name="Text 33"/>
          <p:cNvSpPr/>
          <p:nvPr/>
        </p:nvSpPr>
        <p:spPr>
          <a:xfrm>
            <a:off x="9004226" y="2079625"/>
            <a:ext cx="2587625" cy="190500"/>
          </a:xfrm>
          <a:prstGeom prst="rect">
            <a:avLst/>
          </a:prstGeom>
          <a:noFill/>
          <a:ln/>
        </p:spPr>
        <p:txBody>
          <a:bodyPr wrap="square" lIns="0" tIns="0" rIns="0" bIns="0" rtlCol="0" anchor="ctr"/>
          <a:lstStyle/>
          <a:p>
            <a:pPr algn="ctr">
              <a:lnSpc>
                <a:spcPct val="130000"/>
              </a:lnSpc>
            </a:pPr>
            <a:r>
              <a:rPr lang="en-US" sz="1500" b="1" dirty="0">
                <a:solidFill>
                  <a:srgbClr val="2A4D53"/>
                </a:solidFill>
                <a:latin typeface="Quattrocento Sans" pitchFamily="34" charset="0"/>
                <a:ea typeface="Quattrocento Sans" pitchFamily="34" charset="-122"/>
                <a:cs typeface="Quattrocento Sans" pitchFamily="34" charset="-120"/>
              </a:rPr>
              <a:t>Distance Data</a:t>
            </a:r>
            <a:endParaRPr lang="en-US" sz="1500" dirty="0"/>
          </a:p>
        </p:txBody>
      </p:sp>
      <p:sp>
        <p:nvSpPr>
          <p:cNvPr id="36" name="Text 34"/>
          <p:cNvSpPr/>
          <p:nvPr/>
        </p:nvSpPr>
        <p:spPr>
          <a:xfrm>
            <a:off x="9008194" y="2270125"/>
            <a:ext cx="2579688" cy="158750"/>
          </a:xfrm>
          <a:prstGeom prst="rect">
            <a:avLst/>
          </a:prstGeom>
          <a:noFill/>
          <a:ln/>
        </p:spPr>
        <p:txBody>
          <a:bodyPr wrap="square" lIns="0" tIns="0" rIns="0" bIns="0" rtlCol="0" anchor="ctr"/>
          <a:lstStyle/>
          <a:p>
            <a:pPr algn="ctr">
              <a:lnSpc>
                <a:spcPct val="120000"/>
              </a:lnSpc>
            </a:pPr>
            <a:r>
              <a:rPr lang="en-US" sz="1300" dirty="0">
                <a:solidFill>
                  <a:srgbClr val="A9A299"/>
                </a:solidFill>
                <a:latin typeface="Quattrocento Sans" pitchFamily="34" charset="0"/>
                <a:ea typeface="Quattrocento Sans" pitchFamily="34" charset="-122"/>
                <a:cs typeface="Quattrocento Sans" pitchFamily="34" charset="-120"/>
              </a:rPr>
              <a:t>Single-digit kilometers</a:t>
            </a:r>
            <a:endParaRPr lang="en-US" sz="1300" dirty="0"/>
          </a:p>
        </p:txBody>
      </p:sp>
      <p:sp>
        <p:nvSpPr>
          <p:cNvPr id="37" name="Shape 35"/>
          <p:cNvSpPr/>
          <p:nvPr/>
        </p:nvSpPr>
        <p:spPr>
          <a:xfrm>
            <a:off x="8575601" y="2682875"/>
            <a:ext cx="178594" cy="238125"/>
          </a:xfrm>
          <a:custGeom>
            <a:avLst/>
            <a:gdLst/>
            <a:ahLst/>
            <a:cxnLst/>
            <a:rect l="l" t="t" r="r" b="b"/>
            <a:pathLst>
              <a:path w="178594" h="238125">
                <a:moveTo>
                  <a:pt x="78786" y="233753"/>
                </a:moveTo>
                <a:cubicBezTo>
                  <a:pt x="84599" y="239567"/>
                  <a:pt x="94041" y="239567"/>
                  <a:pt x="99854" y="233753"/>
                </a:cubicBezTo>
                <a:lnTo>
                  <a:pt x="174268" y="159339"/>
                </a:lnTo>
                <a:cubicBezTo>
                  <a:pt x="180082" y="153526"/>
                  <a:pt x="180082" y="144084"/>
                  <a:pt x="174268" y="138271"/>
                </a:cubicBezTo>
                <a:cubicBezTo>
                  <a:pt x="168455" y="132457"/>
                  <a:pt x="159014" y="132457"/>
                  <a:pt x="153200" y="138271"/>
                </a:cubicBezTo>
                <a:lnTo>
                  <a:pt x="104180" y="187291"/>
                </a:lnTo>
                <a:lnTo>
                  <a:pt x="104180" y="14883"/>
                </a:lnTo>
                <a:cubicBezTo>
                  <a:pt x="104180" y="6651"/>
                  <a:pt x="97529" y="0"/>
                  <a:pt x="89297" y="0"/>
                </a:cubicBezTo>
                <a:cubicBezTo>
                  <a:pt x="81065" y="0"/>
                  <a:pt x="74414" y="6651"/>
                  <a:pt x="74414" y="14883"/>
                </a:cubicBezTo>
                <a:lnTo>
                  <a:pt x="74414" y="187291"/>
                </a:lnTo>
                <a:lnTo>
                  <a:pt x="25394" y="138271"/>
                </a:lnTo>
                <a:cubicBezTo>
                  <a:pt x="19580" y="132457"/>
                  <a:pt x="10139" y="132457"/>
                  <a:pt x="4325" y="138271"/>
                </a:cubicBezTo>
                <a:cubicBezTo>
                  <a:pt x="-1488" y="144084"/>
                  <a:pt x="-1488" y="153526"/>
                  <a:pt x="4325" y="159339"/>
                </a:cubicBezTo>
                <a:lnTo>
                  <a:pt x="78739" y="233753"/>
                </a:lnTo>
                <a:close/>
              </a:path>
            </a:pathLst>
          </a:custGeom>
          <a:solidFill>
            <a:srgbClr val="2A4D53"/>
          </a:solidFill>
          <a:ln/>
        </p:spPr>
      </p:sp>
      <p:sp>
        <p:nvSpPr>
          <p:cNvPr id="38" name="Shape 36"/>
          <p:cNvSpPr/>
          <p:nvPr/>
        </p:nvSpPr>
        <p:spPr>
          <a:xfrm>
            <a:off x="5641950" y="3048000"/>
            <a:ext cx="6040438" cy="1031875"/>
          </a:xfrm>
          <a:custGeom>
            <a:avLst/>
            <a:gdLst/>
            <a:ahLst/>
            <a:cxnLst/>
            <a:rect l="l" t="t" r="r" b="b"/>
            <a:pathLst>
              <a:path w="6040438" h="1031875">
                <a:moveTo>
                  <a:pt x="0" y="0"/>
                </a:moveTo>
                <a:lnTo>
                  <a:pt x="6040438" y="0"/>
                </a:lnTo>
                <a:lnTo>
                  <a:pt x="6040438" y="1031875"/>
                </a:lnTo>
                <a:lnTo>
                  <a:pt x="0" y="1031875"/>
                </a:lnTo>
                <a:lnTo>
                  <a:pt x="0" y="0"/>
                </a:lnTo>
                <a:close/>
              </a:path>
            </a:pathLst>
          </a:custGeom>
          <a:solidFill>
            <a:srgbClr val="2A4D53"/>
          </a:solidFill>
          <a:ln/>
        </p:spPr>
      </p:sp>
      <p:sp>
        <p:nvSpPr>
          <p:cNvPr id="39" name="Shape 37"/>
          <p:cNvSpPr/>
          <p:nvPr/>
        </p:nvSpPr>
        <p:spPr>
          <a:xfrm>
            <a:off x="8545835" y="3175000"/>
            <a:ext cx="238125" cy="238125"/>
          </a:xfrm>
          <a:custGeom>
            <a:avLst/>
            <a:gdLst/>
            <a:ahLst/>
            <a:cxnLst/>
            <a:rect l="l" t="t" r="r" b="b"/>
            <a:pathLst>
              <a:path w="238125" h="238125">
                <a:moveTo>
                  <a:pt x="212080" y="104180"/>
                </a:moveTo>
                <a:lnTo>
                  <a:pt x="145107" y="104180"/>
                </a:lnTo>
                <a:cubicBezTo>
                  <a:pt x="138922" y="104180"/>
                  <a:pt x="133945" y="99203"/>
                  <a:pt x="133945" y="93018"/>
                </a:cubicBezTo>
                <a:lnTo>
                  <a:pt x="133945" y="26045"/>
                </a:lnTo>
                <a:cubicBezTo>
                  <a:pt x="133945" y="21534"/>
                  <a:pt x="136643" y="17441"/>
                  <a:pt x="140829" y="15720"/>
                </a:cubicBezTo>
                <a:cubicBezTo>
                  <a:pt x="145014" y="13999"/>
                  <a:pt x="149805" y="14976"/>
                  <a:pt x="153014" y="18138"/>
                </a:cubicBezTo>
                <a:lnTo>
                  <a:pt x="171617" y="36742"/>
                </a:lnTo>
                <a:lnTo>
                  <a:pt x="205755" y="2604"/>
                </a:lnTo>
                <a:cubicBezTo>
                  <a:pt x="207429" y="930"/>
                  <a:pt x="209708" y="0"/>
                  <a:pt x="212080" y="0"/>
                </a:cubicBezTo>
                <a:cubicBezTo>
                  <a:pt x="214452" y="0"/>
                  <a:pt x="216731" y="930"/>
                  <a:pt x="218452" y="2651"/>
                </a:cubicBezTo>
                <a:lnTo>
                  <a:pt x="235521" y="19720"/>
                </a:lnTo>
                <a:cubicBezTo>
                  <a:pt x="237195" y="21394"/>
                  <a:pt x="238125" y="23673"/>
                  <a:pt x="238125" y="26045"/>
                </a:cubicBezTo>
                <a:cubicBezTo>
                  <a:pt x="238125" y="28417"/>
                  <a:pt x="237195" y="30696"/>
                  <a:pt x="235474" y="32417"/>
                </a:cubicBezTo>
                <a:lnTo>
                  <a:pt x="201383" y="66508"/>
                </a:lnTo>
                <a:lnTo>
                  <a:pt x="219987" y="85111"/>
                </a:lnTo>
                <a:cubicBezTo>
                  <a:pt x="223196" y="88320"/>
                  <a:pt x="224126" y="93111"/>
                  <a:pt x="222405" y="97296"/>
                </a:cubicBezTo>
                <a:cubicBezTo>
                  <a:pt x="220684" y="101482"/>
                  <a:pt x="216591" y="104180"/>
                  <a:pt x="212080" y="104180"/>
                </a:cubicBezTo>
                <a:close/>
                <a:moveTo>
                  <a:pt x="212080" y="133945"/>
                </a:moveTo>
                <a:cubicBezTo>
                  <a:pt x="216591" y="133945"/>
                  <a:pt x="220684" y="136643"/>
                  <a:pt x="222405" y="140829"/>
                </a:cubicBezTo>
                <a:cubicBezTo>
                  <a:pt x="224126" y="145014"/>
                  <a:pt x="223196" y="149805"/>
                  <a:pt x="219987" y="153014"/>
                </a:cubicBezTo>
                <a:lnTo>
                  <a:pt x="201383" y="171617"/>
                </a:lnTo>
                <a:lnTo>
                  <a:pt x="235521" y="205755"/>
                </a:lnTo>
                <a:cubicBezTo>
                  <a:pt x="237195" y="207429"/>
                  <a:pt x="238172" y="209708"/>
                  <a:pt x="238172" y="212127"/>
                </a:cubicBezTo>
                <a:cubicBezTo>
                  <a:pt x="238172" y="214545"/>
                  <a:pt x="237241" y="216777"/>
                  <a:pt x="235521" y="218498"/>
                </a:cubicBezTo>
                <a:lnTo>
                  <a:pt x="218452" y="235567"/>
                </a:lnTo>
                <a:cubicBezTo>
                  <a:pt x="216731" y="237195"/>
                  <a:pt x="214452" y="238125"/>
                  <a:pt x="212080" y="238125"/>
                </a:cubicBezTo>
                <a:cubicBezTo>
                  <a:pt x="209708" y="238125"/>
                  <a:pt x="207429" y="237195"/>
                  <a:pt x="205708" y="235474"/>
                </a:cubicBezTo>
                <a:lnTo>
                  <a:pt x="171617" y="201383"/>
                </a:lnTo>
                <a:lnTo>
                  <a:pt x="153014" y="219987"/>
                </a:lnTo>
                <a:cubicBezTo>
                  <a:pt x="149805" y="223196"/>
                  <a:pt x="145014" y="224126"/>
                  <a:pt x="140829" y="222405"/>
                </a:cubicBezTo>
                <a:cubicBezTo>
                  <a:pt x="136643" y="220684"/>
                  <a:pt x="133945" y="216591"/>
                  <a:pt x="133945" y="212080"/>
                </a:cubicBezTo>
                <a:lnTo>
                  <a:pt x="133945" y="145107"/>
                </a:lnTo>
                <a:cubicBezTo>
                  <a:pt x="133945" y="138922"/>
                  <a:pt x="138922" y="133945"/>
                  <a:pt x="145107" y="133945"/>
                </a:cubicBezTo>
                <a:lnTo>
                  <a:pt x="212080" y="133945"/>
                </a:lnTo>
                <a:close/>
                <a:moveTo>
                  <a:pt x="93018" y="133945"/>
                </a:moveTo>
                <a:cubicBezTo>
                  <a:pt x="99203" y="133945"/>
                  <a:pt x="104180" y="138922"/>
                  <a:pt x="104180" y="145107"/>
                </a:cubicBezTo>
                <a:lnTo>
                  <a:pt x="104180" y="212080"/>
                </a:lnTo>
                <a:cubicBezTo>
                  <a:pt x="104180" y="216591"/>
                  <a:pt x="101482" y="220684"/>
                  <a:pt x="97296" y="222405"/>
                </a:cubicBezTo>
                <a:cubicBezTo>
                  <a:pt x="93111" y="224126"/>
                  <a:pt x="88320" y="223196"/>
                  <a:pt x="85111" y="219987"/>
                </a:cubicBezTo>
                <a:lnTo>
                  <a:pt x="66508" y="201383"/>
                </a:lnTo>
                <a:lnTo>
                  <a:pt x="32370" y="235521"/>
                </a:lnTo>
                <a:cubicBezTo>
                  <a:pt x="30696" y="237195"/>
                  <a:pt x="28417" y="238125"/>
                  <a:pt x="26045" y="238125"/>
                </a:cubicBezTo>
                <a:cubicBezTo>
                  <a:pt x="23673" y="238125"/>
                  <a:pt x="21394" y="237195"/>
                  <a:pt x="19673" y="235474"/>
                </a:cubicBezTo>
                <a:lnTo>
                  <a:pt x="2651" y="218452"/>
                </a:lnTo>
                <a:cubicBezTo>
                  <a:pt x="930" y="216731"/>
                  <a:pt x="0" y="214452"/>
                  <a:pt x="0" y="212080"/>
                </a:cubicBezTo>
                <a:cubicBezTo>
                  <a:pt x="0" y="209708"/>
                  <a:pt x="930" y="207429"/>
                  <a:pt x="2651" y="205708"/>
                </a:cubicBezTo>
                <a:lnTo>
                  <a:pt x="36742" y="171617"/>
                </a:lnTo>
                <a:lnTo>
                  <a:pt x="18138" y="153014"/>
                </a:lnTo>
                <a:cubicBezTo>
                  <a:pt x="14929" y="149805"/>
                  <a:pt x="13999" y="145014"/>
                  <a:pt x="15720" y="140829"/>
                </a:cubicBezTo>
                <a:cubicBezTo>
                  <a:pt x="17441" y="136643"/>
                  <a:pt x="21534" y="133945"/>
                  <a:pt x="26045" y="133945"/>
                </a:cubicBezTo>
                <a:lnTo>
                  <a:pt x="93018" y="133945"/>
                </a:lnTo>
                <a:close/>
                <a:moveTo>
                  <a:pt x="26045" y="104180"/>
                </a:moveTo>
                <a:cubicBezTo>
                  <a:pt x="21534" y="104180"/>
                  <a:pt x="17441" y="101482"/>
                  <a:pt x="15720" y="97296"/>
                </a:cubicBezTo>
                <a:cubicBezTo>
                  <a:pt x="13999" y="93111"/>
                  <a:pt x="14976" y="88320"/>
                  <a:pt x="18138" y="85111"/>
                </a:cubicBezTo>
                <a:lnTo>
                  <a:pt x="36742" y="66508"/>
                </a:lnTo>
                <a:lnTo>
                  <a:pt x="2651" y="32417"/>
                </a:lnTo>
                <a:cubicBezTo>
                  <a:pt x="930" y="30696"/>
                  <a:pt x="0" y="28417"/>
                  <a:pt x="0" y="26045"/>
                </a:cubicBezTo>
                <a:cubicBezTo>
                  <a:pt x="0" y="23673"/>
                  <a:pt x="930" y="21394"/>
                  <a:pt x="2651" y="19673"/>
                </a:cubicBezTo>
                <a:lnTo>
                  <a:pt x="19673" y="2651"/>
                </a:lnTo>
                <a:cubicBezTo>
                  <a:pt x="21394" y="930"/>
                  <a:pt x="23673" y="0"/>
                  <a:pt x="26045" y="0"/>
                </a:cubicBezTo>
                <a:cubicBezTo>
                  <a:pt x="28417" y="0"/>
                  <a:pt x="30696" y="930"/>
                  <a:pt x="32417" y="2651"/>
                </a:cubicBezTo>
                <a:lnTo>
                  <a:pt x="66508" y="36742"/>
                </a:lnTo>
                <a:lnTo>
                  <a:pt x="85111" y="18138"/>
                </a:lnTo>
                <a:cubicBezTo>
                  <a:pt x="88320" y="14929"/>
                  <a:pt x="93111" y="13999"/>
                  <a:pt x="97296" y="15720"/>
                </a:cubicBezTo>
                <a:cubicBezTo>
                  <a:pt x="101482" y="17441"/>
                  <a:pt x="104180" y="21534"/>
                  <a:pt x="104180" y="26045"/>
                </a:cubicBezTo>
                <a:lnTo>
                  <a:pt x="104180" y="93018"/>
                </a:lnTo>
                <a:cubicBezTo>
                  <a:pt x="104180" y="99203"/>
                  <a:pt x="99203" y="104180"/>
                  <a:pt x="93018" y="104180"/>
                </a:cubicBezTo>
                <a:lnTo>
                  <a:pt x="26045" y="104180"/>
                </a:lnTo>
                <a:close/>
              </a:path>
            </a:pathLst>
          </a:custGeom>
          <a:solidFill>
            <a:srgbClr val="C87E62"/>
          </a:solidFill>
          <a:ln/>
        </p:spPr>
      </p:sp>
      <p:sp>
        <p:nvSpPr>
          <p:cNvPr id="40" name="Text 38"/>
          <p:cNvSpPr/>
          <p:nvPr/>
        </p:nvSpPr>
        <p:spPr>
          <a:xfrm>
            <a:off x="5729263" y="3476625"/>
            <a:ext cx="5865813" cy="222250"/>
          </a:xfrm>
          <a:prstGeom prst="rect">
            <a:avLst/>
          </a:prstGeom>
          <a:noFill/>
          <a:ln/>
        </p:spPr>
        <p:txBody>
          <a:bodyPr wrap="square" lIns="0" tIns="0" rIns="0" bIns="0" rtlCol="0" anchor="ctr"/>
          <a:lstStyle/>
          <a:p>
            <a:pPr algn="ctr">
              <a:lnSpc>
                <a:spcPct val="120000"/>
              </a:lnSpc>
            </a:pPr>
            <a:r>
              <a:rPr lang="en-US" sz="1500" b="1" dirty="0">
                <a:solidFill>
                  <a:srgbClr val="F8F7F5"/>
                </a:solidFill>
                <a:latin typeface="Liter" pitchFamily="34" charset="0"/>
                <a:ea typeface="Liter" pitchFamily="34" charset="-122"/>
                <a:cs typeface="Liter" pitchFamily="34" charset="-120"/>
              </a:rPr>
              <a:t>Normalization Process</a:t>
            </a:r>
            <a:endParaRPr lang="en-US" sz="1500" dirty="0"/>
          </a:p>
        </p:txBody>
      </p:sp>
      <p:sp>
        <p:nvSpPr>
          <p:cNvPr id="41" name="Text 39"/>
          <p:cNvSpPr/>
          <p:nvPr/>
        </p:nvSpPr>
        <p:spPr>
          <a:xfrm>
            <a:off x="5737200" y="3762375"/>
            <a:ext cx="5849938" cy="190500"/>
          </a:xfrm>
          <a:prstGeom prst="rect">
            <a:avLst/>
          </a:prstGeom>
          <a:noFill/>
          <a:ln/>
        </p:spPr>
        <p:txBody>
          <a:bodyPr wrap="square" lIns="0" tIns="0" rIns="0" bIns="0" rtlCol="0" anchor="ctr"/>
          <a:lstStyle/>
          <a:p>
            <a:pPr algn="ctr">
              <a:lnSpc>
                <a:spcPct val="130000"/>
              </a:lnSpc>
            </a:pPr>
            <a:r>
              <a:rPr lang="en-US" sz="1300" b="1" dirty="0">
                <a:solidFill>
                  <a:srgbClr val="F8F7F5"/>
                </a:solidFill>
                <a:latin typeface="Quattrocento Sans" pitchFamily="34" charset="0"/>
                <a:ea typeface="Quattrocento Sans" pitchFamily="34" charset="-122"/>
                <a:cs typeface="Quattrocento Sans" pitchFamily="34" charset="-120"/>
              </a:rPr>
              <a:t>Scale both metrics to 0.0 - 1.0 range</a:t>
            </a:r>
            <a:endParaRPr lang="en-US" sz="1300" b="1" dirty="0"/>
          </a:p>
        </p:txBody>
      </p:sp>
      <p:sp>
        <p:nvSpPr>
          <p:cNvPr id="42" name="Shape 40"/>
          <p:cNvSpPr/>
          <p:nvPr/>
        </p:nvSpPr>
        <p:spPr>
          <a:xfrm>
            <a:off x="8575601" y="4206875"/>
            <a:ext cx="178594" cy="238125"/>
          </a:xfrm>
          <a:custGeom>
            <a:avLst/>
            <a:gdLst/>
            <a:ahLst/>
            <a:cxnLst/>
            <a:rect l="l" t="t" r="r" b="b"/>
            <a:pathLst>
              <a:path w="178594" h="238125">
                <a:moveTo>
                  <a:pt x="78786" y="233753"/>
                </a:moveTo>
                <a:cubicBezTo>
                  <a:pt x="84599" y="239567"/>
                  <a:pt x="94041" y="239567"/>
                  <a:pt x="99854" y="233753"/>
                </a:cubicBezTo>
                <a:lnTo>
                  <a:pt x="174268" y="159339"/>
                </a:lnTo>
                <a:cubicBezTo>
                  <a:pt x="180082" y="153526"/>
                  <a:pt x="180082" y="144084"/>
                  <a:pt x="174268" y="138271"/>
                </a:cubicBezTo>
                <a:cubicBezTo>
                  <a:pt x="168455" y="132457"/>
                  <a:pt x="159014" y="132457"/>
                  <a:pt x="153200" y="138271"/>
                </a:cubicBezTo>
                <a:lnTo>
                  <a:pt x="104180" y="187291"/>
                </a:lnTo>
                <a:lnTo>
                  <a:pt x="104180" y="14883"/>
                </a:lnTo>
                <a:cubicBezTo>
                  <a:pt x="104180" y="6651"/>
                  <a:pt x="97529" y="0"/>
                  <a:pt x="89297" y="0"/>
                </a:cubicBezTo>
                <a:cubicBezTo>
                  <a:pt x="81065" y="0"/>
                  <a:pt x="74414" y="6651"/>
                  <a:pt x="74414" y="14883"/>
                </a:cubicBezTo>
                <a:lnTo>
                  <a:pt x="74414" y="187291"/>
                </a:lnTo>
                <a:lnTo>
                  <a:pt x="25394" y="138271"/>
                </a:lnTo>
                <a:cubicBezTo>
                  <a:pt x="19580" y="132457"/>
                  <a:pt x="10139" y="132457"/>
                  <a:pt x="4325" y="138271"/>
                </a:cubicBezTo>
                <a:cubicBezTo>
                  <a:pt x="-1488" y="144084"/>
                  <a:pt x="-1488" y="153526"/>
                  <a:pt x="4325" y="159339"/>
                </a:cubicBezTo>
                <a:lnTo>
                  <a:pt x="78739" y="233753"/>
                </a:lnTo>
                <a:close/>
              </a:path>
            </a:pathLst>
          </a:custGeom>
          <a:solidFill>
            <a:srgbClr val="2A4D53"/>
          </a:solidFill>
          <a:ln/>
        </p:spPr>
      </p:sp>
      <p:sp>
        <p:nvSpPr>
          <p:cNvPr id="43" name="Shape 41"/>
          <p:cNvSpPr/>
          <p:nvPr/>
        </p:nvSpPr>
        <p:spPr>
          <a:xfrm>
            <a:off x="5641950" y="4572000"/>
            <a:ext cx="6040438" cy="1031875"/>
          </a:xfrm>
          <a:custGeom>
            <a:avLst/>
            <a:gdLst/>
            <a:ahLst/>
            <a:cxnLst/>
            <a:rect l="l" t="t" r="r" b="b"/>
            <a:pathLst>
              <a:path w="6040438" h="1031875">
                <a:moveTo>
                  <a:pt x="0" y="0"/>
                </a:moveTo>
                <a:lnTo>
                  <a:pt x="6040438" y="0"/>
                </a:lnTo>
                <a:lnTo>
                  <a:pt x="6040438" y="1031875"/>
                </a:lnTo>
                <a:lnTo>
                  <a:pt x="0" y="1031875"/>
                </a:lnTo>
                <a:lnTo>
                  <a:pt x="0" y="0"/>
                </a:lnTo>
                <a:close/>
              </a:path>
            </a:pathLst>
          </a:custGeom>
          <a:solidFill>
            <a:srgbClr val="C87E62"/>
          </a:solidFill>
          <a:ln/>
        </p:spPr>
      </p:sp>
      <p:sp>
        <p:nvSpPr>
          <p:cNvPr id="44" name="Shape 42"/>
          <p:cNvSpPr/>
          <p:nvPr/>
        </p:nvSpPr>
        <p:spPr>
          <a:xfrm>
            <a:off x="8545835" y="4699000"/>
            <a:ext cx="238125" cy="238125"/>
          </a:xfrm>
          <a:custGeom>
            <a:avLst/>
            <a:gdLst/>
            <a:ahLst/>
            <a:cxnLst/>
            <a:rect l="l" t="t" r="r" b="b"/>
            <a:pathLst>
              <a:path w="238125" h="238125">
                <a:moveTo>
                  <a:pt x="29766" y="29766"/>
                </a:moveTo>
                <a:cubicBezTo>
                  <a:pt x="29766" y="21534"/>
                  <a:pt x="23115" y="14883"/>
                  <a:pt x="14883" y="14883"/>
                </a:cubicBezTo>
                <a:cubicBezTo>
                  <a:pt x="6651" y="14883"/>
                  <a:pt x="0" y="21534"/>
                  <a:pt x="0" y="29766"/>
                </a:cubicBezTo>
                <a:lnTo>
                  <a:pt x="0" y="186035"/>
                </a:lnTo>
                <a:cubicBezTo>
                  <a:pt x="0" y="206592"/>
                  <a:pt x="16650" y="223242"/>
                  <a:pt x="37207" y="223242"/>
                </a:cubicBezTo>
                <a:lnTo>
                  <a:pt x="223242" y="223242"/>
                </a:lnTo>
                <a:cubicBezTo>
                  <a:pt x="231474" y="223242"/>
                  <a:pt x="238125" y="216591"/>
                  <a:pt x="238125" y="208359"/>
                </a:cubicBezTo>
                <a:cubicBezTo>
                  <a:pt x="238125" y="200127"/>
                  <a:pt x="231474" y="193477"/>
                  <a:pt x="223242" y="193477"/>
                </a:cubicBezTo>
                <a:lnTo>
                  <a:pt x="37207" y="193477"/>
                </a:lnTo>
                <a:cubicBezTo>
                  <a:pt x="33114" y="193477"/>
                  <a:pt x="29766" y="190128"/>
                  <a:pt x="29766" y="186035"/>
                </a:cubicBezTo>
                <a:lnTo>
                  <a:pt x="29766" y="29766"/>
                </a:lnTo>
                <a:close/>
                <a:moveTo>
                  <a:pt x="218870" y="70042"/>
                </a:moveTo>
                <a:cubicBezTo>
                  <a:pt x="224684" y="64229"/>
                  <a:pt x="224684" y="54787"/>
                  <a:pt x="218870" y="48974"/>
                </a:cubicBezTo>
                <a:cubicBezTo>
                  <a:pt x="213057" y="43160"/>
                  <a:pt x="203615" y="43160"/>
                  <a:pt x="197802" y="48974"/>
                </a:cubicBezTo>
                <a:lnTo>
                  <a:pt x="148828" y="97994"/>
                </a:lnTo>
                <a:lnTo>
                  <a:pt x="122132" y="71344"/>
                </a:lnTo>
                <a:cubicBezTo>
                  <a:pt x="116318" y="65531"/>
                  <a:pt x="106877" y="65531"/>
                  <a:pt x="101064" y="71344"/>
                </a:cubicBezTo>
                <a:lnTo>
                  <a:pt x="56415" y="115993"/>
                </a:lnTo>
                <a:cubicBezTo>
                  <a:pt x="50602" y="121807"/>
                  <a:pt x="50602" y="131248"/>
                  <a:pt x="56415" y="137061"/>
                </a:cubicBezTo>
                <a:cubicBezTo>
                  <a:pt x="62229" y="142875"/>
                  <a:pt x="71670" y="142875"/>
                  <a:pt x="77484" y="137061"/>
                </a:cubicBezTo>
                <a:lnTo>
                  <a:pt x="111621" y="102924"/>
                </a:lnTo>
                <a:lnTo>
                  <a:pt x="138317" y="129620"/>
                </a:lnTo>
                <a:cubicBezTo>
                  <a:pt x="144131" y="135434"/>
                  <a:pt x="153572" y="135434"/>
                  <a:pt x="159386" y="129620"/>
                </a:cubicBezTo>
                <a:lnTo>
                  <a:pt x="218917" y="70089"/>
                </a:lnTo>
                <a:close/>
              </a:path>
            </a:pathLst>
          </a:custGeom>
          <a:solidFill>
            <a:srgbClr val="F8F7F5"/>
          </a:solidFill>
          <a:ln/>
        </p:spPr>
      </p:sp>
      <p:sp>
        <p:nvSpPr>
          <p:cNvPr id="45" name="Text 43"/>
          <p:cNvSpPr/>
          <p:nvPr/>
        </p:nvSpPr>
        <p:spPr>
          <a:xfrm>
            <a:off x="5729263" y="5000625"/>
            <a:ext cx="5865813" cy="222250"/>
          </a:xfrm>
          <a:prstGeom prst="rect">
            <a:avLst/>
          </a:prstGeom>
          <a:noFill/>
          <a:ln/>
        </p:spPr>
        <p:txBody>
          <a:bodyPr wrap="square" lIns="0" tIns="0" rIns="0" bIns="0" rtlCol="0" anchor="ctr"/>
          <a:lstStyle/>
          <a:p>
            <a:pPr algn="ctr">
              <a:lnSpc>
                <a:spcPct val="120000"/>
              </a:lnSpc>
            </a:pPr>
            <a:r>
              <a:rPr lang="en-US" sz="1500" b="1" dirty="0">
                <a:solidFill>
                  <a:srgbClr val="F8F7F5"/>
                </a:solidFill>
                <a:latin typeface="Liter" pitchFamily="34" charset="0"/>
                <a:ea typeface="Liter" pitchFamily="34" charset="-122"/>
                <a:cs typeface="Liter" pitchFamily="34" charset="-120"/>
              </a:rPr>
              <a:t>Priority Index Score</a:t>
            </a:r>
            <a:endParaRPr lang="en-US" sz="1500" dirty="0"/>
          </a:p>
        </p:txBody>
      </p:sp>
      <p:sp>
        <p:nvSpPr>
          <p:cNvPr id="46" name="Text 44"/>
          <p:cNvSpPr/>
          <p:nvPr/>
        </p:nvSpPr>
        <p:spPr>
          <a:xfrm>
            <a:off x="5737200" y="5286375"/>
            <a:ext cx="5849938" cy="190500"/>
          </a:xfrm>
          <a:prstGeom prst="rect">
            <a:avLst/>
          </a:prstGeom>
          <a:noFill/>
          <a:ln/>
        </p:spPr>
        <p:txBody>
          <a:bodyPr wrap="square" lIns="0" tIns="0" rIns="0" bIns="0" rtlCol="0" anchor="ctr"/>
          <a:lstStyle/>
          <a:p>
            <a:pPr algn="ctr">
              <a:lnSpc>
                <a:spcPct val="130000"/>
              </a:lnSpc>
            </a:pPr>
            <a:r>
              <a:rPr lang="en-US" sz="1300" b="1" dirty="0">
                <a:solidFill>
                  <a:srgbClr val="F8F7F5"/>
                </a:solidFill>
                <a:latin typeface="Quattrocento Sans" pitchFamily="34" charset="0"/>
                <a:ea typeface="Quattrocento Sans" pitchFamily="34" charset="-122"/>
                <a:cs typeface="Quattrocento Sans" pitchFamily="34" charset="-120"/>
              </a:rPr>
              <a:t>Score approaching 2.0 = "Double-risk" area</a:t>
            </a:r>
            <a:endParaRPr lang="en-US" sz="1300" b="1" dirty="0"/>
          </a:p>
        </p:txBody>
      </p:sp>
      <p:sp>
        <p:nvSpPr>
          <p:cNvPr id="47" name="Shape 45"/>
          <p:cNvSpPr/>
          <p:nvPr/>
        </p:nvSpPr>
        <p:spPr>
          <a:xfrm>
            <a:off x="8575601" y="5730875"/>
            <a:ext cx="178594" cy="238125"/>
          </a:xfrm>
          <a:custGeom>
            <a:avLst/>
            <a:gdLst/>
            <a:ahLst/>
            <a:cxnLst/>
            <a:rect l="l" t="t" r="r" b="b"/>
            <a:pathLst>
              <a:path w="178594" h="238125">
                <a:moveTo>
                  <a:pt x="78786" y="233753"/>
                </a:moveTo>
                <a:cubicBezTo>
                  <a:pt x="84599" y="239567"/>
                  <a:pt x="94041" y="239567"/>
                  <a:pt x="99854" y="233753"/>
                </a:cubicBezTo>
                <a:lnTo>
                  <a:pt x="174268" y="159339"/>
                </a:lnTo>
                <a:cubicBezTo>
                  <a:pt x="180082" y="153526"/>
                  <a:pt x="180082" y="144084"/>
                  <a:pt x="174268" y="138271"/>
                </a:cubicBezTo>
                <a:cubicBezTo>
                  <a:pt x="168455" y="132457"/>
                  <a:pt x="159014" y="132457"/>
                  <a:pt x="153200" y="138271"/>
                </a:cubicBezTo>
                <a:lnTo>
                  <a:pt x="104180" y="187291"/>
                </a:lnTo>
                <a:lnTo>
                  <a:pt x="104180" y="14883"/>
                </a:lnTo>
                <a:cubicBezTo>
                  <a:pt x="104180" y="6651"/>
                  <a:pt x="97529" y="0"/>
                  <a:pt x="89297" y="0"/>
                </a:cubicBezTo>
                <a:cubicBezTo>
                  <a:pt x="81065" y="0"/>
                  <a:pt x="74414" y="6651"/>
                  <a:pt x="74414" y="14883"/>
                </a:cubicBezTo>
                <a:lnTo>
                  <a:pt x="74414" y="187291"/>
                </a:lnTo>
                <a:lnTo>
                  <a:pt x="25394" y="138271"/>
                </a:lnTo>
                <a:cubicBezTo>
                  <a:pt x="19580" y="132457"/>
                  <a:pt x="10139" y="132457"/>
                  <a:pt x="4325" y="138271"/>
                </a:cubicBezTo>
                <a:cubicBezTo>
                  <a:pt x="-1488" y="144084"/>
                  <a:pt x="-1488" y="153526"/>
                  <a:pt x="4325" y="159339"/>
                </a:cubicBezTo>
                <a:lnTo>
                  <a:pt x="78739" y="233753"/>
                </a:lnTo>
                <a:close/>
              </a:path>
            </a:pathLst>
          </a:custGeom>
          <a:solidFill>
            <a:srgbClr val="2A4D53"/>
          </a:solidFill>
          <a:ln/>
        </p:spPr>
      </p:sp>
      <p:sp>
        <p:nvSpPr>
          <p:cNvPr id="48" name="Shape 46"/>
          <p:cNvSpPr/>
          <p:nvPr/>
        </p:nvSpPr>
        <p:spPr>
          <a:xfrm>
            <a:off x="5649888" y="6103938"/>
            <a:ext cx="6024563" cy="619125"/>
          </a:xfrm>
          <a:custGeom>
            <a:avLst/>
            <a:gdLst/>
            <a:ahLst/>
            <a:cxnLst/>
            <a:rect l="l" t="t" r="r" b="b"/>
            <a:pathLst>
              <a:path w="6024563" h="619125">
                <a:moveTo>
                  <a:pt x="0" y="0"/>
                </a:moveTo>
                <a:lnTo>
                  <a:pt x="6024563" y="0"/>
                </a:lnTo>
                <a:lnTo>
                  <a:pt x="6024563" y="619125"/>
                </a:lnTo>
                <a:lnTo>
                  <a:pt x="0" y="619125"/>
                </a:lnTo>
                <a:lnTo>
                  <a:pt x="0" y="0"/>
                </a:lnTo>
                <a:close/>
              </a:path>
            </a:pathLst>
          </a:custGeom>
          <a:solidFill>
            <a:srgbClr val="2A4D53">
              <a:alpha val="10196"/>
            </a:srgbClr>
          </a:solidFill>
          <a:ln w="25400">
            <a:solidFill>
              <a:srgbClr val="2A4D53"/>
            </a:solidFill>
            <a:prstDash val="solid"/>
          </a:ln>
        </p:spPr>
      </p:sp>
      <p:sp>
        <p:nvSpPr>
          <p:cNvPr id="49" name="Text 47"/>
          <p:cNvSpPr/>
          <p:nvPr/>
        </p:nvSpPr>
        <p:spPr>
          <a:xfrm>
            <a:off x="5753075" y="6238875"/>
            <a:ext cx="2349916" cy="55562"/>
          </a:xfrm>
          <a:prstGeom prst="rect">
            <a:avLst/>
          </a:prstGeom>
          <a:noFill/>
          <a:ln/>
        </p:spPr>
        <p:txBody>
          <a:bodyPr wrap="square" lIns="0" tIns="0" rIns="0" bIns="0" rtlCol="0" anchor="ctr"/>
          <a:lstStyle/>
          <a:p>
            <a:pPr algn="ct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3km Safety Threshold</a:t>
            </a:r>
            <a:endParaRPr lang="en-US" sz="1600" dirty="0"/>
          </a:p>
        </p:txBody>
      </p:sp>
      <p:sp>
        <p:nvSpPr>
          <p:cNvPr id="50" name="Text 48"/>
          <p:cNvSpPr/>
          <p:nvPr/>
        </p:nvSpPr>
        <p:spPr>
          <a:xfrm>
            <a:off x="5757044" y="6429374"/>
            <a:ext cx="2563813" cy="238125"/>
          </a:xfrm>
          <a:prstGeom prst="rect">
            <a:avLst/>
          </a:prstGeom>
          <a:noFill/>
          <a:ln/>
        </p:spPr>
        <p:txBody>
          <a:bodyPr wrap="square" lIns="0" tIns="0" rIns="0" bIns="0" rtlCol="0" anchor="ctr"/>
          <a:lstStyle/>
          <a:p>
            <a:pPr algn="ctr">
              <a:lnSpc>
                <a:spcPct val="120000"/>
              </a:lnSpc>
            </a:pPr>
            <a:r>
              <a:rPr lang="en-US" sz="1300" b="1" dirty="0">
                <a:solidFill>
                  <a:srgbClr val="A9A299"/>
                </a:solidFill>
                <a:latin typeface="Quattrocento Sans" pitchFamily="34" charset="0"/>
                <a:ea typeface="Quattrocento Sans" pitchFamily="34" charset="-122"/>
                <a:cs typeface="Quattrocento Sans" pitchFamily="34" charset="-120"/>
              </a:rPr>
              <a:t>Separate "busy" from "isolated"</a:t>
            </a:r>
            <a:endParaRPr lang="en-US" sz="1300" b="1" dirty="0"/>
          </a:p>
        </p:txBody>
      </p:sp>
      <p:sp>
        <p:nvSpPr>
          <p:cNvPr id="51" name="Shape 49"/>
          <p:cNvSpPr/>
          <p:nvPr/>
        </p:nvSpPr>
        <p:spPr>
          <a:xfrm>
            <a:off x="11275219" y="6294438"/>
            <a:ext cx="238125" cy="238125"/>
          </a:xfrm>
          <a:custGeom>
            <a:avLst/>
            <a:gdLst/>
            <a:ahLst/>
            <a:cxnLst/>
            <a:rect l="l" t="t" r="r" b="b"/>
            <a:pathLst>
              <a:path w="238125" h="238125">
                <a:moveTo>
                  <a:pt x="119062" y="238125"/>
                </a:moveTo>
                <a:cubicBezTo>
                  <a:pt x="184775" y="238125"/>
                  <a:pt x="238125" y="184775"/>
                  <a:pt x="238125" y="119062"/>
                </a:cubicBezTo>
                <a:cubicBezTo>
                  <a:pt x="238125" y="53350"/>
                  <a:pt x="184775" y="0"/>
                  <a:pt x="119062" y="0"/>
                </a:cubicBezTo>
                <a:cubicBezTo>
                  <a:pt x="53350" y="0"/>
                  <a:pt x="0" y="53350"/>
                  <a:pt x="0" y="119062"/>
                </a:cubicBezTo>
                <a:cubicBezTo>
                  <a:pt x="0" y="184775"/>
                  <a:pt x="53350" y="238125"/>
                  <a:pt x="119062" y="238125"/>
                </a:cubicBezTo>
                <a:close/>
                <a:moveTo>
                  <a:pt x="158316" y="98924"/>
                </a:moveTo>
                <a:lnTo>
                  <a:pt x="121109" y="158455"/>
                </a:lnTo>
                <a:cubicBezTo>
                  <a:pt x="119156" y="161572"/>
                  <a:pt x="115807" y="163525"/>
                  <a:pt x="112133" y="163711"/>
                </a:cubicBezTo>
                <a:cubicBezTo>
                  <a:pt x="108458" y="163897"/>
                  <a:pt x="104924" y="162223"/>
                  <a:pt x="102738" y="159246"/>
                </a:cubicBezTo>
                <a:lnTo>
                  <a:pt x="80414" y="129480"/>
                </a:lnTo>
                <a:cubicBezTo>
                  <a:pt x="76693" y="124551"/>
                  <a:pt x="77716" y="117574"/>
                  <a:pt x="82646" y="113854"/>
                </a:cubicBezTo>
                <a:cubicBezTo>
                  <a:pt x="87576" y="110133"/>
                  <a:pt x="94552" y="111156"/>
                  <a:pt x="98273" y="116086"/>
                </a:cubicBezTo>
                <a:lnTo>
                  <a:pt x="110830" y="132829"/>
                </a:lnTo>
                <a:lnTo>
                  <a:pt x="139387" y="87111"/>
                </a:lnTo>
                <a:cubicBezTo>
                  <a:pt x="142642" y="81902"/>
                  <a:pt x="149526" y="80274"/>
                  <a:pt x="154781" y="83576"/>
                </a:cubicBezTo>
                <a:cubicBezTo>
                  <a:pt x="160037" y="86878"/>
                  <a:pt x="161618" y="93715"/>
                  <a:pt x="158316" y="98971"/>
                </a:cubicBezTo>
                <a:close/>
              </a:path>
            </a:pathLst>
          </a:custGeom>
          <a:solidFill>
            <a:srgbClr val="C87E62"/>
          </a:solidFill>
          <a:ln/>
        </p:spPr>
      </p:sp>
    </p:spTree>
    <p:extLst>
      <p:ext uri="{BB962C8B-B14F-4D97-AF65-F5344CB8AC3E}">
        <p14:creationId xmlns:p14="http://schemas.microsoft.com/office/powerpoint/2010/main" val="132194455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62865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87E62"/>
          </a:solidFill>
          <a:ln/>
        </p:spPr>
      </p:sp>
      <p:sp>
        <p:nvSpPr>
          <p:cNvPr id="4" name="Text 2"/>
          <p:cNvSpPr/>
          <p:nvPr/>
        </p:nvSpPr>
        <p:spPr>
          <a:xfrm>
            <a:off x="1403685" y="533400"/>
            <a:ext cx="4114800" cy="266700"/>
          </a:xfrm>
          <a:prstGeom prst="rect">
            <a:avLst/>
          </a:prstGeom>
          <a:noFill/>
          <a:ln/>
        </p:spPr>
        <p:txBody>
          <a:bodyPr wrap="square" lIns="0" tIns="0" rIns="0" bIns="0" rtlCol="0" anchor="ctr"/>
          <a:lstStyle/>
          <a:p>
            <a:pPr>
              <a:lnSpc>
                <a:spcPct val="110000"/>
              </a:lnSpc>
            </a:pPr>
            <a:r>
              <a:rPr lang="en-US" sz="2400" b="1" dirty="0">
                <a:solidFill>
                  <a:srgbClr val="2A4D53"/>
                </a:solidFill>
                <a:latin typeface="Liter" pitchFamily="34" charset="0"/>
                <a:ea typeface="Liter" pitchFamily="34" charset="-122"/>
                <a:cs typeface="Liter" pitchFamily="34" charset="-120"/>
              </a:rPr>
              <a:t>Priority Index Findings</a:t>
            </a:r>
            <a:endParaRPr lang="en-US" sz="2400" dirty="0"/>
          </a:p>
        </p:txBody>
      </p:sp>
      <p:sp>
        <p:nvSpPr>
          <p:cNvPr id="5" name="Shape 3"/>
          <p:cNvSpPr/>
          <p:nvPr/>
        </p:nvSpPr>
        <p:spPr>
          <a:xfrm>
            <a:off x="400050" y="1323975"/>
            <a:ext cx="38100" cy="1047750"/>
          </a:xfrm>
          <a:custGeom>
            <a:avLst/>
            <a:gdLst/>
            <a:ahLst/>
            <a:cxnLst/>
            <a:rect l="l" t="t" r="r" b="b"/>
            <a:pathLst>
              <a:path w="38100" h="1047750">
                <a:moveTo>
                  <a:pt x="38100" y="0"/>
                </a:moveTo>
                <a:lnTo>
                  <a:pt x="38100" y="0"/>
                </a:lnTo>
                <a:lnTo>
                  <a:pt x="38100" y="1047750"/>
                </a:lnTo>
                <a:lnTo>
                  <a:pt x="38100" y="1047750"/>
                </a:lnTo>
                <a:cubicBezTo>
                  <a:pt x="17072" y="1047750"/>
                  <a:pt x="0" y="1030678"/>
                  <a:pt x="0" y="1009650"/>
                </a:cubicBezTo>
                <a:lnTo>
                  <a:pt x="0" y="38100"/>
                </a:lnTo>
                <a:cubicBezTo>
                  <a:pt x="0" y="17072"/>
                  <a:pt x="17072" y="0"/>
                  <a:pt x="38100" y="0"/>
                </a:cubicBezTo>
                <a:close/>
              </a:path>
            </a:pathLst>
          </a:custGeom>
          <a:solidFill>
            <a:srgbClr val="2A4D53"/>
          </a:solidFill>
          <a:ln/>
        </p:spPr>
      </p:sp>
      <p:sp>
        <p:nvSpPr>
          <p:cNvPr id="6" name="Text 4"/>
          <p:cNvSpPr/>
          <p:nvPr/>
        </p:nvSpPr>
        <p:spPr>
          <a:xfrm>
            <a:off x="571500" y="1476375"/>
            <a:ext cx="6496050" cy="742950"/>
          </a:xfrm>
          <a:prstGeom prst="rect">
            <a:avLst/>
          </a:prstGeom>
          <a:noFill/>
          <a:ln/>
        </p:spPr>
        <p:txBody>
          <a:bodyPr wrap="square" lIns="0" tIns="0" rIns="0" bIns="0" rtlCol="0" anchor="ctr"/>
          <a:lstStyle/>
          <a:p>
            <a:pPr algn="just">
              <a:lnSpc>
                <a:spcPct val="140000"/>
              </a:lnSpc>
            </a:pPr>
            <a:r>
              <a:rPr lang="en-US" sz="1500" dirty="0">
                <a:solidFill>
                  <a:srgbClr val="2A4D53"/>
                </a:solidFill>
                <a:latin typeface="Liter" pitchFamily="34" charset="0"/>
                <a:ea typeface="Liter" pitchFamily="34" charset="-122"/>
                <a:cs typeface="Liter" pitchFamily="34" charset="-120"/>
              </a:rPr>
              <a:t>The data indicate that </a:t>
            </a:r>
            <a:r>
              <a:rPr lang="en-US" sz="1500" b="1" dirty="0">
                <a:solidFill>
                  <a:srgbClr val="C87E62"/>
                </a:solidFill>
                <a:latin typeface="Liter" pitchFamily="34" charset="0"/>
                <a:ea typeface="Liter" pitchFamily="34" charset="-122"/>
                <a:cs typeface="Liter" pitchFamily="34" charset="-120"/>
              </a:rPr>
              <a:t>Igabi LGA</a:t>
            </a:r>
            <a:r>
              <a:rPr lang="en-US" sz="1500" dirty="0">
                <a:solidFill>
                  <a:srgbClr val="2A4D53"/>
                </a:solidFill>
                <a:latin typeface="Liter" pitchFamily="34" charset="0"/>
                <a:ea typeface="Liter" pitchFamily="34" charset="-122"/>
                <a:cs typeface="Liter" pitchFamily="34" charset="-120"/>
              </a:rPr>
              <a:t> stands as the state's foremost health priority, marked by a </a:t>
            </a:r>
            <a:r>
              <a:rPr lang="en-US" sz="1500" b="1" dirty="0">
                <a:solidFill>
                  <a:srgbClr val="2A4D53"/>
                </a:solidFill>
                <a:latin typeface="Liter" pitchFamily="34" charset="0"/>
                <a:ea typeface="Liter" pitchFamily="34" charset="-122"/>
                <a:cs typeface="Liter" pitchFamily="34" charset="-120"/>
              </a:rPr>
              <a:t>"double burden"</a:t>
            </a:r>
            <a:r>
              <a:rPr lang="en-US" sz="1500" dirty="0">
                <a:solidFill>
                  <a:srgbClr val="2A4D53"/>
                </a:solidFill>
                <a:latin typeface="Liter" pitchFamily="34" charset="0"/>
                <a:ea typeface="Liter" pitchFamily="34" charset="-122"/>
                <a:cs typeface="Liter" pitchFamily="34" charset="-120"/>
              </a:rPr>
              <a:t> of the largest population (751,398) and the longest travel distance to facilities (3.24 km), leading to a significant priority index of 1.94.</a:t>
            </a:r>
            <a:endParaRPr lang="en-US" sz="1500" dirty="0"/>
          </a:p>
        </p:txBody>
      </p:sp>
      <p:sp>
        <p:nvSpPr>
          <p:cNvPr id="7" name="Shape 5"/>
          <p:cNvSpPr/>
          <p:nvPr/>
        </p:nvSpPr>
        <p:spPr>
          <a:xfrm>
            <a:off x="400050" y="2524125"/>
            <a:ext cx="38100" cy="1047750"/>
          </a:xfrm>
          <a:custGeom>
            <a:avLst/>
            <a:gdLst/>
            <a:ahLst/>
            <a:cxnLst/>
            <a:rect l="l" t="t" r="r" b="b"/>
            <a:pathLst>
              <a:path w="38100" h="1047750">
                <a:moveTo>
                  <a:pt x="38100" y="0"/>
                </a:moveTo>
                <a:lnTo>
                  <a:pt x="38100" y="0"/>
                </a:lnTo>
                <a:lnTo>
                  <a:pt x="38100" y="1047750"/>
                </a:lnTo>
                <a:lnTo>
                  <a:pt x="38100" y="1047750"/>
                </a:lnTo>
                <a:cubicBezTo>
                  <a:pt x="17072" y="1047750"/>
                  <a:pt x="0" y="1030678"/>
                  <a:pt x="0" y="1009650"/>
                </a:cubicBezTo>
                <a:lnTo>
                  <a:pt x="0" y="38100"/>
                </a:lnTo>
                <a:cubicBezTo>
                  <a:pt x="0" y="17072"/>
                  <a:pt x="17072" y="0"/>
                  <a:pt x="38100" y="0"/>
                </a:cubicBezTo>
                <a:close/>
              </a:path>
            </a:pathLst>
          </a:custGeom>
          <a:solidFill>
            <a:srgbClr val="C87E62"/>
          </a:solidFill>
          <a:ln/>
        </p:spPr>
      </p:sp>
      <p:sp>
        <p:nvSpPr>
          <p:cNvPr id="8" name="Text 6"/>
          <p:cNvSpPr/>
          <p:nvPr/>
        </p:nvSpPr>
        <p:spPr>
          <a:xfrm>
            <a:off x="533400" y="2715628"/>
            <a:ext cx="6496050" cy="742950"/>
          </a:xfrm>
          <a:prstGeom prst="rect">
            <a:avLst/>
          </a:prstGeom>
          <a:noFill/>
          <a:ln/>
        </p:spPr>
        <p:txBody>
          <a:bodyPr wrap="square" lIns="0" tIns="0" rIns="0" bIns="0" rtlCol="0" anchor="ctr"/>
          <a:lstStyle/>
          <a:p>
            <a:pPr algn="just">
              <a:lnSpc>
                <a:spcPct val="140000"/>
              </a:lnSpc>
            </a:pPr>
            <a:r>
              <a:rPr lang="en-US" sz="1400" dirty="0">
                <a:solidFill>
                  <a:srgbClr val="2A4D53"/>
                </a:solidFill>
                <a:latin typeface="Liter" pitchFamily="34" charset="0"/>
                <a:ea typeface="Liter" pitchFamily="34" charset="-122"/>
                <a:cs typeface="Liter" pitchFamily="34" charset="-120"/>
              </a:rPr>
              <a:t>Among the top 10 underserved regions, a systemic </a:t>
            </a:r>
            <a:r>
              <a:rPr lang="en-US" sz="1400" b="1" dirty="0">
                <a:solidFill>
                  <a:srgbClr val="2A4D53"/>
                </a:solidFill>
                <a:latin typeface="Liter" pitchFamily="34" charset="0"/>
                <a:ea typeface="Liter" pitchFamily="34" charset="-122"/>
                <a:cs typeface="Liter" pitchFamily="34" charset="-120"/>
              </a:rPr>
              <a:t>"distance penalty"</a:t>
            </a:r>
            <a:r>
              <a:rPr lang="en-US" sz="1400" dirty="0">
                <a:solidFill>
                  <a:srgbClr val="2A4D53"/>
                </a:solidFill>
                <a:latin typeface="Liter" pitchFamily="34" charset="0"/>
                <a:ea typeface="Liter" pitchFamily="34" charset="-122"/>
                <a:cs typeface="Liter" pitchFamily="34" charset="-120"/>
              </a:rPr>
              <a:t> is evident, with 60% of these LGAs, including Giwa, Birnin Gwari, and Kachia, surpassing a 3km safety threshold, implying that geographic isolation poses a major obstacle to care.</a:t>
            </a:r>
            <a:endParaRPr lang="en-US" sz="1400" dirty="0"/>
          </a:p>
        </p:txBody>
      </p:sp>
      <p:sp>
        <p:nvSpPr>
          <p:cNvPr id="9" name="Shape 7"/>
          <p:cNvSpPr/>
          <p:nvPr/>
        </p:nvSpPr>
        <p:spPr>
          <a:xfrm>
            <a:off x="400050" y="3724275"/>
            <a:ext cx="38100" cy="1047750"/>
          </a:xfrm>
          <a:custGeom>
            <a:avLst/>
            <a:gdLst/>
            <a:ahLst/>
            <a:cxnLst/>
            <a:rect l="l" t="t" r="r" b="b"/>
            <a:pathLst>
              <a:path w="38100" h="1047750">
                <a:moveTo>
                  <a:pt x="38100" y="0"/>
                </a:moveTo>
                <a:lnTo>
                  <a:pt x="38100" y="0"/>
                </a:lnTo>
                <a:lnTo>
                  <a:pt x="38100" y="1047750"/>
                </a:lnTo>
                <a:lnTo>
                  <a:pt x="38100" y="1047750"/>
                </a:lnTo>
                <a:cubicBezTo>
                  <a:pt x="17072" y="1047750"/>
                  <a:pt x="0" y="1030678"/>
                  <a:pt x="0" y="1009650"/>
                </a:cubicBezTo>
                <a:lnTo>
                  <a:pt x="0" y="38100"/>
                </a:lnTo>
                <a:cubicBezTo>
                  <a:pt x="0" y="17072"/>
                  <a:pt x="17072" y="0"/>
                  <a:pt x="38100" y="0"/>
                </a:cubicBezTo>
                <a:close/>
              </a:path>
            </a:pathLst>
          </a:custGeom>
          <a:solidFill>
            <a:srgbClr val="2A4D53"/>
          </a:solidFill>
          <a:ln/>
        </p:spPr>
      </p:sp>
      <p:sp>
        <p:nvSpPr>
          <p:cNvPr id="10" name="Text 8"/>
          <p:cNvSpPr/>
          <p:nvPr/>
        </p:nvSpPr>
        <p:spPr>
          <a:xfrm>
            <a:off x="571500" y="3876675"/>
            <a:ext cx="6496050" cy="742950"/>
          </a:xfrm>
          <a:prstGeom prst="rect">
            <a:avLst/>
          </a:prstGeom>
          <a:noFill/>
          <a:ln/>
        </p:spPr>
        <p:txBody>
          <a:bodyPr wrap="square" lIns="0" tIns="0" rIns="0" bIns="0" rtlCol="0" anchor="ctr"/>
          <a:lstStyle/>
          <a:p>
            <a:pPr algn="just">
              <a:lnSpc>
                <a:spcPct val="140000"/>
              </a:lnSpc>
            </a:pPr>
            <a:r>
              <a:rPr lang="en-US" sz="1400" dirty="0">
                <a:solidFill>
                  <a:srgbClr val="2A4D53"/>
                </a:solidFill>
                <a:latin typeface="Liter" pitchFamily="34" charset="0"/>
                <a:ea typeface="Liter" pitchFamily="34" charset="-122"/>
                <a:cs typeface="Liter" pitchFamily="34" charset="-120"/>
              </a:rPr>
              <a:t>Conversely, </a:t>
            </a:r>
            <a:r>
              <a:rPr lang="en-US" sz="1400" b="1" dirty="0">
                <a:solidFill>
                  <a:srgbClr val="C87E62"/>
                </a:solidFill>
                <a:latin typeface="Liter" pitchFamily="34" charset="0"/>
                <a:ea typeface="Liter" pitchFamily="34" charset="-122"/>
                <a:cs typeface="Liter" pitchFamily="34" charset="-120"/>
              </a:rPr>
              <a:t>Zaria</a:t>
            </a:r>
            <a:r>
              <a:rPr lang="en-US" sz="1400" dirty="0">
                <a:solidFill>
                  <a:srgbClr val="2A4D53"/>
                </a:solidFill>
                <a:latin typeface="Liter" pitchFamily="34" charset="0"/>
                <a:ea typeface="Liter" pitchFamily="34" charset="-122"/>
                <a:cs typeface="Liter" pitchFamily="34" charset="-120"/>
              </a:rPr>
              <a:t> faces a high-pressure situation where the primary issue is likely </a:t>
            </a:r>
            <a:r>
              <a:rPr lang="en-US" sz="1400" b="1" dirty="0">
                <a:solidFill>
                  <a:srgbClr val="2A4D53"/>
                </a:solidFill>
                <a:latin typeface="Liter" pitchFamily="34" charset="0"/>
                <a:ea typeface="Liter" pitchFamily="34" charset="-122"/>
                <a:cs typeface="Liter" pitchFamily="34" charset="-120"/>
              </a:rPr>
              <a:t>facility overcrowding</a:t>
            </a:r>
            <a:r>
              <a:rPr lang="en-US" sz="1400" dirty="0">
                <a:solidFill>
                  <a:srgbClr val="2A4D53"/>
                </a:solidFill>
                <a:latin typeface="Liter" pitchFamily="34" charset="0"/>
                <a:ea typeface="Liter" pitchFamily="34" charset="-122"/>
                <a:cs typeface="Liter" pitchFamily="34" charset="-120"/>
              </a:rPr>
              <a:t> rather than isolation, as it supports a large population despite a considerably lower distance metric of 1.95 km.</a:t>
            </a:r>
            <a:endParaRPr lang="en-US" sz="1400" dirty="0"/>
          </a:p>
        </p:txBody>
      </p:sp>
      <p:sp>
        <p:nvSpPr>
          <p:cNvPr id="11" name="Shape 9"/>
          <p:cNvSpPr/>
          <p:nvPr/>
        </p:nvSpPr>
        <p:spPr>
          <a:xfrm>
            <a:off x="381000" y="4924424"/>
            <a:ext cx="6629400" cy="1552575"/>
          </a:xfrm>
          <a:custGeom>
            <a:avLst/>
            <a:gdLst/>
            <a:ahLst/>
            <a:cxnLst/>
            <a:rect l="l" t="t" r="r" b="b"/>
            <a:pathLst>
              <a:path w="6762750" h="1295400">
                <a:moveTo>
                  <a:pt x="76195" y="0"/>
                </a:moveTo>
                <a:lnTo>
                  <a:pt x="6686555" y="0"/>
                </a:lnTo>
                <a:cubicBezTo>
                  <a:pt x="6728608" y="0"/>
                  <a:pt x="6762750" y="34142"/>
                  <a:pt x="6762750" y="76195"/>
                </a:cubicBezTo>
                <a:lnTo>
                  <a:pt x="6762750" y="1219205"/>
                </a:lnTo>
                <a:cubicBezTo>
                  <a:pt x="6762750" y="1261286"/>
                  <a:pt x="6728636" y="1295400"/>
                  <a:pt x="6686555" y="1295400"/>
                </a:cubicBezTo>
                <a:lnTo>
                  <a:pt x="76195" y="1295400"/>
                </a:lnTo>
                <a:cubicBezTo>
                  <a:pt x="34142" y="1295400"/>
                  <a:pt x="0" y="1261258"/>
                  <a:pt x="0" y="1219205"/>
                </a:cubicBezTo>
                <a:lnTo>
                  <a:pt x="0" y="76195"/>
                </a:lnTo>
                <a:cubicBezTo>
                  <a:pt x="0" y="34142"/>
                  <a:pt x="34142" y="0"/>
                  <a:pt x="76195" y="0"/>
                </a:cubicBezTo>
                <a:close/>
              </a:path>
            </a:pathLst>
          </a:custGeom>
          <a:solidFill>
            <a:srgbClr val="F3F4F6"/>
          </a:solidFill>
          <a:ln/>
        </p:spPr>
      </p:sp>
      <p:sp>
        <p:nvSpPr>
          <p:cNvPr id="12" name="Shape 10"/>
          <p:cNvSpPr/>
          <p:nvPr/>
        </p:nvSpPr>
        <p:spPr>
          <a:xfrm>
            <a:off x="447174" y="5076825"/>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C87E62"/>
          </a:solidFill>
          <a:ln/>
        </p:spPr>
      </p:sp>
      <p:sp>
        <p:nvSpPr>
          <p:cNvPr id="13" name="Text 11"/>
          <p:cNvSpPr/>
          <p:nvPr/>
        </p:nvSpPr>
        <p:spPr>
          <a:xfrm>
            <a:off x="618624" y="4961522"/>
            <a:ext cx="6286500" cy="1200150"/>
          </a:xfrm>
          <a:prstGeom prst="rect">
            <a:avLst/>
          </a:prstGeom>
          <a:noFill/>
          <a:ln/>
        </p:spPr>
        <p:txBody>
          <a:bodyPr wrap="square" lIns="0" tIns="0" rIns="0" bIns="0" rtlCol="0" anchor="ctr"/>
          <a:lstStyle/>
          <a:p>
            <a:pPr algn="just">
              <a:lnSpc>
                <a:spcPct val="140000"/>
              </a:lnSpc>
            </a:pPr>
            <a:r>
              <a:rPr lang="en-US" sz="1400" b="1" dirty="0">
                <a:solidFill>
                  <a:srgbClr val="2A4D53"/>
                </a:solidFill>
                <a:latin typeface="Liter" pitchFamily="34" charset="0"/>
                <a:ea typeface="Liter" pitchFamily="34" charset="-122"/>
                <a:cs typeface="Liter" pitchFamily="34" charset="-120"/>
              </a:rPr>
              <a:t>Strategically,</a:t>
            </a:r>
            <a:r>
              <a:rPr lang="en-US" sz="1400" dirty="0">
                <a:solidFill>
                  <a:srgbClr val="2A4D53"/>
                </a:solidFill>
                <a:latin typeface="Liter" pitchFamily="34" charset="0"/>
                <a:ea typeface="Liter" pitchFamily="34" charset="-122"/>
                <a:cs typeface="Liter" pitchFamily="34" charset="-120"/>
              </a:rPr>
              <a:t> these insights suggest that while LGAs such as Igabi and Chikun necessitate immediate infrastructure development to enhance accessibility, isolated regions like Giwa and Soba would gain the most from mobile clinics and improved emergency transport to address their 3.1km+ access deficiencies.</a:t>
            </a:r>
            <a:endParaRPr lang="en-US" sz="1400" dirty="0"/>
          </a:p>
        </p:txBody>
      </p:sp>
      <p:pic>
        <p:nvPicPr>
          <p:cNvPr id="16" name="Picture 15">
            <a:extLst>
              <a:ext uri="{FF2B5EF4-FFF2-40B4-BE49-F238E27FC236}">
                <a16:creationId xmlns:a16="http://schemas.microsoft.com/office/drawing/2014/main" id="{0CFF6861-5537-90CB-8C52-8D103A9811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7550" y="0"/>
            <a:ext cx="5124450" cy="6740307"/>
          </a:xfrm>
          <a:prstGeom prst="rect">
            <a:avLst/>
          </a:prstGeom>
        </p:spPr>
      </p:pic>
    </p:spTree>
    <p:extLst>
      <p:ext uri="{BB962C8B-B14F-4D97-AF65-F5344CB8AC3E}">
        <p14:creationId xmlns:p14="http://schemas.microsoft.com/office/powerpoint/2010/main" val="381090867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35868" y="604562"/>
            <a:ext cx="537388" cy="33587"/>
          </a:xfrm>
          <a:custGeom>
            <a:avLst/>
            <a:gdLst/>
            <a:ahLst/>
            <a:cxnLst/>
            <a:rect l="l" t="t" r="r" b="b"/>
            <a:pathLst>
              <a:path w="537388" h="33587">
                <a:moveTo>
                  <a:pt x="0" y="0"/>
                </a:moveTo>
                <a:lnTo>
                  <a:pt x="537388" y="0"/>
                </a:lnTo>
                <a:lnTo>
                  <a:pt x="537388" y="33587"/>
                </a:lnTo>
                <a:lnTo>
                  <a:pt x="0" y="33587"/>
                </a:lnTo>
                <a:lnTo>
                  <a:pt x="0" y="0"/>
                </a:lnTo>
                <a:close/>
              </a:path>
            </a:pathLst>
          </a:custGeom>
          <a:solidFill>
            <a:srgbClr val="C87E62"/>
          </a:solidFill>
          <a:ln/>
        </p:spPr>
      </p:sp>
      <p:sp>
        <p:nvSpPr>
          <p:cNvPr id="3" name="Text 1"/>
          <p:cNvSpPr/>
          <p:nvPr/>
        </p:nvSpPr>
        <p:spPr>
          <a:xfrm>
            <a:off x="1126600" y="198981"/>
            <a:ext cx="8455471" cy="201521"/>
          </a:xfrm>
          <a:prstGeom prst="rect">
            <a:avLst/>
          </a:prstGeom>
          <a:noFill/>
          <a:ln/>
        </p:spPr>
        <p:txBody>
          <a:bodyPr wrap="square" lIns="0" tIns="0" rIns="0" bIns="0" rtlCol="0" anchor="ctr"/>
          <a:lstStyle/>
          <a:p>
            <a:pPr>
              <a:lnSpc>
                <a:spcPct val="130000"/>
              </a:lnSpc>
            </a:pPr>
            <a:r>
              <a:rPr lang="en-US" b="1" kern="0" spc="106" dirty="0">
                <a:solidFill>
                  <a:srgbClr val="A9A299"/>
                </a:solidFill>
                <a:latin typeface="Liter" pitchFamily="34" charset="0"/>
                <a:ea typeface="Liter" pitchFamily="34" charset="-122"/>
                <a:cs typeface="Liter" pitchFamily="34" charset="-120"/>
              </a:rPr>
              <a:t>Question 2</a:t>
            </a:r>
            <a:endParaRPr lang="en-US" b="1" dirty="0"/>
          </a:p>
        </p:txBody>
      </p:sp>
      <p:sp>
        <p:nvSpPr>
          <p:cNvPr id="4" name="Text 2"/>
          <p:cNvSpPr/>
          <p:nvPr/>
        </p:nvSpPr>
        <p:spPr>
          <a:xfrm>
            <a:off x="1007602" y="570975"/>
            <a:ext cx="9500963" cy="319074"/>
          </a:xfrm>
          <a:prstGeom prst="rect">
            <a:avLst/>
          </a:prstGeom>
          <a:noFill/>
          <a:ln/>
        </p:spPr>
        <p:txBody>
          <a:bodyPr wrap="square" lIns="0" tIns="0" rIns="0" bIns="0" rtlCol="0" anchor="ctr"/>
          <a:lstStyle/>
          <a:p>
            <a:pPr>
              <a:lnSpc>
                <a:spcPct val="90000"/>
              </a:lnSpc>
            </a:pPr>
            <a:r>
              <a:rPr lang="en-US" sz="2380" b="1" dirty="0">
                <a:solidFill>
                  <a:srgbClr val="2A4D53"/>
                </a:solidFill>
                <a:latin typeface="Liter" pitchFamily="34" charset="0"/>
                <a:ea typeface="Liter" pitchFamily="34" charset="-122"/>
                <a:cs typeface="Liter" pitchFamily="34" charset="-120"/>
              </a:rPr>
              <a:t>Are Vaccines Aligned with the Under-5 Population Distribution?</a:t>
            </a:r>
            <a:endParaRPr lang="en-US" sz="1600" dirty="0"/>
          </a:p>
        </p:txBody>
      </p:sp>
      <p:sp>
        <p:nvSpPr>
          <p:cNvPr id="5" name="Shape 3"/>
          <p:cNvSpPr/>
          <p:nvPr/>
        </p:nvSpPr>
        <p:spPr>
          <a:xfrm>
            <a:off x="335868" y="1108364"/>
            <a:ext cx="4366281" cy="1679339"/>
          </a:xfrm>
          <a:custGeom>
            <a:avLst/>
            <a:gdLst/>
            <a:ahLst/>
            <a:cxnLst/>
            <a:rect l="l" t="t" r="r" b="b"/>
            <a:pathLst>
              <a:path w="4366281" h="1679339">
                <a:moveTo>
                  <a:pt x="0" y="0"/>
                </a:moveTo>
                <a:lnTo>
                  <a:pt x="4366281" y="0"/>
                </a:lnTo>
                <a:lnTo>
                  <a:pt x="4366281" y="1679339"/>
                </a:lnTo>
                <a:lnTo>
                  <a:pt x="0" y="1679339"/>
                </a:lnTo>
                <a:lnTo>
                  <a:pt x="0" y="0"/>
                </a:lnTo>
                <a:close/>
              </a:path>
            </a:pathLst>
          </a:custGeom>
          <a:solidFill>
            <a:srgbClr val="2A4D53"/>
          </a:solidFill>
          <a:ln/>
        </p:spPr>
      </p:sp>
      <p:sp>
        <p:nvSpPr>
          <p:cNvPr id="6" name="Shape 4"/>
          <p:cNvSpPr/>
          <p:nvPr/>
        </p:nvSpPr>
        <p:spPr>
          <a:xfrm>
            <a:off x="555231" y="1318281"/>
            <a:ext cx="283388" cy="251901"/>
          </a:xfrm>
          <a:custGeom>
            <a:avLst/>
            <a:gdLst/>
            <a:ahLst/>
            <a:cxnLst/>
            <a:rect l="l" t="t" r="r" b="b"/>
            <a:pathLst>
              <a:path w="283388" h="251901">
                <a:moveTo>
                  <a:pt x="244767" y="-8364"/>
                </a:moveTo>
                <a:cubicBezTo>
                  <a:pt x="240142" y="-12989"/>
                  <a:pt x="232664" y="-12989"/>
                  <a:pt x="228088" y="-8364"/>
                </a:cubicBezTo>
                <a:cubicBezTo>
                  <a:pt x="223513" y="-3739"/>
                  <a:pt x="223464" y="3739"/>
                  <a:pt x="228088" y="8315"/>
                </a:cubicBezTo>
                <a:lnTo>
                  <a:pt x="235468" y="15695"/>
                </a:lnTo>
                <a:lnTo>
                  <a:pt x="212787" y="38376"/>
                </a:lnTo>
                <a:lnTo>
                  <a:pt x="181792" y="7380"/>
                </a:lnTo>
                <a:cubicBezTo>
                  <a:pt x="177167" y="2755"/>
                  <a:pt x="169689" y="2755"/>
                  <a:pt x="165113" y="7380"/>
                </a:cubicBezTo>
                <a:cubicBezTo>
                  <a:pt x="160538" y="12005"/>
                  <a:pt x="160488" y="19483"/>
                  <a:pt x="165113" y="24058"/>
                </a:cubicBezTo>
                <a:lnTo>
                  <a:pt x="168557" y="27502"/>
                </a:lnTo>
                <a:lnTo>
                  <a:pt x="130132" y="65927"/>
                </a:lnTo>
                <a:lnTo>
                  <a:pt x="150304" y="86099"/>
                </a:lnTo>
                <a:cubicBezTo>
                  <a:pt x="154929" y="90724"/>
                  <a:pt x="154929" y="98202"/>
                  <a:pt x="150304" y="102778"/>
                </a:cubicBezTo>
                <a:cubicBezTo>
                  <a:pt x="145679" y="107353"/>
                  <a:pt x="138201" y="107402"/>
                  <a:pt x="133626" y="102778"/>
                </a:cubicBezTo>
                <a:lnTo>
                  <a:pt x="113454" y="82606"/>
                </a:lnTo>
                <a:lnTo>
                  <a:pt x="90773" y="105287"/>
                </a:lnTo>
                <a:lnTo>
                  <a:pt x="110945" y="125458"/>
                </a:lnTo>
                <a:cubicBezTo>
                  <a:pt x="115569" y="130083"/>
                  <a:pt x="115569" y="137561"/>
                  <a:pt x="110945" y="142137"/>
                </a:cubicBezTo>
                <a:cubicBezTo>
                  <a:pt x="106320" y="146713"/>
                  <a:pt x="98842" y="146762"/>
                  <a:pt x="94266" y="142137"/>
                </a:cubicBezTo>
                <a:lnTo>
                  <a:pt x="74094" y="121965"/>
                </a:lnTo>
                <a:lnTo>
                  <a:pt x="55546" y="140513"/>
                </a:lnTo>
                <a:cubicBezTo>
                  <a:pt x="50380" y="145679"/>
                  <a:pt x="47477" y="152666"/>
                  <a:pt x="47477" y="159996"/>
                </a:cubicBezTo>
                <a:lnTo>
                  <a:pt x="47477" y="203685"/>
                </a:lnTo>
                <a:lnTo>
                  <a:pt x="19434" y="231729"/>
                </a:lnTo>
                <a:cubicBezTo>
                  <a:pt x="14809" y="236354"/>
                  <a:pt x="14809" y="243832"/>
                  <a:pt x="19434" y="248408"/>
                </a:cubicBezTo>
                <a:cubicBezTo>
                  <a:pt x="24058" y="252983"/>
                  <a:pt x="31537" y="253032"/>
                  <a:pt x="36112" y="248408"/>
                </a:cubicBezTo>
                <a:lnTo>
                  <a:pt x="64156" y="220364"/>
                </a:lnTo>
                <a:lnTo>
                  <a:pt x="107845" y="220364"/>
                </a:lnTo>
                <a:cubicBezTo>
                  <a:pt x="115176" y="220364"/>
                  <a:pt x="122162" y="217461"/>
                  <a:pt x="127328" y="212295"/>
                </a:cubicBezTo>
                <a:lnTo>
                  <a:pt x="240339" y="99284"/>
                </a:lnTo>
                <a:lnTo>
                  <a:pt x="243783" y="102728"/>
                </a:lnTo>
                <a:cubicBezTo>
                  <a:pt x="248408" y="107353"/>
                  <a:pt x="255886" y="107353"/>
                  <a:pt x="260462" y="102728"/>
                </a:cubicBezTo>
                <a:cubicBezTo>
                  <a:pt x="265037" y="98104"/>
                  <a:pt x="265086" y="90625"/>
                  <a:pt x="260462" y="86050"/>
                </a:cubicBezTo>
                <a:lnTo>
                  <a:pt x="229466" y="55054"/>
                </a:lnTo>
                <a:lnTo>
                  <a:pt x="252147" y="32373"/>
                </a:lnTo>
                <a:lnTo>
                  <a:pt x="259527" y="39753"/>
                </a:lnTo>
                <a:cubicBezTo>
                  <a:pt x="264151" y="44378"/>
                  <a:pt x="271630" y="44378"/>
                  <a:pt x="276205" y="39753"/>
                </a:cubicBezTo>
                <a:cubicBezTo>
                  <a:pt x="280781" y="35128"/>
                  <a:pt x="280830" y="27650"/>
                  <a:pt x="276205" y="23075"/>
                </a:cubicBezTo>
                <a:lnTo>
                  <a:pt x="244718" y="-8413"/>
                </a:lnTo>
                <a:close/>
              </a:path>
            </a:pathLst>
          </a:custGeom>
          <a:solidFill>
            <a:srgbClr val="C87E62"/>
          </a:solidFill>
          <a:ln/>
        </p:spPr>
      </p:sp>
      <p:sp>
        <p:nvSpPr>
          <p:cNvPr id="7" name="Text 5"/>
          <p:cNvSpPr/>
          <p:nvPr/>
        </p:nvSpPr>
        <p:spPr>
          <a:xfrm>
            <a:off x="953025" y="1309884"/>
            <a:ext cx="2279702" cy="251901"/>
          </a:xfrm>
          <a:prstGeom prst="rect">
            <a:avLst/>
          </a:prstGeom>
          <a:noFill/>
          <a:ln/>
        </p:spPr>
        <p:txBody>
          <a:bodyPr wrap="square" lIns="0" tIns="0" rIns="0" bIns="0" rtlCol="0" anchor="ctr"/>
          <a:lstStyle/>
          <a:p>
            <a:pPr>
              <a:lnSpc>
                <a:spcPct val="110000"/>
              </a:lnSpc>
            </a:pPr>
            <a:r>
              <a:rPr lang="en-US" b="1" dirty="0">
                <a:solidFill>
                  <a:srgbClr val="F8F7F5"/>
                </a:solidFill>
                <a:latin typeface="Liter" pitchFamily="34" charset="0"/>
                <a:ea typeface="Liter" pitchFamily="34" charset="-122"/>
                <a:cs typeface="Liter" pitchFamily="34" charset="-120"/>
              </a:rPr>
              <a:t>The Core Question</a:t>
            </a:r>
            <a:endParaRPr lang="en-US" dirty="0"/>
          </a:p>
        </p:txBody>
      </p:sp>
      <p:sp>
        <p:nvSpPr>
          <p:cNvPr id="8" name="Text 6"/>
          <p:cNvSpPr/>
          <p:nvPr/>
        </p:nvSpPr>
        <p:spPr>
          <a:xfrm>
            <a:off x="537388" y="1712925"/>
            <a:ext cx="4082238" cy="245603"/>
          </a:xfrm>
          <a:prstGeom prst="rect">
            <a:avLst/>
          </a:prstGeom>
          <a:noFill/>
          <a:ln/>
        </p:spPr>
        <p:txBody>
          <a:bodyPr wrap="square" lIns="0" tIns="0" rIns="0" bIns="0" rtlCol="0" anchor="ctr"/>
          <a:lstStyle/>
          <a:p>
            <a:pPr>
              <a:lnSpc>
                <a:spcPct val="140000"/>
              </a:lnSpc>
            </a:pPr>
            <a:r>
              <a:rPr lang="en-US" sz="1300" b="1" dirty="0">
                <a:solidFill>
                  <a:srgbClr val="F8F7F5"/>
                </a:solidFill>
                <a:latin typeface="Quattrocento Sans" pitchFamily="34" charset="0"/>
                <a:ea typeface="Quattrocento Sans" pitchFamily="34" charset="-122"/>
                <a:cs typeface="Quattrocento Sans" pitchFamily="34" charset="-120"/>
              </a:rPr>
              <a:t>Vaccines are meant primarily for </a:t>
            </a:r>
            <a:r>
              <a:rPr lang="en-US" sz="1300" b="1" dirty="0">
                <a:solidFill>
                  <a:srgbClr val="F8F7F5"/>
                </a:solidFill>
                <a:highlight>
                  <a:srgbClr val="C87E62">
                    <a:alpha val="100000"/>
                  </a:srgbClr>
                </a:highlight>
                <a:latin typeface="Quattrocento Sans" pitchFamily="34" charset="0"/>
                <a:ea typeface="Quattrocento Sans" pitchFamily="34" charset="-122"/>
                <a:cs typeface="Quattrocento Sans" pitchFamily="34" charset="-120"/>
              </a:rPr>
              <a:t>children under 5 years </a:t>
            </a:r>
            <a:r>
              <a:rPr lang="en-US" sz="1300" b="1" dirty="0">
                <a:solidFill>
                  <a:srgbClr val="F8F7F5"/>
                </a:solidFill>
                <a:latin typeface="Quattrocento Sans" pitchFamily="34" charset="0"/>
                <a:ea typeface="Quattrocento Sans" pitchFamily="34" charset="-122"/>
                <a:cs typeface="Quattrocento Sans" pitchFamily="34" charset="-120"/>
              </a:rPr>
              <a:t>.</a:t>
            </a:r>
            <a:endParaRPr lang="en-US" sz="1300" b="1" dirty="0"/>
          </a:p>
        </p:txBody>
      </p:sp>
      <p:sp>
        <p:nvSpPr>
          <p:cNvPr id="9" name="Text 7"/>
          <p:cNvSpPr/>
          <p:nvPr/>
        </p:nvSpPr>
        <p:spPr>
          <a:xfrm>
            <a:off x="537388" y="2092876"/>
            <a:ext cx="4038810" cy="495405"/>
          </a:xfrm>
          <a:prstGeom prst="rect">
            <a:avLst/>
          </a:prstGeom>
          <a:noFill/>
          <a:ln/>
        </p:spPr>
        <p:txBody>
          <a:bodyPr wrap="square" lIns="0" tIns="0" rIns="0" bIns="0" rtlCol="0" anchor="ctr"/>
          <a:lstStyle/>
          <a:p>
            <a:pPr>
              <a:lnSpc>
                <a:spcPct val="140000"/>
              </a:lnSpc>
            </a:pPr>
            <a:r>
              <a:rPr lang="en-US" sz="1600" b="1" dirty="0">
                <a:solidFill>
                  <a:srgbClr val="F8F7F5"/>
                </a:solidFill>
                <a:latin typeface="Quattrocento Sans" pitchFamily="34" charset="0"/>
                <a:ea typeface="Quattrocento Sans" pitchFamily="34" charset="-122"/>
                <a:cs typeface="Quattrocento Sans" pitchFamily="34" charset="-120"/>
              </a:rPr>
              <a:t>Do facilities serving more infants actually have more vaccines?</a:t>
            </a:r>
            <a:endParaRPr lang="en-US" sz="1600" b="1" dirty="0"/>
          </a:p>
        </p:txBody>
      </p:sp>
      <p:sp>
        <p:nvSpPr>
          <p:cNvPr id="10" name="Shape 8"/>
          <p:cNvSpPr/>
          <p:nvPr/>
        </p:nvSpPr>
        <p:spPr>
          <a:xfrm>
            <a:off x="352661" y="2953537"/>
            <a:ext cx="4349488" cy="4349488"/>
          </a:xfrm>
          <a:custGeom>
            <a:avLst/>
            <a:gdLst/>
            <a:ahLst/>
            <a:cxnLst/>
            <a:rect l="l" t="t" r="r" b="b"/>
            <a:pathLst>
              <a:path w="4349488" h="4349488">
                <a:moveTo>
                  <a:pt x="0" y="0"/>
                </a:moveTo>
                <a:lnTo>
                  <a:pt x="4349488" y="0"/>
                </a:lnTo>
                <a:lnTo>
                  <a:pt x="4349488" y="4349488"/>
                </a:lnTo>
                <a:lnTo>
                  <a:pt x="0" y="4349488"/>
                </a:lnTo>
                <a:lnTo>
                  <a:pt x="0" y="0"/>
                </a:lnTo>
                <a:close/>
              </a:path>
            </a:pathLst>
          </a:custGeom>
          <a:solidFill>
            <a:srgbClr val="FFFFFF"/>
          </a:solidFill>
          <a:ln/>
          <a:effectLst>
            <a:outerShdw blurRad="25190" dist="8397" dir="5400000" algn="bl" rotWithShape="0">
              <a:srgbClr val="000000">
                <a:alpha val="10196"/>
              </a:srgbClr>
            </a:outerShdw>
          </a:effectLst>
        </p:spPr>
      </p:sp>
      <p:sp>
        <p:nvSpPr>
          <p:cNvPr id="11" name="Shape 9"/>
          <p:cNvSpPr/>
          <p:nvPr/>
        </p:nvSpPr>
        <p:spPr>
          <a:xfrm>
            <a:off x="352661" y="2953537"/>
            <a:ext cx="33587" cy="4349488"/>
          </a:xfrm>
          <a:custGeom>
            <a:avLst/>
            <a:gdLst/>
            <a:ahLst/>
            <a:cxnLst/>
            <a:rect l="l" t="t" r="r" b="b"/>
            <a:pathLst>
              <a:path w="33587" h="4349488">
                <a:moveTo>
                  <a:pt x="0" y="0"/>
                </a:moveTo>
                <a:lnTo>
                  <a:pt x="33587" y="0"/>
                </a:lnTo>
                <a:lnTo>
                  <a:pt x="33587" y="4349488"/>
                </a:lnTo>
                <a:lnTo>
                  <a:pt x="0" y="4349488"/>
                </a:lnTo>
                <a:lnTo>
                  <a:pt x="0" y="0"/>
                </a:lnTo>
                <a:close/>
              </a:path>
            </a:pathLst>
          </a:custGeom>
          <a:solidFill>
            <a:srgbClr val="C87E62"/>
          </a:solidFill>
          <a:ln/>
        </p:spPr>
      </p:sp>
      <p:sp>
        <p:nvSpPr>
          <p:cNvPr id="12" name="Shape 10"/>
          <p:cNvSpPr/>
          <p:nvPr/>
        </p:nvSpPr>
        <p:spPr>
          <a:xfrm>
            <a:off x="500651" y="3014415"/>
            <a:ext cx="251901" cy="201521"/>
          </a:xfrm>
          <a:custGeom>
            <a:avLst/>
            <a:gdLst/>
            <a:ahLst/>
            <a:cxnLst/>
            <a:rect l="l" t="t" r="r" b="b"/>
            <a:pathLst>
              <a:path w="251901" h="201521">
                <a:moveTo>
                  <a:pt x="151140" y="12595"/>
                </a:moveTo>
                <a:lnTo>
                  <a:pt x="201521" y="12595"/>
                </a:lnTo>
                <a:cubicBezTo>
                  <a:pt x="208487" y="12595"/>
                  <a:pt x="214116" y="18223"/>
                  <a:pt x="214116" y="25190"/>
                </a:cubicBezTo>
                <a:cubicBezTo>
                  <a:pt x="214116" y="32157"/>
                  <a:pt x="208487" y="37785"/>
                  <a:pt x="201521" y="37785"/>
                </a:cubicBezTo>
                <a:lnTo>
                  <a:pt x="156808" y="37785"/>
                </a:lnTo>
                <a:cubicBezTo>
                  <a:pt x="154762" y="47940"/>
                  <a:pt x="147795" y="56323"/>
                  <a:pt x="138545" y="60338"/>
                </a:cubicBezTo>
                <a:lnTo>
                  <a:pt x="138545" y="176331"/>
                </a:lnTo>
                <a:lnTo>
                  <a:pt x="201521" y="176331"/>
                </a:lnTo>
                <a:cubicBezTo>
                  <a:pt x="208487" y="176331"/>
                  <a:pt x="214116" y="181959"/>
                  <a:pt x="214116" y="188926"/>
                </a:cubicBezTo>
                <a:cubicBezTo>
                  <a:pt x="214116" y="195892"/>
                  <a:pt x="208487" y="201521"/>
                  <a:pt x="201521" y="201521"/>
                </a:cubicBezTo>
                <a:lnTo>
                  <a:pt x="50380" y="201521"/>
                </a:lnTo>
                <a:cubicBezTo>
                  <a:pt x="43414" y="201521"/>
                  <a:pt x="37785" y="195892"/>
                  <a:pt x="37785" y="188926"/>
                </a:cubicBezTo>
                <a:cubicBezTo>
                  <a:pt x="37785" y="181959"/>
                  <a:pt x="43414" y="176331"/>
                  <a:pt x="50380" y="176331"/>
                </a:cubicBezTo>
                <a:lnTo>
                  <a:pt x="113355" y="176331"/>
                </a:lnTo>
                <a:lnTo>
                  <a:pt x="113355" y="60338"/>
                </a:lnTo>
                <a:cubicBezTo>
                  <a:pt x="104106" y="56284"/>
                  <a:pt x="97139" y="47901"/>
                  <a:pt x="95093" y="37785"/>
                </a:cubicBezTo>
                <a:lnTo>
                  <a:pt x="50380" y="37785"/>
                </a:lnTo>
                <a:cubicBezTo>
                  <a:pt x="43414" y="37785"/>
                  <a:pt x="37785" y="32157"/>
                  <a:pt x="37785" y="25190"/>
                </a:cubicBezTo>
                <a:cubicBezTo>
                  <a:pt x="37785" y="18223"/>
                  <a:pt x="43414" y="12595"/>
                  <a:pt x="50380" y="12595"/>
                </a:cubicBezTo>
                <a:lnTo>
                  <a:pt x="100760" y="12595"/>
                </a:lnTo>
                <a:cubicBezTo>
                  <a:pt x="106507" y="4959"/>
                  <a:pt x="115638" y="0"/>
                  <a:pt x="125950" y="0"/>
                </a:cubicBezTo>
                <a:cubicBezTo>
                  <a:pt x="136263" y="0"/>
                  <a:pt x="145394" y="4959"/>
                  <a:pt x="151140" y="12595"/>
                </a:cubicBezTo>
                <a:close/>
                <a:moveTo>
                  <a:pt x="173024" y="125950"/>
                </a:moveTo>
                <a:lnTo>
                  <a:pt x="230017" y="125950"/>
                </a:lnTo>
                <a:lnTo>
                  <a:pt x="201521" y="77066"/>
                </a:lnTo>
                <a:lnTo>
                  <a:pt x="173024" y="125950"/>
                </a:lnTo>
                <a:close/>
                <a:moveTo>
                  <a:pt x="201521" y="163736"/>
                </a:moveTo>
                <a:cubicBezTo>
                  <a:pt x="176764" y="163736"/>
                  <a:pt x="156179" y="150353"/>
                  <a:pt x="151928" y="132681"/>
                </a:cubicBezTo>
                <a:cubicBezTo>
                  <a:pt x="150904" y="128351"/>
                  <a:pt x="152321" y="123904"/>
                  <a:pt x="154565" y="120046"/>
                </a:cubicBezTo>
                <a:lnTo>
                  <a:pt x="192035" y="55812"/>
                </a:lnTo>
                <a:cubicBezTo>
                  <a:pt x="194003" y="52427"/>
                  <a:pt x="197624" y="50380"/>
                  <a:pt x="201521" y="50380"/>
                </a:cubicBezTo>
                <a:cubicBezTo>
                  <a:pt x="205417" y="50380"/>
                  <a:pt x="209038" y="52466"/>
                  <a:pt x="211006" y="55812"/>
                </a:cubicBezTo>
                <a:lnTo>
                  <a:pt x="248477" y="120046"/>
                </a:lnTo>
                <a:cubicBezTo>
                  <a:pt x="250720" y="123904"/>
                  <a:pt x="252137" y="128351"/>
                  <a:pt x="251114" y="132681"/>
                </a:cubicBezTo>
                <a:cubicBezTo>
                  <a:pt x="246863" y="150314"/>
                  <a:pt x="226278" y="163736"/>
                  <a:pt x="201521" y="163736"/>
                </a:cubicBezTo>
                <a:close/>
                <a:moveTo>
                  <a:pt x="49908" y="77066"/>
                </a:moveTo>
                <a:lnTo>
                  <a:pt x="21412" y="125950"/>
                </a:lnTo>
                <a:lnTo>
                  <a:pt x="78443" y="125950"/>
                </a:lnTo>
                <a:lnTo>
                  <a:pt x="49908" y="77066"/>
                </a:lnTo>
                <a:close/>
                <a:moveTo>
                  <a:pt x="354" y="132681"/>
                </a:moveTo>
                <a:cubicBezTo>
                  <a:pt x="-669" y="128351"/>
                  <a:pt x="748" y="123904"/>
                  <a:pt x="2991" y="120046"/>
                </a:cubicBezTo>
                <a:lnTo>
                  <a:pt x="40462" y="55812"/>
                </a:lnTo>
                <a:cubicBezTo>
                  <a:pt x="42430" y="52427"/>
                  <a:pt x="46051" y="50380"/>
                  <a:pt x="49947" y="50380"/>
                </a:cubicBezTo>
                <a:cubicBezTo>
                  <a:pt x="53844" y="50380"/>
                  <a:pt x="57465" y="52466"/>
                  <a:pt x="59433" y="55812"/>
                </a:cubicBezTo>
                <a:lnTo>
                  <a:pt x="96903" y="120046"/>
                </a:lnTo>
                <a:cubicBezTo>
                  <a:pt x="99147" y="123904"/>
                  <a:pt x="100564" y="128351"/>
                  <a:pt x="99540" y="132681"/>
                </a:cubicBezTo>
                <a:cubicBezTo>
                  <a:pt x="95289" y="150314"/>
                  <a:pt x="74704" y="163736"/>
                  <a:pt x="49947" y="163736"/>
                </a:cubicBezTo>
                <a:cubicBezTo>
                  <a:pt x="25190" y="163736"/>
                  <a:pt x="4605" y="150353"/>
                  <a:pt x="354" y="132681"/>
                </a:cubicBezTo>
                <a:close/>
              </a:path>
            </a:pathLst>
          </a:custGeom>
          <a:solidFill>
            <a:srgbClr val="C87E62"/>
          </a:solidFill>
          <a:ln/>
        </p:spPr>
      </p:sp>
      <p:sp>
        <p:nvSpPr>
          <p:cNvPr id="13" name="Text 11"/>
          <p:cNvSpPr/>
          <p:nvPr/>
        </p:nvSpPr>
        <p:spPr>
          <a:xfrm>
            <a:off x="861709" y="3014415"/>
            <a:ext cx="3695990" cy="230908"/>
          </a:xfrm>
          <a:prstGeom prst="rect">
            <a:avLst/>
          </a:prstGeom>
          <a:noFill/>
          <a:ln/>
        </p:spPr>
        <p:txBody>
          <a:bodyPr wrap="square" lIns="0" tIns="0" rIns="0" bIns="0" rtlCol="0" anchor="ctr"/>
          <a:lstStyle/>
          <a:p>
            <a:pPr>
              <a:lnSpc>
                <a:spcPct val="110000"/>
              </a:lnSpc>
            </a:pPr>
            <a:r>
              <a:rPr lang="en-US" sz="1587" b="1" dirty="0">
                <a:solidFill>
                  <a:srgbClr val="2A4D53"/>
                </a:solidFill>
                <a:latin typeface="Liter" pitchFamily="34" charset="0"/>
                <a:ea typeface="Liter" pitchFamily="34" charset="-122"/>
                <a:cs typeface="Liter" pitchFamily="34" charset="-120"/>
              </a:rPr>
              <a:t>Measuring the Vaccine Alignment Gap</a:t>
            </a:r>
            <a:endParaRPr lang="en-US" sz="1600" dirty="0"/>
          </a:p>
        </p:txBody>
      </p:sp>
      <p:sp>
        <p:nvSpPr>
          <p:cNvPr id="14" name="Text 12"/>
          <p:cNvSpPr/>
          <p:nvPr/>
        </p:nvSpPr>
        <p:spPr>
          <a:xfrm>
            <a:off x="570975" y="3306199"/>
            <a:ext cx="3996826" cy="974016"/>
          </a:xfrm>
          <a:prstGeom prst="rect">
            <a:avLst/>
          </a:prstGeom>
          <a:noFill/>
          <a:ln/>
        </p:spPr>
        <p:txBody>
          <a:bodyPr wrap="square" lIns="0" tIns="0" rIns="0" bIns="0" rtlCol="0" anchor="ctr"/>
          <a:lstStyle/>
          <a:p>
            <a:pPr>
              <a:lnSpc>
                <a:spcPct val="140000"/>
              </a:lnSpc>
            </a:pPr>
            <a:r>
              <a:rPr lang="en-US" sz="1200" dirty="0">
                <a:solidFill>
                  <a:srgbClr val="3D3D3D"/>
                </a:solidFill>
                <a:latin typeface="Quattrocento Sans" pitchFamily="34" charset="0"/>
                <a:ea typeface="Quattrocento Sans" pitchFamily="34" charset="-122"/>
                <a:cs typeface="Quattrocento Sans" pitchFamily="34" charset="-120"/>
              </a:rPr>
              <a:t>To determine if our vaccine distribution is meeting the needs of our children, we moved beyond simple inventory counts and performed a </a:t>
            </a:r>
            <a:r>
              <a:rPr lang="en-US" sz="1200" b="1" dirty="0">
                <a:solidFill>
                  <a:srgbClr val="3D3D3D"/>
                </a:solidFill>
                <a:latin typeface="Quattrocento Sans" pitchFamily="34" charset="0"/>
                <a:ea typeface="Quattrocento Sans" pitchFamily="34" charset="-122"/>
                <a:cs typeface="Quattrocento Sans" pitchFamily="34" charset="-120"/>
              </a:rPr>
              <a:t>Supply-vs-Demand Ratio analysis</a:t>
            </a:r>
            <a:r>
              <a:rPr lang="en-US" sz="1200" dirty="0">
                <a:solidFill>
                  <a:srgbClr val="3D3D3D"/>
                </a:solidFill>
                <a:latin typeface="Quattrocento Sans" pitchFamily="34" charset="0"/>
                <a:ea typeface="Quattrocento Sans" pitchFamily="34" charset="-122"/>
                <a:cs typeface="Quattrocento Sans" pitchFamily="34" charset="-120"/>
              </a:rPr>
              <a:t>:</a:t>
            </a:r>
            <a:endParaRPr lang="en-US" sz="1200" dirty="0"/>
          </a:p>
        </p:txBody>
      </p:sp>
      <p:sp>
        <p:nvSpPr>
          <p:cNvPr id="15" name="Shape 13"/>
          <p:cNvSpPr/>
          <p:nvPr/>
        </p:nvSpPr>
        <p:spPr>
          <a:xfrm>
            <a:off x="570975" y="4380975"/>
            <a:ext cx="335868" cy="335868"/>
          </a:xfrm>
          <a:custGeom>
            <a:avLst/>
            <a:gdLst/>
            <a:ahLst/>
            <a:cxnLst/>
            <a:rect l="l" t="t" r="r" b="b"/>
            <a:pathLst>
              <a:path w="335868" h="335868">
                <a:moveTo>
                  <a:pt x="0" y="0"/>
                </a:moveTo>
                <a:lnTo>
                  <a:pt x="335868" y="0"/>
                </a:lnTo>
                <a:lnTo>
                  <a:pt x="335868" y="335868"/>
                </a:lnTo>
                <a:lnTo>
                  <a:pt x="0" y="335868"/>
                </a:lnTo>
                <a:lnTo>
                  <a:pt x="0" y="0"/>
                </a:lnTo>
                <a:close/>
              </a:path>
            </a:pathLst>
          </a:custGeom>
          <a:solidFill>
            <a:srgbClr val="2A4D53"/>
          </a:solidFill>
          <a:ln/>
        </p:spPr>
      </p:sp>
      <p:sp>
        <p:nvSpPr>
          <p:cNvPr id="16" name="Text 14"/>
          <p:cNvSpPr/>
          <p:nvPr/>
        </p:nvSpPr>
        <p:spPr>
          <a:xfrm>
            <a:off x="537388" y="4380975"/>
            <a:ext cx="403041" cy="335868"/>
          </a:xfrm>
          <a:prstGeom prst="rect">
            <a:avLst/>
          </a:prstGeom>
          <a:noFill/>
          <a:ln/>
        </p:spPr>
        <p:txBody>
          <a:bodyPr wrap="square" lIns="0" tIns="0" rIns="0" bIns="0" rtlCol="0" anchor="ctr"/>
          <a:lstStyle/>
          <a:p>
            <a:pPr algn="ctr">
              <a:lnSpc>
                <a:spcPct val="130000"/>
              </a:lnSpc>
            </a:pPr>
            <a:r>
              <a:rPr lang="en-US" sz="1058" b="1" dirty="0">
                <a:solidFill>
                  <a:srgbClr val="F8F7F5"/>
                </a:solidFill>
                <a:latin typeface="Liter" pitchFamily="34" charset="0"/>
                <a:ea typeface="Liter" pitchFamily="34" charset="-122"/>
                <a:cs typeface="Liter" pitchFamily="34" charset="-120"/>
              </a:rPr>
              <a:t>1</a:t>
            </a:r>
            <a:endParaRPr lang="en-US" sz="1600" dirty="0"/>
          </a:p>
        </p:txBody>
      </p:sp>
      <p:sp>
        <p:nvSpPr>
          <p:cNvPr id="17" name="Text 15"/>
          <p:cNvSpPr/>
          <p:nvPr/>
        </p:nvSpPr>
        <p:spPr>
          <a:xfrm>
            <a:off x="1007603" y="4380975"/>
            <a:ext cx="3425851" cy="201521"/>
          </a:xfrm>
          <a:prstGeom prst="rect">
            <a:avLst/>
          </a:prstGeom>
          <a:noFill/>
          <a:ln/>
        </p:spPr>
        <p:txBody>
          <a:bodyPr wrap="square" lIns="0" tIns="0" rIns="0" bIns="0" rtlCol="0" anchor="ctr"/>
          <a:lstStyle/>
          <a:p>
            <a:pP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Total Stock</a:t>
            </a:r>
            <a:endParaRPr lang="en-US" sz="1600" dirty="0"/>
          </a:p>
        </p:txBody>
      </p:sp>
      <p:sp>
        <p:nvSpPr>
          <p:cNvPr id="18" name="Text 16"/>
          <p:cNvSpPr/>
          <p:nvPr/>
        </p:nvSpPr>
        <p:spPr>
          <a:xfrm>
            <a:off x="1007603" y="4582496"/>
            <a:ext cx="3568595" cy="201520"/>
          </a:xfrm>
          <a:prstGeom prst="rect">
            <a:avLst/>
          </a:prstGeom>
          <a:noFill/>
          <a:ln/>
        </p:spPr>
        <p:txBody>
          <a:bodyPr wrap="square" lIns="0" tIns="0" rIns="0" bIns="0" rtlCol="0" anchor="ctr"/>
          <a:lstStyle/>
          <a:p>
            <a:pPr>
              <a:lnSpc>
                <a:spcPct val="120000"/>
              </a:lnSpc>
            </a:pPr>
            <a:r>
              <a:rPr lang="en-US" sz="926" b="1" dirty="0">
                <a:solidFill>
                  <a:srgbClr val="A9A299"/>
                </a:solidFill>
                <a:latin typeface="Quattrocento Sans" pitchFamily="34" charset="0"/>
                <a:ea typeface="Quattrocento Sans" pitchFamily="34" charset="-122"/>
                <a:cs typeface="Quattrocento Sans" pitchFamily="34" charset="-120"/>
              </a:rPr>
              <a:t>Consolidate BCG, Penta, Measles, etc. into single metric per facility</a:t>
            </a:r>
            <a:endParaRPr lang="en-US" sz="1600" b="1" dirty="0"/>
          </a:p>
        </p:txBody>
      </p:sp>
      <p:sp>
        <p:nvSpPr>
          <p:cNvPr id="19" name="Shape 17"/>
          <p:cNvSpPr/>
          <p:nvPr/>
        </p:nvSpPr>
        <p:spPr>
          <a:xfrm>
            <a:off x="570975" y="4884777"/>
            <a:ext cx="335868" cy="335868"/>
          </a:xfrm>
          <a:custGeom>
            <a:avLst/>
            <a:gdLst/>
            <a:ahLst/>
            <a:cxnLst/>
            <a:rect l="l" t="t" r="r" b="b"/>
            <a:pathLst>
              <a:path w="335868" h="335868">
                <a:moveTo>
                  <a:pt x="0" y="0"/>
                </a:moveTo>
                <a:lnTo>
                  <a:pt x="335868" y="0"/>
                </a:lnTo>
                <a:lnTo>
                  <a:pt x="335868" y="335868"/>
                </a:lnTo>
                <a:lnTo>
                  <a:pt x="0" y="335868"/>
                </a:lnTo>
                <a:lnTo>
                  <a:pt x="0" y="0"/>
                </a:lnTo>
                <a:close/>
              </a:path>
            </a:pathLst>
          </a:custGeom>
          <a:solidFill>
            <a:srgbClr val="2A4D53"/>
          </a:solidFill>
          <a:ln/>
        </p:spPr>
      </p:sp>
      <p:sp>
        <p:nvSpPr>
          <p:cNvPr id="20" name="Text 18"/>
          <p:cNvSpPr/>
          <p:nvPr/>
        </p:nvSpPr>
        <p:spPr>
          <a:xfrm>
            <a:off x="537388" y="4884777"/>
            <a:ext cx="403041" cy="335868"/>
          </a:xfrm>
          <a:prstGeom prst="rect">
            <a:avLst/>
          </a:prstGeom>
          <a:noFill/>
          <a:ln/>
        </p:spPr>
        <p:txBody>
          <a:bodyPr wrap="square" lIns="0" tIns="0" rIns="0" bIns="0" rtlCol="0" anchor="ctr"/>
          <a:lstStyle/>
          <a:p>
            <a:pPr algn="ctr">
              <a:lnSpc>
                <a:spcPct val="130000"/>
              </a:lnSpc>
            </a:pPr>
            <a:r>
              <a:rPr lang="en-US" sz="1058" b="1" dirty="0">
                <a:solidFill>
                  <a:srgbClr val="F8F7F5"/>
                </a:solidFill>
                <a:latin typeface="Liter" pitchFamily="34" charset="0"/>
                <a:ea typeface="Liter" pitchFamily="34" charset="-122"/>
                <a:cs typeface="Liter" pitchFamily="34" charset="-120"/>
              </a:rPr>
              <a:t>2</a:t>
            </a:r>
            <a:endParaRPr lang="en-US" sz="1600" dirty="0"/>
          </a:p>
        </p:txBody>
      </p:sp>
      <p:sp>
        <p:nvSpPr>
          <p:cNvPr id="21" name="Text 19"/>
          <p:cNvSpPr/>
          <p:nvPr/>
        </p:nvSpPr>
        <p:spPr>
          <a:xfrm>
            <a:off x="1007603" y="4884777"/>
            <a:ext cx="1838876" cy="201521"/>
          </a:xfrm>
          <a:prstGeom prst="rect">
            <a:avLst/>
          </a:prstGeom>
          <a:noFill/>
          <a:ln/>
        </p:spPr>
        <p:txBody>
          <a:bodyPr wrap="square" lIns="0" tIns="0" rIns="0" bIns="0" rtlCol="0" anchor="ctr"/>
          <a:lstStyle/>
          <a:p>
            <a:pP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The Alignment Ratio</a:t>
            </a:r>
            <a:endParaRPr lang="en-US" sz="1600" dirty="0"/>
          </a:p>
        </p:txBody>
      </p:sp>
      <p:sp>
        <p:nvSpPr>
          <p:cNvPr id="22" name="Text 20"/>
          <p:cNvSpPr/>
          <p:nvPr/>
        </p:nvSpPr>
        <p:spPr>
          <a:xfrm>
            <a:off x="1007603" y="5086298"/>
            <a:ext cx="1830479" cy="167934"/>
          </a:xfrm>
          <a:prstGeom prst="rect">
            <a:avLst/>
          </a:prstGeom>
          <a:noFill/>
          <a:ln/>
        </p:spPr>
        <p:txBody>
          <a:bodyPr wrap="square" lIns="0" tIns="0" rIns="0" bIns="0" rtlCol="0" anchor="ctr"/>
          <a:lstStyle/>
          <a:p>
            <a:pPr>
              <a:lnSpc>
                <a:spcPct val="120000"/>
              </a:lnSpc>
            </a:pPr>
            <a:r>
              <a:rPr lang="en-US" sz="926" dirty="0">
                <a:solidFill>
                  <a:srgbClr val="A9A299"/>
                </a:solidFill>
                <a:latin typeface="Quattrocento Sans" pitchFamily="34" charset="0"/>
                <a:ea typeface="Quattrocento Sans" pitchFamily="34" charset="-122"/>
                <a:cs typeface="Quattrocento Sans" pitchFamily="34" charset="-120"/>
              </a:rPr>
              <a:t>Calculate "Vaccines Per Child" ratio</a:t>
            </a:r>
            <a:endParaRPr lang="en-US" sz="1600" dirty="0"/>
          </a:p>
        </p:txBody>
      </p:sp>
      <p:sp>
        <p:nvSpPr>
          <p:cNvPr id="23" name="Shape 21"/>
          <p:cNvSpPr/>
          <p:nvPr/>
        </p:nvSpPr>
        <p:spPr>
          <a:xfrm>
            <a:off x="570975" y="5388579"/>
            <a:ext cx="335868" cy="335868"/>
          </a:xfrm>
          <a:custGeom>
            <a:avLst/>
            <a:gdLst/>
            <a:ahLst/>
            <a:cxnLst/>
            <a:rect l="l" t="t" r="r" b="b"/>
            <a:pathLst>
              <a:path w="335868" h="335868">
                <a:moveTo>
                  <a:pt x="0" y="0"/>
                </a:moveTo>
                <a:lnTo>
                  <a:pt x="335868" y="0"/>
                </a:lnTo>
                <a:lnTo>
                  <a:pt x="335868" y="335868"/>
                </a:lnTo>
                <a:lnTo>
                  <a:pt x="0" y="335868"/>
                </a:lnTo>
                <a:lnTo>
                  <a:pt x="0" y="0"/>
                </a:lnTo>
                <a:close/>
              </a:path>
            </a:pathLst>
          </a:custGeom>
          <a:solidFill>
            <a:srgbClr val="C87E62"/>
          </a:solidFill>
          <a:ln/>
        </p:spPr>
      </p:sp>
      <p:sp>
        <p:nvSpPr>
          <p:cNvPr id="24" name="Text 22"/>
          <p:cNvSpPr/>
          <p:nvPr/>
        </p:nvSpPr>
        <p:spPr>
          <a:xfrm>
            <a:off x="537388" y="5388579"/>
            <a:ext cx="403041" cy="335868"/>
          </a:xfrm>
          <a:prstGeom prst="rect">
            <a:avLst/>
          </a:prstGeom>
          <a:noFill/>
          <a:ln/>
        </p:spPr>
        <p:txBody>
          <a:bodyPr wrap="square" lIns="0" tIns="0" rIns="0" bIns="0" rtlCol="0" anchor="ctr"/>
          <a:lstStyle/>
          <a:p>
            <a:pPr algn="ctr">
              <a:lnSpc>
                <a:spcPct val="130000"/>
              </a:lnSpc>
            </a:pPr>
            <a:r>
              <a:rPr lang="en-US" sz="1058" b="1" dirty="0">
                <a:solidFill>
                  <a:srgbClr val="F8F7F5"/>
                </a:solidFill>
                <a:latin typeface="Liter" pitchFamily="34" charset="0"/>
                <a:ea typeface="Liter" pitchFamily="34" charset="-122"/>
                <a:cs typeface="Liter" pitchFamily="34" charset="-120"/>
              </a:rPr>
              <a:t>3</a:t>
            </a:r>
            <a:endParaRPr lang="en-US" sz="1600" dirty="0"/>
          </a:p>
        </p:txBody>
      </p:sp>
      <p:sp>
        <p:nvSpPr>
          <p:cNvPr id="25" name="Text 23"/>
          <p:cNvSpPr/>
          <p:nvPr/>
        </p:nvSpPr>
        <p:spPr>
          <a:xfrm>
            <a:off x="1007603" y="5388579"/>
            <a:ext cx="2225124" cy="201521"/>
          </a:xfrm>
          <a:prstGeom prst="rect">
            <a:avLst/>
          </a:prstGeom>
          <a:noFill/>
          <a:ln/>
        </p:spPr>
        <p:txBody>
          <a:bodyPr wrap="square" lIns="0" tIns="0" rIns="0" bIns="0" rtlCol="0" anchor="ctr"/>
          <a:lstStyle/>
          <a:p>
            <a:pP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The 1.0 Safety Threshold</a:t>
            </a:r>
            <a:endParaRPr lang="en-US" sz="1600" dirty="0"/>
          </a:p>
        </p:txBody>
      </p:sp>
      <p:sp>
        <p:nvSpPr>
          <p:cNvPr id="26" name="Text 24"/>
          <p:cNvSpPr/>
          <p:nvPr/>
        </p:nvSpPr>
        <p:spPr>
          <a:xfrm>
            <a:off x="1007603" y="5590099"/>
            <a:ext cx="2216727" cy="167934"/>
          </a:xfrm>
          <a:prstGeom prst="rect">
            <a:avLst/>
          </a:prstGeom>
          <a:noFill/>
          <a:ln/>
        </p:spPr>
        <p:txBody>
          <a:bodyPr wrap="square" lIns="0" tIns="0" rIns="0" bIns="0" rtlCol="0" anchor="ctr"/>
          <a:lstStyle/>
          <a:p>
            <a:pPr>
              <a:lnSpc>
                <a:spcPct val="120000"/>
              </a:lnSpc>
            </a:pPr>
            <a:r>
              <a:rPr lang="en-US" sz="926" dirty="0">
                <a:solidFill>
                  <a:srgbClr val="A9A299"/>
                </a:solidFill>
                <a:latin typeface="Quattrocento Sans" pitchFamily="34" charset="0"/>
                <a:ea typeface="Quattrocento Sans" pitchFamily="34" charset="-122"/>
                <a:cs typeface="Quattrocento Sans" pitchFamily="34" charset="-120"/>
              </a:rPr>
              <a:t>Ratio below 1.0 = immediate stock-out risk</a:t>
            </a:r>
            <a:endParaRPr lang="en-US" sz="1600" dirty="0"/>
          </a:p>
        </p:txBody>
      </p:sp>
      <p:sp>
        <p:nvSpPr>
          <p:cNvPr id="27" name="Shape 25"/>
          <p:cNvSpPr/>
          <p:nvPr/>
        </p:nvSpPr>
        <p:spPr>
          <a:xfrm>
            <a:off x="4905113" y="1108364"/>
            <a:ext cx="6952463" cy="6196760"/>
          </a:xfrm>
          <a:custGeom>
            <a:avLst/>
            <a:gdLst/>
            <a:ahLst/>
            <a:cxnLst/>
            <a:rect l="l" t="t" r="r" b="b"/>
            <a:pathLst>
              <a:path w="6952463" h="6196760">
                <a:moveTo>
                  <a:pt x="0" y="0"/>
                </a:moveTo>
                <a:lnTo>
                  <a:pt x="6952463" y="0"/>
                </a:lnTo>
                <a:lnTo>
                  <a:pt x="6952463" y="6196760"/>
                </a:lnTo>
                <a:lnTo>
                  <a:pt x="0" y="6196760"/>
                </a:lnTo>
                <a:lnTo>
                  <a:pt x="0" y="0"/>
                </a:lnTo>
                <a:close/>
              </a:path>
            </a:pathLst>
          </a:custGeom>
          <a:solidFill>
            <a:srgbClr val="FFFFFF"/>
          </a:solidFill>
          <a:ln/>
          <a:effectLst>
            <a:outerShdw blurRad="25190" dist="8397" dir="5400000" algn="bl" rotWithShape="0">
              <a:srgbClr val="000000">
                <a:alpha val="10196"/>
              </a:srgbClr>
            </a:outerShdw>
          </a:effectLst>
        </p:spPr>
      </p:sp>
      <p:sp>
        <p:nvSpPr>
          <p:cNvPr id="28" name="Text 26"/>
          <p:cNvSpPr/>
          <p:nvPr/>
        </p:nvSpPr>
        <p:spPr>
          <a:xfrm>
            <a:off x="5106633" y="1309884"/>
            <a:ext cx="6650182" cy="268694"/>
          </a:xfrm>
          <a:prstGeom prst="rect">
            <a:avLst/>
          </a:prstGeom>
          <a:noFill/>
          <a:ln/>
        </p:spPr>
        <p:txBody>
          <a:bodyPr wrap="square" lIns="0" tIns="0" rIns="0" bIns="0" rtlCol="0" anchor="ctr"/>
          <a:lstStyle/>
          <a:p>
            <a:pPr>
              <a:lnSpc>
                <a:spcPct val="110000"/>
              </a:lnSpc>
            </a:pPr>
            <a:r>
              <a:rPr lang="en-US" b="1" dirty="0">
                <a:solidFill>
                  <a:srgbClr val="2A4D53"/>
                </a:solidFill>
                <a:latin typeface="Liter" pitchFamily="34" charset="0"/>
                <a:ea typeface="Liter" pitchFamily="34" charset="-122"/>
                <a:cs typeface="Liter" pitchFamily="34" charset="-120"/>
              </a:rPr>
              <a:t>Vaccine Alignment Analysis Framework</a:t>
            </a:r>
            <a:endParaRPr lang="en-US" dirty="0"/>
          </a:p>
        </p:txBody>
      </p:sp>
      <p:sp>
        <p:nvSpPr>
          <p:cNvPr id="29" name="Shape 27"/>
          <p:cNvSpPr/>
          <p:nvPr/>
        </p:nvSpPr>
        <p:spPr>
          <a:xfrm>
            <a:off x="5123427" y="1746512"/>
            <a:ext cx="6532628" cy="1293091"/>
          </a:xfrm>
          <a:custGeom>
            <a:avLst/>
            <a:gdLst/>
            <a:ahLst/>
            <a:cxnLst/>
            <a:rect l="l" t="t" r="r" b="b"/>
            <a:pathLst>
              <a:path w="6532628" h="1293091">
                <a:moveTo>
                  <a:pt x="0" y="0"/>
                </a:moveTo>
                <a:lnTo>
                  <a:pt x="6532628" y="0"/>
                </a:lnTo>
                <a:lnTo>
                  <a:pt x="6532628" y="1293091"/>
                </a:lnTo>
                <a:lnTo>
                  <a:pt x="0" y="1293091"/>
                </a:lnTo>
                <a:lnTo>
                  <a:pt x="0" y="0"/>
                </a:lnTo>
                <a:close/>
              </a:path>
            </a:pathLst>
          </a:custGeom>
          <a:solidFill>
            <a:srgbClr val="2A4D53">
              <a:alpha val="5098"/>
            </a:srgbClr>
          </a:solidFill>
          <a:ln/>
        </p:spPr>
      </p:sp>
      <p:sp>
        <p:nvSpPr>
          <p:cNvPr id="30" name="Shape 28"/>
          <p:cNvSpPr/>
          <p:nvPr/>
        </p:nvSpPr>
        <p:spPr>
          <a:xfrm>
            <a:off x="5123427" y="1746512"/>
            <a:ext cx="33587" cy="1293091"/>
          </a:xfrm>
          <a:custGeom>
            <a:avLst/>
            <a:gdLst/>
            <a:ahLst/>
            <a:cxnLst/>
            <a:rect l="l" t="t" r="r" b="b"/>
            <a:pathLst>
              <a:path w="33587" h="1293091">
                <a:moveTo>
                  <a:pt x="0" y="0"/>
                </a:moveTo>
                <a:lnTo>
                  <a:pt x="33587" y="0"/>
                </a:lnTo>
                <a:lnTo>
                  <a:pt x="33587" y="1293091"/>
                </a:lnTo>
                <a:lnTo>
                  <a:pt x="0" y="1293091"/>
                </a:lnTo>
                <a:lnTo>
                  <a:pt x="0" y="0"/>
                </a:lnTo>
                <a:close/>
              </a:path>
            </a:pathLst>
          </a:custGeom>
          <a:solidFill>
            <a:srgbClr val="2A4D53"/>
          </a:solidFill>
          <a:ln/>
        </p:spPr>
      </p:sp>
      <p:sp>
        <p:nvSpPr>
          <p:cNvPr id="31" name="Shape 29"/>
          <p:cNvSpPr/>
          <p:nvPr/>
        </p:nvSpPr>
        <p:spPr>
          <a:xfrm>
            <a:off x="5333344" y="1931240"/>
            <a:ext cx="201521" cy="201521"/>
          </a:xfrm>
          <a:custGeom>
            <a:avLst/>
            <a:gdLst/>
            <a:ahLst/>
            <a:cxnLst/>
            <a:rect l="l" t="t" r="r" b="b"/>
            <a:pathLst>
              <a:path w="201521" h="201521">
                <a:moveTo>
                  <a:pt x="25190" y="44083"/>
                </a:moveTo>
                <a:cubicBezTo>
                  <a:pt x="25190" y="33652"/>
                  <a:pt x="33652" y="25190"/>
                  <a:pt x="44083" y="25190"/>
                </a:cubicBezTo>
                <a:cubicBezTo>
                  <a:pt x="54513" y="25190"/>
                  <a:pt x="62975" y="33652"/>
                  <a:pt x="62975" y="44083"/>
                </a:cubicBezTo>
                <a:lnTo>
                  <a:pt x="62975" y="88165"/>
                </a:lnTo>
                <a:lnTo>
                  <a:pt x="25190" y="88165"/>
                </a:lnTo>
                <a:lnTo>
                  <a:pt x="25190" y="44083"/>
                </a:lnTo>
                <a:close/>
                <a:moveTo>
                  <a:pt x="69273" y="144843"/>
                </a:moveTo>
                <a:cubicBezTo>
                  <a:pt x="69273" y="125675"/>
                  <a:pt x="76397" y="108160"/>
                  <a:pt x="88165" y="94856"/>
                </a:cubicBezTo>
                <a:lnTo>
                  <a:pt x="88165" y="44083"/>
                </a:lnTo>
                <a:cubicBezTo>
                  <a:pt x="88165" y="19719"/>
                  <a:pt x="68446" y="0"/>
                  <a:pt x="44083" y="0"/>
                </a:cubicBezTo>
                <a:cubicBezTo>
                  <a:pt x="19719" y="0"/>
                  <a:pt x="0" y="19719"/>
                  <a:pt x="0" y="44083"/>
                </a:cubicBezTo>
                <a:lnTo>
                  <a:pt x="0" y="157438"/>
                </a:lnTo>
                <a:cubicBezTo>
                  <a:pt x="0" y="181802"/>
                  <a:pt x="19719" y="201521"/>
                  <a:pt x="44083" y="201521"/>
                </a:cubicBezTo>
                <a:cubicBezTo>
                  <a:pt x="58764" y="201521"/>
                  <a:pt x="71752" y="194357"/>
                  <a:pt x="79782" y="183297"/>
                </a:cubicBezTo>
                <a:cubicBezTo>
                  <a:pt x="73091" y="172040"/>
                  <a:pt x="69273" y="158894"/>
                  <a:pt x="69273" y="144843"/>
                </a:cubicBezTo>
                <a:close/>
                <a:moveTo>
                  <a:pt x="94738" y="171371"/>
                </a:moveTo>
                <a:cubicBezTo>
                  <a:pt x="96549" y="174796"/>
                  <a:pt x="101154" y="175189"/>
                  <a:pt x="103909" y="172434"/>
                </a:cubicBezTo>
                <a:lnTo>
                  <a:pt x="172434" y="103909"/>
                </a:lnTo>
                <a:cubicBezTo>
                  <a:pt x="175189" y="101154"/>
                  <a:pt x="174796" y="96549"/>
                  <a:pt x="171371" y="94738"/>
                </a:cubicBezTo>
                <a:cubicBezTo>
                  <a:pt x="163460" y="90527"/>
                  <a:pt x="154447" y="88165"/>
                  <a:pt x="144843" y="88165"/>
                </a:cubicBezTo>
                <a:cubicBezTo>
                  <a:pt x="113552" y="88165"/>
                  <a:pt x="88165" y="113552"/>
                  <a:pt x="88165" y="144843"/>
                </a:cubicBezTo>
                <a:cubicBezTo>
                  <a:pt x="88165" y="154407"/>
                  <a:pt x="90527" y="163460"/>
                  <a:pt x="94738" y="171371"/>
                </a:cubicBezTo>
                <a:close/>
                <a:moveTo>
                  <a:pt x="117252" y="185777"/>
                </a:moveTo>
                <a:cubicBezTo>
                  <a:pt x="114497" y="188532"/>
                  <a:pt x="114890" y="193137"/>
                  <a:pt x="118315" y="194948"/>
                </a:cubicBezTo>
                <a:cubicBezTo>
                  <a:pt x="126226" y="199159"/>
                  <a:pt x="135239" y="201521"/>
                  <a:pt x="144843" y="201521"/>
                </a:cubicBezTo>
                <a:cubicBezTo>
                  <a:pt x="176134" y="201521"/>
                  <a:pt x="201521" y="176134"/>
                  <a:pt x="201521" y="144843"/>
                </a:cubicBezTo>
                <a:cubicBezTo>
                  <a:pt x="201521" y="135279"/>
                  <a:pt x="199159" y="126226"/>
                  <a:pt x="194948" y="118315"/>
                </a:cubicBezTo>
                <a:cubicBezTo>
                  <a:pt x="193137" y="114890"/>
                  <a:pt x="188532" y="114497"/>
                  <a:pt x="185777" y="117252"/>
                </a:cubicBezTo>
                <a:lnTo>
                  <a:pt x="117252" y="185777"/>
                </a:lnTo>
                <a:close/>
              </a:path>
            </a:pathLst>
          </a:custGeom>
          <a:solidFill>
            <a:srgbClr val="2A4D53"/>
          </a:solidFill>
          <a:ln/>
        </p:spPr>
      </p:sp>
      <p:sp>
        <p:nvSpPr>
          <p:cNvPr id="32" name="Text 30"/>
          <p:cNvSpPr/>
          <p:nvPr/>
        </p:nvSpPr>
        <p:spPr>
          <a:xfrm>
            <a:off x="5660815" y="1914446"/>
            <a:ext cx="3477676" cy="243504"/>
          </a:xfrm>
          <a:prstGeom prst="rect">
            <a:avLst/>
          </a:prstGeom>
          <a:noFill/>
          <a:ln/>
        </p:spPr>
        <p:txBody>
          <a:bodyPr wrap="square" lIns="0" tIns="0" rIns="0" bIns="0" rtlCol="0" anchor="ctr"/>
          <a:lstStyle/>
          <a:p>
            <a:pPr>
              <a:lnSpc>
                <a:spcPct val="120000"/>
              </a:lnSpc>
            </a:pPr>
            <a:r>
              <a:rPr lang="en-US" sz="1600" b="1" dirty="0">
                <a:solidFill>
                  <a:srgbClr val="2A4D53"/>
                </a:solidFill>
                <a:latin typeface="Liter" pitchFamily="34" charset="0"/>
                <a:ea typeface="Liter" pitchFamily="34" charset="-122"/>
                <a:cs typeface="Liter" pitchFamily="34" charset="-120"/>
              </a:rPr>
              <a:t>Step 1: Total Stock Consolidation</a:t>
            </a:r>
            <a:endParaRPr lang="en-US" sz="1600" dirty="0"/>
          </a:p>
        </p:txBody>
      </p:sp>
      <p:sp>
        <p:nvSpPr>
          <p:cNvPr id="33" name="Shape 31"/>
          <p:cNvSpPr/>
          <p:nvPr/>
        </p:nvSpPr>
        <p:spPr>
          <a:xfrm>
            <a:off x="5312352" y="2254512"/>
            <a:ext cx="1486215" cy="310678"/>
          </a:xfrm>
          <a:custGeom>
            <a:avLst/>
            <a:gdLst/>
            <a:ahLst/>
            <a:cxnLst/>
            <a:rect l="l" t="t" r="r" b="b"/>
            <a:pathLst>
              <a:path w="1486215" h="310678">
                <a:moveTo>
                  <a:pt x="0" y="0"/>
                </a:moveTo>
                <a:lnTo>
                  <a:pt x="1486215" y="0"/>
                </a:lnTo>
                <a:lnTo>
                  <a:pt x="1486215" y="310678"/>
                </a:lnTo>
                <a:lnTo>
                  <a:pt x="0" y="310678"/>
                </a:lnTo>
                <a:lnTo>
                  <a:pt x="0" y="0"/>
                </a:lnTo>
                <a:close/>
              </a:path>
            </a:pathLst>
          </a:custGeom>
          <a:solidFill>
            <a:srgbClr val="FFFFFF"/>
          </a:solidFill>
          <a:ln w="12700">
            <a:solidFill>
              <a:srgbClr val="2A4D53">
                <a:alpha val="20000"/>
              </a:srgbClr>
            </a:solidFill>
            <a:prstDash val="solid"/>
          </a:ln>
        </p:spPr>
        <p:txBody>
          <a:bodyPr/>
          <a:lstStyle/>
          <a:p>
            <a:endParaRPr lang="en-US" dirty="0"/>
          </a:p>
        </p:txBody>
      </p:sp>
      <p:sp>
        <p:nvSpPr>
          <p:cNvPr id="34" name="Text 32"/>
          <p:cNvSpPr/>
          <p:nvPr/>
        </p:nvSpPr>
        <p:spPr>
          <a:xfrm>
            <a:off x="5354336" y="2325884"/>
            <a:ext cx="1402248" cy="167934"/>
          </a:xfrm>
          <a:prstGeom prst="rect">
            <a:avLst/>
          </a:prstGeom>
          <a:noFill/>
          <a:ln/>
        </p:spPr>
        <p:txBody>
          <a:bodyPr wrap="square" lIns="0" tIns="0" rIns="0" bIns="0" rtlCol="0" anchor="ctr"/>
          <a:lstStyle/>
          <a:p>
            <a:pPr algn="ctr">
              <a:lnSpc>
                <a:spcPct val="120000"/>
              </a:lnSpc>
            </a:pPr>
            <a:r>
              <a:rPr lang="en-US" sz="1600" b="1" dirty="0">
                <a:solidFill>
                  <a:srgbClr val="2A4D53"/>
                </a:solidFill>
                <a:latin typeface="Quattrocento Sans" pitchFamily="34" charset="0"/>
                <a:ea typeface="Quattrocento Sans" pitchFamily="34" charset="-122"/>
                <a:cs typeface="Quattrocento Sans" pitchFamily="34" charset="-120"/>
              </a:rPr>
              <a:t>BCG</a:t>
            </a:r>
            <a:endParaRPr lang="en-US" sz="1600" dirty="0"/>
          </a:p>
        </p:txBody>
      </p:sp>
      <p:sp>
        <p:nvSpPr>
          <p:cNvPr id="35" name="Shape 33"/>
          <p:cNvSpPr/>
          <p:nvPr/>
        </p:nvSpPr>
        <p:spPr>
          <a:xfrm>
            <a:off x="6874662" y="2254512"/>
            <a:ext cx="1486215" cy="310678"/>
          </a:xfrm>
          <a:custGeom>
            <a:avLst/>
            <a:gdLst/>
            <a:ahLst/>
            <a:cxnLst/>
            <a:rect l="l" t="t" r="r" b="b"/>
            <a:pathLst>
              <a:path w="1486215" h="310678">
                <a:moveTo>
                  <a:pt x="0" y="0"/>
                </a:moveTo>
                <a:lnTo>
                  <a:pt x="1486215" y="0"/>
                </a:lnTo>
                <a:lnTo>
                  <a:pt x="1486215" y="310678"/>
                </a:lnTo>
                <a:lnTo>
                  <a:pt x="0" y="310678"/>
                </a:lnTo>
                <a:lnTo>
                  <a:pt x="0" y="0"/>
                </a:lnTo>
                <a:close/>
              </a:path>
            </a:pathLst>
          </a:custGeom>
          <a:solidFill>
            <a:srgbClr val="FFFFFF"/>
          </a:solidFill>
          <a:ln w="12700">
            <a:solidFill>
              <a:srgbClr val="2A4D53">
                <a:alpha val="20000"/>
              </a:srgbClr>
            </a:solidFill>
            <a:prstDash val="solid"/>
          </a:ln>
        </p:spPr>
        <p:txBody>
          <a:bodyPr/>
          <a:lstStyle/>
          <a:p>
            <a:endParaRPr lang="en-US" dirty="0"/>
          </a:p>
        </p:txBody>
      </p:sp>
      <p:sp>
        <p:nvSpPr>
          <p:cNvPr id="36" name="Text 34"/>
          <p:cNvSpPr/>
          <p:nvPr/>
        </p:nvSpPr>
        <p:spPr>
          <a:xfrm>
            <a:off x="6916646" y="2325884"/>
            <a:ext cx="1402248" cy="167934"/>
          </a:xfrm>
          <a:prstGeom prst="rect">
            <a:avLst/>
          </a:prstGeom>
          <a:noFill/>
          <a:ln/>
        </p:spPr>
        <p:txBody>
          <a:bodyPr wrap="square" lIns="0" tIns="0" rIns="0" bIns="0" rtlCol="0" anchor="ctr"/>
          <a:lstStyle/>
          <a:p>
            <a:pPr algn="ctr">
              <a:lnSpc>
                <a:spcPct val="120000"/>
              </a:lnSpc>
            </a:pPr>
            <a:r>
              <a:rPr lang="en-US" sz="1600" b="1" dirty="0">
                <a:solidFill>
                  <a:srgbClr val="2A4D53"/>
                </a:solidFill>
                <a:latin typeface="Quattrocento Sans" pitchFamily="34" charset="0"/>
                <a:ea typeface="Quattrocento Sans" pitchFamily="34" charset="-122"/>
                <a:cs typeface="Quattrocento Sans" pitchFamily="34" charset="-120"/>
              </a:rPr>
              <a:t>Penta</a:t>
            </a:r>
            <a:endParaRPr lang="en-US" sz="1600" dirty="0"/>
          </a:p>
        </p:txBody>
      </p:sp>
      <p:sp>
        <p:nvSpPr>
          <p:cNvPr id="37" name="Shape 35"/>
          <p:cNvSpPr/>
          <p:nvPr/>
        </p:nvSpPr>
        <p:spPr>
          <a:xfrm>
            <a:off x="8436972" y="2254512"/>
            <a:ext cx="1486215" cy="310678"/>
          </a:xfrm>
          <a:custGeom>
            <a:avLst/>
            <a:gdLst/>
            <a:ahLst/>
            <a:cxnLst/>
            <a:rect l="l" t="t" r="r" b="b"/>
            <a:pathLst>
              <a:path w="1486215" h="310678">
                <a:moveTo>
                  <a:pt x="0" y="0"/>
                </a:moveTo>
                <a:lnTo>
                  <a:pt x="1486215" y="0"/>
                </a:lnTo>
                <a:lnTo>
                  <a:pt x="1486215" y="310678"/>
                </a:lnTo>
                <a:lnTo>
                  <a:pt x="0" y="310678"/>
                </a:lnTo>
                <a:lnTo>
                  <a:pt x="0" y="0"/>
                </a:lnTo>
                <a:close/>
              </a:path>
            </a:pathLst>
          </a:custGeom>
          <a:solidFill>
            <a:srgbClr val="FFFFFF"/>
          </a:solidFill>
          <a:ln w="12700">
            <a:solidFill>
              <a:srgbClr val="2A4D53">
                <a:alpha val="20000"/>
              </a:srgbClr>
            </a:solidFill>
            <a:prstDash val="solid"/>
          </a:ln>
        </p:spPr>
      </p:sp>
      <p:sp>
        <p:nvSpPr>
          <p:cNvPr id="38" name="Text 36"/>
          <p:cNvSpPr/>
          <p:nvPr/>
        </p:nvSpPr>
        <p:spPr>
          <a:xfrm>
            <a:off x="8478956" y="2325884"/>
            <a:ext cx="1402248" cy="167934"/>
          </a:xfrm>
          <a:prstGeom prst="rect">
            <a:avLst/>
          </a:prstGeom>
          <a:noFill/>
          <a:ln/>
        </p:spPr>
        <p:txBody>
          <a:bodyPr wrap="square" lIns="0" tIns="0" rIns="0" bIns="0" rtlCol="0" anchor="ctr"/>
          <a:lstStyle/>
          <a:p>
            <a:pPr algn="ctr">
              <a:lnSpc>
                <a:spcPct val="120000"/>
              </a:lnSpc>
            </a:pPr>
            <a:r>
              <a:rPr lang="en-US" sz="1600" b="1" dirty="0">
                <a:solidFill>
                  <a:srgbClr val="2A4D53"/>
                </a:solidFill>
                <a:latin typeface="Quattrocento Sans" pitchFamily="34" charset="0"/>
                <a:ea typeface="Quattrocento Sans" pitchFamily="34" charset="-122"/>
                <a:cs typeface="Quattrocento Sans" pitchFamily="34" charset="-120"/>
              </a:rPr>
              <a:t>Measles</a:t>
            </a:r>
            <a:endParaRPr lang="en-US" sz="1600" dirty="0"/>
          </a:p>
        </p:txBody>
      </p:sp>
      <p:sp>
        <p:nvSpPr>
          <p:cNvPr id="39" name="Shape 37"/>
          <p:cNvSpPr/>
          <p:nvPr/>
        </p:nvSpPr>
        <p:spPr>
          <a:xfrm>
            <a:off x="9999282" y="2254512"/>
            <a:ext cx="1486215" cy="310678"/>
          </a:xfrm>
          <a:custGeom>
            <a:avLst/>
            <a:gdLst/>
            <a:ahLst/>
            <a:cxnLst/>
            <a:rect l="l" t="t" r="r" b="b"/>
            <a:pathLst>
              <a:path w="1486215" h="310678">
                <a:moveTo>
                  <a:pt x="0" y="0"/>
                </a:moveTo>
                <a:lnTo>
                  <a:pt x="1486215" y="0"/>
                </a:lnTo>
                <a:lnTo>
                  <a:pt x="1486215" y="310678"/>
                </a:lnTo>
                <a:lnTo>
                  <a:pt x="0" y="310678"/>
                </a:lnTo>
                <a:lnTo>
                  <a:pt x="0" y="0"/>
                </a:lnTo>
                <a:close/>
              </a:path>
            </a:pathLst>
          </a:custGeom>
          <a:solidFill>
            <a:srgbClr val="FFFFFF"/>
          </a:solidFill>
          <a:ln w="12700">
            <a:solidFill>
              <a:srgbClr val="2A4D53">
                <a:alpha val="20000"/>
              </a:srgbClr>
            </a:solidFill>
            <a:prstDash val="solid"/>
          </a:ln>
        </p:spPr>
      </p:sp>
      <p:sp>
        <p:nvSpPr>
          <p:cNvPr id="40" name="Text 38"/>
          <p:cNvSpPr/>
          <p:nvPr/>
        </p:nvSpPr>
        <p:spPr>
          <a:xfrm>
            <a:off x="10041265" y="2325884"/>
            <a:ext cx="1402248" cy="167934"/>
          </a:xfrm>
          <a:prstGeom prst="rect">
            <a:avLst/>
          </a:prstGeom>
          <a:noFill/>
          <a:ln/>
        </p:spPr>
        <p:txBody>
          <a:bodyPr wrap="square" lIns="0" tIns="0" rIns="0" bIns="0" rtlCol="0" anchor="ctr"/>
          <a:lstStyle/>
          <a:p>
            <a:pPr algn="ctr">
              <a:lnSpc>
                <a:spcPct val="120000"/>
              </a:lnSpc>
            </a:pPr>
            <a:r>
              <a:rPr lang="en-US" sz="1600" b="1" dirty="0">
                <a:solidFill>
                  <a:srgbClr val="2A4D53"/>
                </a:solidFill>
                <a:latin typeface="Quattrocento Sans" pitchFamily="34" charset="0"/>
                <a:ea typeface="Quattrocento Sans" pitchFamily="34" charset="-122"/>
                <a:cs typeface="Quattrocento Sans" pitchFamily="34" charset="-120"/>
              </a:rPr>
              <a:t>+ Others</a:t>
            </a:r>
            <a:endParaRPr lang="en-US" sz="1600" dirty="0"/>
          </a:p>
        </p:txBody>
      </p:sp>
      <p:sp>
        <p:nvSpPr>
          <p:cNvPr id="41" name="Shape 39"/>
          <p:cNvSpPr/>
          <p:nvPr/>
        </p:nvSpPr>
        <p:spPr>
          <a:xfrm>
            <a:off x="7385680" y="2686942"/>
            <a:ext cx="125950" cy="167934"/>
          </a:xfrm>
          <a:custGeom>
            <a:avLst/>
            <a:gdLst/>
            <a:ahLst/>
            <a:cxnLst/>
            <a:rect l="l" t="t" r="r" b="b"/>
            <a:pathLst>
              <a:path w="125950" h="167934">
                <a:moveTo>
                  <a:pt x="55563" y="164851"/>
                </a:moveTo>
                <a:cubicBezTo>
                  <a:pt x="59662" y="168951"/>
                  <a:pt x="66321" y="168951"/>
                  <a:pt x="70421" y="164851"/>
                </a:cubicBezTo>
                <a:lnTo>
                  <a:pt x="122900" y="112371"/>
                </a:lnTo>
                <a:cubicBezTo>
                  <a:pt x="127000" y="108271"/>
                  <a:pt x="127000" y="101613"/>
                  <a:pt x="122900" y="97513"/>
                </a:cubicBezTo>
                <a:cubicBezTo>
                  <a:pt x="118800" y="93413"/>
                  <a:pt x="112142" y="93413"/>
                  <a:pt x="108042" y="97513"/>
                </a:cubicBezTo>
                <a:lnTo>
                  <a:pt x="73471" y="132084"/>
                </a:lnTo>
                <a:lnTo>
                  <a:pt x="73471" y="10496"/>
                </a:lnTo>
                <a:cubicBezTo>
                  <a:pt x="73471" y="4690"/>
                  <a:pt x="68781" y="0"/>
                  <a:pt x="62975" y="0"/>
                </a:cubicBezTo>
                <a:cubicBezTo>
                  <a:pt x="57170" y="0"/>
                  <a:pt x="52479" y="4690"/>
                  <a:pt x="52479" y="10496"/>
                </a:cubicBezTo>
                <a:lnTo>
                  <a:pt x="52479" y="132084"/>
                </a:lnTo>
                <a:lnTo>
                  <a:pt x="17909" y="97513"/>
                </a:lnTo>
                <a:cubicBezTo>
                  <a:pt x="13809" y="93413"/>
                  <a:pt x="7150" y="93413"/>
                  <a:pt x="3050" y="97513"/>
                </a:cubicBezTo>
                <a:cubicBezTo>
                  <a:pt x="-1050" y="101613"/>
                  <a:pt x="-1050" y="108271"/>
                  <a:pt x="3050" y="112371"/>
                </a:cubicBezTo>
                <a:lnTo>
                  <a:pt x="55530" y="164851"/>
                </a:lnTo>
                <a:close/>
              </a:path>
            </a:pathLst>
          </a:custGeom>
          <a:solidFill>
            <a:srgbClr val="C87E62"/>
          </a:solidFill>
          <a:ln/>
        </p:spPr>
      </p:sp>
      <p:sp>
        <p:nvSpPr>
          <p:cNvPr id="42" name="Text 40"/>
          <p:cNvSpPr/>
          <p:nvPr/>
        </p:nvSpPr>
        <p:spPr>
          <a:xfrm>
            <a:off x="7654374" y="2670149"/>
            <a:ext cx="3023004" cy="310678"/>
          </a:xfrm>
          <a:prstGeom prst="rect">
            <a:avLst/>
          </a:prstGeom>
          <a:noFill/>
          <a:ln/>
        </p:spPr>
        <p:txBody>
          <a:bodyPr wrap="square" lIns="0" tIns="0" rIns="0" bIns="0" rtlCol="0" anchor="ctr"/>
          <a:lstStyle/>
          <a:p>
            <a:pP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Total Vaccine Stock per Facility</a:t>
            </a:r>
            <a:endParaRPr lang="en-US" sz="1600" dirty="0"/>
          </a:p>
        </p:txBody>
      </p:sp>
      <p:sp>
        <p:nvSpPr>
          <p:cNvPr id="43" name="Shape 41"/>
          <p:cNvSpPr/>
          <p:nvPr/>
        </p:nvSpPr>
        <p:spPr>
          <a:xfrm>
            <a:off x="5123427" y="3173950"/>
            <a:ext cx="6532628" cy="1477818"/>
          </a:xfrm>
          <a:custGeom>
            <a:avLst/>
            <a:gdLst/>
            <a:ahLst/>
            <a:cxnLst/>
            <a:rect l="l" t="t" r="r" b="b"/>
            <a:pathLst>
              <a:path w="6532628" h="1477818">
                <a:moveTo>
                  <a:pt x="0" y="0"/>
                </a:moveTo>
                <a:lnTo>
                  <a:pt x="6532628" y="0"/>
                </a:lnTo>
                <a:lnTo>
                  <a:pt x="6532628" y="1477818"/>
                </a:lnTo>
                <a:lnTo>
                  <a:pt x="0" y="1477818"/>
                </a:lnTo>
                <a:lnTo>
                  <a:pt x="0" y="0"/>
                </a:lnTo>
                <a:close/>
              </a:path>
            </a:pathLst>
          </a:custGeom>
          <a:solidFill>
            <a:srgbClr val="C87E62">
              <a:alpha val="10196"/>
            </a:srgbClr>
          </a:solidFill>
          <a:ln/>
        </p:spPr>
      </p:sp>
      <p:sp>
        <p:nvSpPr>
          <p:cNvPr id="44" name="Shape 42"/>
          <p:cNvSpPr/>
          <p:nvPr/>
        </p:nvSpPr>
        <p:spPr>
          <a:xfrm>
            <a:off x="5123427" y="3173950"/>
            <a:ext cx="33587" cy="1477818"/>
          </a:xfrm>
          <a:custGeom>
            <a:avLst/>
            <a:gdLst/>
            <a:ahLst/>
            <a:cxnLst/>
            <a:rect l="l" t="t" r="r" b="b"/>
            <a:pathLst>
              <a:path w="33587" h="1477818">
                <a:moveTo>
                  <a:pt x="0" y="0"/>
                </a:moveTo>
                <a:lnTo>
                  <a:pt x="33587" y="0"/>
                </a:lnTo>
                <a:lnTo>
                  <a:pt x="33587" y="1477818"/>
                </a:lnTo>
                <a:lnTo>
                  <a:pt x="0" y="1477818"/>
                </a:lnTo>
                <a:lnTo>
                  <a:pt x="0" y="0"/>
                </a:lnTo>
                <a:close/>
              </a:path>
            </a:pathLst>
          </a:custGeom>
          <a:solidFill>
            <a:srgbClr val="C87E62"/>
          </a:solidFill>
          <a:ln/>
        </p:spPr>
      </p:sp>
      <p:sp>
        <p:nvSpPr>
          <p:cNvPr id="45" name="Shape 43"/>
          <p:cNvSpPr/>
          <p:nvPr/>
        </p:nvSpPr>
        <p:spPr>
          <a:xfrm>
            <a:off x="5358534" y="3358678"/>
            <a:ext cx="151140" cy="201521"/>
          </a:xfrm>
          <a:custGeom>
            <a:avLst/>
            <a:gdLst/>
            <a:ahLst/>
            <a:cxnLst/>
            <a:rect l="l" t="t" r="r" b="b"/>
            <a:pathLst>
              <a:path w="151140" h="201521">
                <a:moveTo>
                  <a:pt x="25190" y="0"/>
                </a:moveTo>
                <a:cubicBezTo>
                  <a:pt x="11296" y="0"/>
                  <a:pt x="0" y="11296"/>
                  <a:pt x="0" y="25190"/>
                </a:cubicBezTo>
                <a:lnTo>
                  <a:pt x="0" y="176331"/>
                </a:lnTo>
                <a:cubicBezTo>
                  <a:pt x="0" y="190224"/>
                  <a:pt x="11296" y="201521"/>
                  <a:pt x="25190" y="201521"/>
                </a:cubicBezTo>
                <a:lnTo>
                  <a:pt x="125950" y="201521"/>
                </a:lnTo>
                <a:cubicBezTo>
                  <a:pt x="139844" y="201521"/>
                  <a:pt x="151140" y="190224"/>
                  <a:pt x="151140" y="176331"/>
                </a:cubicBezTo>
                <a:lnTo>
                  <a:pt x="151140" y="25190"/>
                </a:lnTo>
                <a:cubicBezTo>
                  <a:pt x="151140" y="11296"/>
                  <a:pt x="139844" y="0"/>
                  <a:pt x="125950" y="0"/>
                </a:cubicBezTo>
                <a:lnTo>
                  <a:pt x="25190" y="0"/>
                </a:lnTo>
                <a:close/>
                <a:moveTo>
                  <a:pt x="37785" y="25190"/>
                </a:moveTo>
                <a:lnTo>
                  <a:pt x="113355" y="25190"/>
                </a:lnTo>
                <a:cubicBezTo>
                  <a:pt x="120322" y="25190"/>
                  <a:pt x="125950" y="30818"/>
                  <a:pt x="125950" y="37785"/>
                </a:cubicBezTo>
                <a:lnTo>
                  <a:pt x="125950" y="50380"/>
                </a:lnTo>
                <a:cubicBezTo>
                  <a:pt x="125950" y="57347"/>
                  <a:pt x="120322" y="62975"/>
                  <a:pt x="113355" y="62975"/>
                </a:cubicBezTo>
                <a:lnTo>
                  <a:pt x="37785" y="62975"/>
                </a:lnTo>
                <a:cubicBezTo>
                  <a:pt x="30818" y="62975"/>
                  <a:pt x="25190" y="57347"/>
                  <a:pt x="25190" y="50380"/>
                </a:cubicBezTo>
                <a:lnTo>
                  <a:pt x="25190" y="37785"/>
                </a:lnTo>
                <a:cubicBezTo>
                  <a:pt x="25190" y="30818"/>
                  <a:pt x="30818" y="25190"/>
                  <a:pt x="37785" y="25190"/>
                </a:cubicBezTo>
                <a:close/>
                <a:moveTo>
                  <a:pt x="44083" y="91314"/>
                </a:moveTo>
                <a:cubicBezTo>
                  <a:pt x="44083" y="96528"/>
                  <a:pt x="39850" y="100760"/>
                  <a:pt x="34636" y="100760"/>
                </a:cubicBezTo>
                <a:cubicBezTo>
                  <a:pt x="29423" y="100760"/>
                  <a:pt x="25190" y="96528"/>
                  <a:pt x="25190" y="91314"/>
                </a:cubicBezTo>
                <a:cubicBezTo>
                  <a:pt x="25190" y="86101"/>
                  <a:pt x="29423" y="81868"/>
                  <a:pt x="34636" y="81868"/>
                </a:cubicBezTo>
                <a:cubicBezTo>
                  <a:pt x="39850" y="81868"/>
                  <a:pt x="44083" y="86101"/>
                  <a:pt x="44083" y="91314"/>
                </a:cubicBezTo>
                <a:close/>
                <a:moveTo>
                  <a:pt x="75570" y="100760"/>
                </a:moveTo>
                <a:cubicBezTo>
                  <a:pt x="70357" y="100760"/>
                  <a:pt x="66124" y="96528"/>
                  <a:pt x="66124" y="91314"/>
                </a:cubicBezTo>
                <a:cubicBezTo>
                  <a:pt x="66124" y="86101"/>
                  <a:pt x="70357" y="81868"/>
                  <a:pt x="75570" y="81868"/>
                </a:cubicBezTo>
                <a:cubicBezTo>
                  <a:pt x="80784" y="81868"/>
                  <a:pt x="85017" y="86101"/>
                  <a:pt x="85017" y="91314"/>
                </a:cubicBezTo>
                <a:cubicBezTo>
                  <a:pt x="85017" y="96528"/>
                  <a:pt x="80784" y="100760"/>
                  <a:pt x="75570" y="100760"/>
                </a:cubicBezTo>
                <a:close/>
                <a:moveTo>
                  <a:pt x="125950" y="91314"/>
                </a:moveTo>
                <a:cubicBezTo>
                  <a:pt x="125950" y="96528"/>
                  <a:pt x="121718" y="100760"/>
                  <a:pt x="116504" y="100760"/>
                </a:cubicBezTo>
                <a:cubicBezTo>
                  <a:pt x="111291" y="100760"/>
                  <a:pt x="107058" y="96528"/>
                  <a:pt x="107058" y="91314"/>
                </a:cubicBezTo>
                <a:cubicBezTo>
                  <a:pt x="107058" y="86101"/>
                  <a:pt x="111291" y="81868"/>
                  <a:pt x="116504" y="81868"/>
                </a:cubicBezTo>
                <a:cubicBezTo>
                  <a:pt x="121718" y="81868"/>
                  <a:pt x="125950" y="86101"/>
                  <a:pt x="125950" y="91314"/>
                </a:cubicBezTo>
                <a:close/>
                <a:moveTo>
                  <a:pt x="34636" y="138545"/>
                </a:moveTo>
                <a:cubicBezTo>
                  <a:pt x="29423" y="138545"/>
                  <a:pt x="25190" y="134313"/>
                  <a:pt x="25190" y="129099"/>
                </a:cubicBezTo>
                <a:cubicBezTo>
                  <a:pt x="25190" y="123886"/>
                  <a:pt x="29423" y="119653"/>
                  <a:pt x="34636" y="119653"/>
                </a:cubicBezTo>
                <a:cubicBezTo>
                  <a:pt x="39850" y="119653"/>
                  <a:pt x="44083" y="123886"/>
                  <a:pt x="44083" y="129099"/>
                </a:cubicBezTo>
                <a:cubicBezTo>
                  <a:pt x="44083" y="134313"/>
                  <a:pt x="39850" y="138545"/>
                  <a:pt x="34636" y="138545"/>
                </a:cubicBezTo>
                <a:close/>
                <a:moveTo>
                  <a:pt x="85017" y="129099"/>
                </a:moveTo>
                <a:cubicBezTo>
                  <a:pt x="85017" y="134313"/>
                  <a:pt x="80784" y="138545"/>
                  <a:pt x="75570" y="138545"/>
                </a:cubicBezTo>
                <a:cubicBezTo>
                  <a:pt x="70357" y="138545"/>
                  <a:pt x="66124" y="134313"/>
                  <a:pt x="66124" y="129099"/>
                </a:cubicBezTo>
                <a:cubicBezTo>
                  <a:pt x="66124" y="123886"/>
                  <a:pt x="70357" y="119653"/>
                  <a:pt x="75570" y="119653"/>
                </a:cubicBezTo>
                <a:cubicBezTo>
                  <a:pt x="80784" y="119653"/>
                  <a:pt x="85017" y="123886"/>
                  <a:pt x="85017" y="129099"/>
                </a:cubicBezTo>
                <a:close/>
                <a:moveTo>
                  <a:pt x="116504" y="138545"/>
                </a:moveTo>
                <a:cubicBezTo>
                  <a:pt x="111291" y="138545"/>
                  <a:pt x="107058" y="134313"/>
                  <a:pt x="107058" y="129099"/>
                </a:cubicBezTo>
                <a:cubicBezTo>
                  <a:pt x="107058" y="123886"/>
                  <a:pt x="111291" y="119653"/>
                  <a:pt x="116504" y="119653"/>
                </a:cubicBezTo>
                <a:cubicBezTo>
                  <a:pt x="121718" y="119653"/>
                  <a:pt x="125950" y="123886"/>
                  <a:pt x="125950" y="129099"/>
                </a:cubicBezTo>
                <a:cubicBezTo>
                  <a:pt x="125950" y="134313"/>
                  <a:pt x="121718" y="138545"/>
                  <a:pt x="116504" y="138545"/>
                </a:cubicBezTo>
                <a:close/>
                <a:moveTo>
                  <a:pt x="25190" y="166884"/>
                </a:moveTo>
                <a:cubicBezTo>
                  <a:pt x="25190" y="161649"/>
                  <a:pt x="29402" y="157438"/>
                  <a:pt x="34636" y="157438"/>
                </a:cubicBezTo>
                <a:lnTo>
                  <a:pt x="78719" y="157438"/>
                </a:lnTo>
                <a:cubicBezTo>
                  <a:pt x="83954" y="157438"/>
                  <a:pt x="88165" y="161649"/>
                  <a:pt x="88165" y="166884"/>
                </a:cubicBezTo>
                <a:cubicBezTo>
                  <a:pt x="88165" y="172119"/>
                  <a:pt x="83954" y="176331"/>
                  <a:pt x="78719" y="176331"/>
                </a:cubicBezTo>
                <a:lnTo>
                  <a:pt x="34636" y="176331"/>
                </a:lnTo>
                <a:cubicBezTo>
                  <a:pt x="29402" y="176331"/>
                  <a:pt x="25190" y="172119"/>
                  <a:pt x="25190" y="166884"/>
                </a:cubicBezTo>
                <a:close/>
                <a:moveTo>
                  <a:pt x="116504" y="157438"/>
                </a:moveTo>
                <a:cubicBezTo>
                  <a:pt x="121739" y="157438"/>
                  <a:pt x="125950" y="161649"/>
                  <a:pt x="125950" y="166884"/>
                </a:cubicBezTo>
                <a:cubicBezTo>
                  <a:pt x="125950" y="172119"/>
                  <a:pt x="121739" y="176331"/>
                  <a:pt x="116504" y="176331"/>
                </a:cubicBezTo>
                <a:cubicBezTo>
                  <a:pt x="111269" y="176331"/>
                  <a:pt x="107058" y="172119"/>
                  <a:pt x="107058" y="166884"/>
                </a:cubicBezTo>
                <a:cubicBezTo>
                  <a:pt x="107058" y="161649"/>
                  <a:pt x="111269" y="157438"/>
                  <a:pt x="116504" y="157438"/>
                </a:cubicBezTo>
                <a:close/>
              </a:path>
            </a:pathLst>
          </a:custGeom>
          <a:solidFill>
            <a:srgbClr val="C87E62"/>
          </a:solidFill>
          <a:ln/>
        </p:spPr>
      </p:sp>
      <p:sp>
        <p:nvSpPr>
          <p:cNvPr id="46" name="Text 44"/>
          <p:cNvSpPr/>
          <p:nvPr/>
        </p:nvSpPr>
        <p:spPr>
          <a:xfrm>
            <a:off x="5660815" y="3341884"/>
            <a:ext cx="3477676" cy="235108"/>
          </a:xfrm>
          <a:prstGeom prst="rect">
            <a:avLst/>
          </a:prstGeom>
          <a:noFill/>
          <a:ln/>
        </p:spPr>
        <p:txBody>
          <a:bodyPr wrap="square" lIns="0" tIns="0" rIns="0" bIns="0" rtlCol="0" anchor="ctr"/>
          <a:lstStyle/>
          <a:p>
            <a:pPr>
              <a:lnSpc>
                <a:spcPct val="120000"/>
              </a:lnSpc>
            </a:pPr>
            <a:r>
              <a:rPr lang="en-US" sz="1600" b="1" dirty="0">
                <a:solidFill>
                  <a:srgbClr val="2A4D53"/>
                </a:solidFill>
                <a:latin typeface="Liter" pitchFamily="34" charset="0"/>
                <a:ea typeface="Liter" pitchFamily="34" charset="-122"/>
                <a:cs typeface="Liter" pitchFamily="34" charset="-120"/>
              </a:rPr>
              <a:t>Step 2: Calculate Alignment Ratio</a:t>
            </a:r>
            <a:endParaRPr lang="en-US" sz="1600" dirty="0"/>
          </a:p>
        </p:txBody>
      </p:sp>
      <p:sp>
        <p:nvSpPr>
          <p:cNvPr id="47" name="Shape 45"/>
          <p:cNvSpPr/>
          <p:nvPr/>
        </p:nvSpPr>
        <p:spPr>
          <a:xfrm>
            <a:off x="5308154" y="3677752"/>
            <a:ext cx="6179967" cy="806083"/>
          </a:xfrm>
          <a:custGeom>
            <a:avLst/>
            <a:gdLst/>
            <a:ahLst/>
            <a:cxnLst/>
            <a:rect l="l" t="t" r="r" b="b"/>
            <a:pathLst>
              <a:path w="6179967" h="806083">
                <a:moveTo>
                  <a:pt x="0" y="0"/>
                </a:moveTo>
                <a:lnTo>
                  <a:pt x="6179967" y="0"/>
                </a:lnTo>
                <a:lnTo>
                  <a:pt x="6179967" y="806083"/>
                </a:lnTo>
                <a:lnTo>
                  <a:pt x="0" y="806083"/>
                </a:lnTo>
                <a:lnTo>
                  <a:pt x="0" y="0"/>
                </a:lnTo>
                <a:close/>
              </a:path>
            </a:pathLst>
          </a:custGeom>
          <a:solidFill>
            <a:srgbClr val="FFFFFF"/>
          </a:solidFill>
          <a:ln/>
        </p:spPr>
      </p:sp>
      <p:sp>
        <p:nvSpPr>
          <p:cNvPr id="48" name="Text 46"/>
          <p:cNvSpPr/>
          <p:nvPr/>
        </p:nvSpPr>
        <p:spPr>
          <a:xfrm>
            <a:off x="5392121" y="3812099"/>
            <a:ext cx="6012033" cy="268694"/>
          </a:xfrm>
          <a:prstGeom prst="rect">
            <a:avLst/>
          </a:prstGeom>
          <a:noFill/>
          <a:ln/>
        </p:spPr>
        <p:txBody>
          <a:bodyPr wrap="square" lIns="0" tIns="0" rIns="0" bIns="0" rtlCol="0" anchor="ctr"/>
          <a:lstStyle/>
          <a:p>
            <a:pPr algn="ctr">
              <a:lnSpc>
                <a:spcPct val="110000"/>
              </a:lnSpc>
            </a:pPr>
            <a:r>
              <a:rPr lang="en-US" sz="1587" b="1" dirty="0">
                <a:solidFill>
                  <a:srgbClr val="2A4D53"/>
                </a:solidFill>
                <a:latin typeface="Liter" pitchFamily="34" charset="0"/>
                <a:ea typeface="Liter" pitchFamily="34" charset="-122"/>
                <a:cs typeface="Liter" pitchFamily="34" charset="-120"/>
              </a:rPr>
              <a:t>Vaccines Per Child = Total Stock ÷ Under-5 Population</a:t>
            </a:r>
            <a:endParaRPr lang="en-US" sz="1600" dirty="0"/>
          </a:p>
        </p:txBody>
      </p:sp>
      <p:sp>
        <p:nvSpPr>
          <p:cNvPr id="49" name="Text 47"/>
          <p:cNvSpPr/>
          <p:nvPr/>
        </p:nvSpPr>
        <p:spPr>
          <a:xfrm>
            <a:off x="5408914" y="4147967"/>
            <a:ext cx="5978446" cy="201521"/>
          </a:xfrm>
          <a:prstGeom prst="rect">
            <a:avLst/>
          </a:prstGeom>
          <a:noFill/>
          <a:ln/>
        </p:spPr>
        <p:txBody>
          <a:bodyPr wrap="square" lIns="0" tIns="0" rIns="0" bIns="0" rtlCol="0" anchor="ctr"/>
          <a:lstStyle/>
          <a:p>
            <a:pPr algn="ctr">
              <a:lnSpc>
                <a:spcPct val="130000"/>
              </a:lnSpc>
            </a:pPr>
            <a:r>
              <a:rPr lang="en-US" sz="1600" dirty="0">
                <a:solidFill>
                  <a:srgbClr val="A9A299"/>
                </a:solidFill>
                <a:latin typeface="Quattrocento Sans" pitchFamily="34" charset="0"/>
                <a:ea typeface="Quattrocento Sans" pitchFamily="34" charset="-122"/>
                <a:cs typeface="Quattrocento Sans" pitchFamily="34" charset="-120"/>
              </a:rPr>
              <a:t>Per facility catchment area</a:t>
            </a:r>
            <a:endParaRPr lang="en-US" sz="1600" dirty="0"/>
          </a:p>
        </p:txBody>
      </p:sp>
      <p:sp>
        <p:nvSpPr>
          <p:cNvPr id="50" name="Shape 48"/>
          <p:cNvSpPr/>
          <p:nvPr/>
        </p:nvSpPr>
        <p:spPr>
          <a:xfrm>
            <a:off x="5106633" y="4786116"/>
            <a:ext cx="6549421" cy="1746512"/>
          </a:xfrm>
          <a:custGeom>
            <a:avLst/>
            <a:gdLst/>
            <a:ahLst/>
            <a:cxnLst/>
            <a:rect l="l" t="t" r="r" b="b"/>
            <a:pathLst>
              <a:path w="6549421" h="1746512">
                <a:moveTo>
                  <a:pt x="0" y="0"/>
                </a:moveTo>
                <a:lnTo>
                  <a:pt x="6549421" y="0"/>
                </a:lnTo>
                <a:lnTo>
                  <a:pt x="6549421" y="1746512"/>
                </a:lnTo>
                <a:lnTo>
                  <a:pt x="0" y="1746512"/>
                </a:lnTo>
                <a:lnTo>
                  <a:pt x="0" y="0"/>
                </a:lnTo>
                <a:close/>
              </a:path>
            </a:pathLst>
          </a:custGeom>
          <a:solidFill>
            <a:srgbClr val="2A4D53"/>
          </a:solidFill>
          <a:ln/>
        </p:spPr>
      </p:sp>
      <p:sp>
        <p:nvSpPr>
          <p:cNvPr id="51" name="Shape 49"/>
          <p:cNvSpPr/>
          <p:nvPr/>
        </p:nvSpPr>
        <p:spPr>
          <a:xfrm>
            <a:off x="5299757" y="4970843"/>
            <a:ext cx="201521" cy="201521"/>
          </a:xfrm>
          <a:custGeom>
            <a:avLst/>
            <a:gdLst/>
            <a:ahLst/>
            <a:cxnLst/>
            <a:rect l="l" t="t" r="r" b="b"/>
            <a:pathLst>
              <a:path w="201521" h="201521">
                <a:moveTo>
                  <a:pt x="100760" y="201521"/>
                </a:moveTo>
                <a:cubicBezTo>
                  <a:pt x="156371" y="201521"/>
                  <a:pt x="201521" y="156371"/>
                  <a:pt x="201521" y="100760"/>
                </a:cubicBezTo>
                <a:cubicBezTo>
                  <a:pt x="201521" y="45149"/>
                  <a:pt x="156371" y="0"/>
                  <a:pt x="100760" y="0"/>
                </a:cubicBezTo>
                <a:cubicBezTo>
                  <a:pt x="45149" y="0"/>
                  <a:pt x="0" y="45149"/>
                  <a:pt x="0" y="100760"/>
                </a:cubicBezTo>
                <a:cubicBezTo>
                  <a:pt x="0" y="156371"/>
                  <a:pt x="45149" y="201521"/>
                  <a:pt x="100760" y="201521"/>
                </a:cubicBezTo>
                <a:close/>
                <a:moveTo>
                  <a:pt x="133980" y="83718"/>
                </a:moveTo>
                <a:lnTo>
                  <a:pt x="102492" y="134098"/>
                </a:lnTo>
                <a:cubicBezTo>
                  <a:pt x="100839" y="136735"/>
                  <a:pt x="98005" y="138388"/>
                  <a:pt x="94896" y="138545"/>
                </a:cubicBezTo>
                <a:cubicBezTo>
                  <a:pt x="91786" y="138703"/>
                  <a:pt x="88795" y="137286"/>
                  <a:pt x="86945" y="134767"/>
                </a:cubicBezTo>
                <a:lnTo>
                  <a:pt x="68053" y="109577"/>
                </a:lnTo>
                <a:cubicBezTo>
                  <a:pt x="64904" y="105405"/>
                  <a:pt x="65770" y="99501"/>
                  <a:pt x="69942" y="96352"/>
                </a:cubicBezTo>
                <a:cubicBezTo>
                  <a:pt x="74114" y="93203"/>
                  <a:pt x="80018" y="94069"/>
                  <a:pt x="83167" y="98241"/>
                </a:cubicBezTo>
                <a:lnTo>
                  <a:pt x="93794" y="112411"/>
                </a:lnTo>
                <a:lnTo>
                  <a:pt x="117960" y="73720"/>
                </a:lnTo>
                <a:cubicBezTo>
                  <a:pt x="120716" y="69312"/>
                  <a:pt x="126541" y="67935"/>
                  <a:pt x="130988" y="70729"/>
                </a:cubicBezTo>
                <a:cubicBezTo>
                  <a:pt x="135436" y="73524"/>
                  <a:pt x="136774" y="79309"/>
                  <a:pt x="133980" y="83757"/>
                </a:cubicBezTo>
                <a:close/>
              </a:path>
            </a:pathLst>
          </a:custGeom>
          <a:solidFill>
            <a:srgbClr val="C87E62"/>
          </a:solidFill>
          <a:ln/>
        </p:spPr>
      </p:sp>
      <p:sp>
        <p:nvSpPr>
          <p:cNvPr id="52" name="Text 50"/>
          <p:cNvSpPr/>
          <p:nvPr/>
        </p:nvSpPr>
        <p:spPr>
          <a:xfrm>
            <a:off x="5627228" y="4954051"/>
            <a:ext cx="3593786" cy="218314"/>
          </a:xfrm>
          <a:prstGeom prst="rect">
            <a:avLst/>
          </a:prstGeom>
          <a:noFill/>
          <a:ln/>
        </p:spPr>
        <p:txBody>
          <a:bodyPr wrap="square" lIns="0" tIns="0" rIns="0" bIns="0" rtlCol="0" anchor="ctr"/>
          <a:lstStyle/>
          <a:p>
            <a:pPr>
              <a:lnSpc>
                <a:spcPct val="120000"/>
              </a:lnSpc>
            </a:pPr>
            <a:r>
              <a:rPr lang="en-US" sz="1600" b="1" dirty="0">
                <a:solidFill>
                  <a:srgbClr val="F8F7F5"/>
                </a:solidFill>
                <a:latin typeface="Liter" pitchFamily="34" charset="0"/>
                <a:ea typeface="Liter" pitchFamily="34" charset="-122"/>
                <a:cs typeface="Liter" pitchFamily="34" charset="-120"/>
              </a:rPr>
              <a:t>Step 3: Apply 1.0 Safety Threshold</a:t>
            </a:r>
            <a:endParaRPr lang="en-US" sz="1600" dirty="0"/>
          </a:p>
        </p:txBody>
      </p:sp>
      <p:sp>
        <p:nvSpPr>
          <p:cNvPr id="53" name="Shape 51"/>
          <p:cNvSpPr/>
          <p:nvPr/>
        </p:nvSpPr>
        <p:spPr>
          <a:xfrm>
            <a:off x="5274567" y="5289917"/>
            <a:ext cx="3039603" cy="1074777"/>
          </a:xfrm>
          <a:custGeom>
            <a:avLst/>
            <a:gdLst/>
            <a:ahLst/>
            <a:cxnLst/>
            <a:rect l="l" t="t" r="r" b="b"/>
            <a:pathLst>
              <a:path w="3039603" h="1074777">
                <a:moveTo>
                  <a:pt x="0" y="0"/>
                </a:moveTo>
                <a:lnTo>
                  <a:pt x="3039603" y="0"/>
                </a:lnTo>
                <a:lnTo>
                  <a:pt x="3039603" y="1074777"/>
                </a:lnTo>
                <a:lnTo>
                  <a:pt x="0" y="1074777"/>
                </a:lnTo>
                <a:lnTo>
                  <a:pt x="0" y="0"/>
                </a:lnTo>
                <a:close/>
              </a:path>
            </a:pathLst>
          </a:custGeom>
          <a:solidFill>
            <a:srgbClr val="C87E62"/>
          </a:solidFill>
          <a:ln/>
        </p:spPr>
      </p:sp>
      <p:sp>
        <p:nvSpPr>
          <p:cNvPr id="54" name="Text 52"/>
          <p:cNvSpPr/>
          <p:nvPr/>
        </p:nvSpPr>
        <p:spPr>
          <a:xfrm>
            <a:off x="5333344" y="5424264"/>
            <a:ext cx="2922050" cy="335868"/>
          </a:xfrm>
          <a:prstGeom prst="rect">
            <a:avLst/>
          </a:prstGeom>
          <a:noFill/>
          <a:ln/>
        </p:spPr>
        <p:txBody>
          <a:bodyPr wrap="square" lIns="0" tIns="0" rIns="0" bIns="0" rtlCol="0" anchor="ctr"/>
          <a:lstStyle/>
          <a:p>
            <a:pPr algn="ctr">
              <a:lnSpc>
                <a:spcPct val="90000"/>
              </a:lnSpc>
            </a:pPr>
            <a:r>
              <a:rPr lang="en-US" sz="2380" b="1" dirty="0">
                <a:solidFill>
                  <a:srgbClr val="F8F7F5"/>
                </a:solidFill>
                <a:latin typeface="Liter" pitchFamily="34" charset="0"/>
                <a:ea typeface="Liter" pitchFamily="34" charset="-122"/>
                <a:cs typeface="Liter" pitchFamily="34" charset="-120"/>
              </a:rPr>
              <a:t>&lt; 1.0</a:t>
            </a:r>
            <a:endParaRPr lang="en-US" sz="1600" dirty="0"/>
          </a:p>
        </p:txBody>
      </p:sp>
      <p:sp>
        <p:nvSpPr>
          <p:cNvPr id="55" name="Text 53"/>
          <p:cNvSpPr/>
          <p:nvPr/>
        </p:nvSpPr>
        <p:spPr>
          <a:xfrm>
            <a:off x="5375327" y="5827306"/>
            <a:ext cx="2838083" cy="201521"/>
          </a:xfrm>
          <a:prstGeom prst="rect">
            <a:avLst/>
          </a:prstGeom>
          <a:noFill/>
          <a:ln/>
        </p:spPr>
        <p:txBody>
          <a:bodyPr wrap="square" lIns="0" tIns="0" rIns="0" bIns="0" rtlCol="0" anchor="ctr"/>
          <a:lstStyle/>
          <a:p>
            <a:pPr algn="ctr">
              <a:lnSpc>
                <a:spcPct val="130000"/>
              </a:lnSpc>
            </a:pPr>
            <a:r>
              <a:rPr lang="en-US" b="1" dirty="0">
                <a:solidFill>
                  <a:srgbClr val="F8F7F5"/>
                </a:solidFill>
                <a:latin typeface="Quattrocento Sans" pitchFamily="34" charset="0"/>
                <a:ea typeface="Quattrocento Sans" pitchFamily="34" charset="-122"/>
                <a:cs typeface="Quattrocento Sans" pitchFamily="34" charset="-120"/>
              </a:rPr>
              <a:t>Immediate Risk</a:t>
            </a:r>
            <a:endParaRPr lang="en-US" b="1" dirty="0"/>
          </a:p>
        </p:txBody>
      </p:sp>
      <p:sp>
        <p:nvSpPr>
          <p:cNvPr id="56" name="Text 54"/>
          <p:cNvSpPr/>
          <p:nvPr/>
        </p:nvSpPr>
        <p:spPr>
          <a:xfrm>
            <a:off x="5379526" y="6062413"/>
            <a:ext cx="2829686" cy="167934"/>
          </a:xfrm>
          <a:prstGeom prst="rect">
            <a:avLst/>
          </a:prstGeom>
          <a:noFill/>
          <a:ln/>
        </p:spPr>
        <p:txBody>
          <a:bodyPr wrap="square" lIns="0" tIns="0" rIns="0" bIns="0" rtlCol="0" anchor="ctr"/>
          <a:lstStyle/>
          <a:p>
            <a:pPr algn="ctr">
              <a:lnSpc>
                <a:spcPct val="120000"/>
              </a:lnSpc>
            </a:pPr>
            <a:r>
              <a:rPr lang="en-US" sz="1600" dirty="0">
                <a:solidFill>
                  <a:srgbClr val="F8F7F5">
                    <a:alpha val="80000"/>
                  </a:srgbClr>
                </a:solidFill>
                <a:latin typeface="Quattrocento Sans" pitchFamily="34" charset="0"/>
                <a:ea typeface="Quattrocento Sans" pitchFamily="34" charset="-122"/>
                <a:cs typeface="Quattrocento Sans" pitchFamily="34" charset="-120"/>
              </a:rPr>
              <a:t>Stock-outs &amp; service denial</a:t>
            </a:r>
            <a:endParaRPr lang="en-US" sz="1600" dirty="0"/>
          </a:p>
        </p:txBody>
      </p:sp>
      <p:sp>
        <p:nvSpPr>
          <p:cNvPr id="57" name="Shape 55"/>
          <p:cNvSpPr/>
          <p:nvPr/>
        </p:nvSpPr>
        <p:spPr>
          <a:xfrm>
            <a:off x="8449567" y="5289917"/>
            <a:ext cx="3039603" cy="1074777"/>
          </a:xfrm>
          <a:custGeom>
            <a:avLst/>
            <a:gdLst/>
            <a:ahLst/>
            <a:cxnLst/>
            <a:rect l="l" t="t" r="r" b="b"/>
            <a:pathLst>
              <a:path w="3039603" h="1074777">
                <a:moveTo>
                  <a:pt x="0" y="0"/>
                </a:moveTo>
                <a:lnTo>
                  <a:pt x="3039603" y="0"/>
                </a:lnTo>
                <a:lnTo>
                  <a:pt x="3039603" y="1074777"/>
                </a:lnTo>
                <a:lnTo>
                  <a:pt x="0" y="1074777"/>
                </a:lnTo>
                <a:lnTo>
                  <a:pt x="0" y="0"/>
                </a:lnTo>
                <a:close/>
              </a:path>
            </a:pathLst>
          </a:custGeom>
          <a:solidFill>
            <a:srgbClr val="F8F7F5">
              <a:alpha val="20000"/>
            </a:srgbClr>
          </a:solidFill>
          <a:ln/>
        </p:spPr>
      </p:sp>
      <p:sp>
        <p:nvSpPr>
          <p:cNvPr id="58" name="Text 56"/>
          <p:cNvSpPr/>
          <p:nvPr/>
        </p:nvSpPr>
        <p:spPr>
          <a:xfrm>
            <a:off x="8508344" y="5424264"/>
            <a:ext cx="2922050" cy="335868"/>
          </a:xfrm>
          <a:prstGeom prst="rect">
            <a:avLst/>
          </a:prstGeom>
          <a:noFill/>
          <a:ln/>
        </p:spPr>
        <p:txBody>
          <a:bodyPr wrap="square" lIns="0" tIns="0" rIns="0" bIns="0" rtlCol="0" anchor="ctr"/>
          <a:lstStyle/>
          <a:p>
            <a:pPr algn="ctr">
              <a:lnSpc>
                <a:spcPct val="90000"/>
              </a:lnSpc>
            </a:pPr>
            <a:r>
              <a:rPr lang="en-US" sz="2380" b="1" dirty="0">
                <a:solidFill>
                  <a:srgbClr val="F8F7F5"/>
                </a:solidFill>
                <a:latin typeface="Liter" pitchFamily="34" charset="0"/>
                <a:ea typeface="Liter" pitchFamily="34" charset="-122"/>
                <a:cs typeface="Liter" pitchFamily="34" charset="-120"/>
              </a:rPr>
              <a:t>≥ 1.0</a:t>
            </a:r>
            <a:endParaRPr lang="en-US" sz="1600" dirty="0"/>
          </a:p>
        </p:txBody>
      </p:sp>
      <p:sp>
        <p:nvSpPr>
          <p:cNvPr id="59" name="Text 57"/>
          <p:cNvSpPr/>
          <p:nvPr/>
        </p:nvSpPr>
        <p:spPr>
          <a:xfrm>
            <a:off x="8550327" y="5827306"/>
            <a:ext cx="2838083" cy="201521"/>
          </a:xfrm>
          <a:prstGeom prst="rect">
            <a:avLst/>
          </a:prstGeom>
          <a:noFill/>
          <a:ln/>
        </p:spPr>
        <p:txBody>
          <a:bodyPr wrap="square" lIns="0" tIns="0" rIns="0" bIns="0" rtlCol="0" anchor="ctr"/>
          <a:lstStyle/>
          <a:p>
            <a:pPr algn="ctr">
              <a:lnSpc>
                <a:spcPct val="130000"/>
              </a:lnSpc>
            </a:pPr>
            <a:r>
              <a:rPr lang="en-US" sz="2000" dirty="0">
                <a:solidFill>
                  <a:srgbClr val="F8F7F5"/>
                </a:solidFill>
                <a:latin typeface="Quattrocento Sans" pitchFamily="34" charset="0"/>
                <a:ea typeface="Quattrocento Sans" pitchFamily="34" charset="-122"/>
                <a:cs typeface="Quattrocento Sans" pitchFamily="34" charset="-120"/>
              </a:rPr>
              <a:t>Adequate Supply</a:t>
            </a:r>
            <a:endParaRPr lang="en-US" sz="2000" dirty="0"/>
          </a:p>
        </p:txBody>
      </p:sp>
      <p:sp>
        <p:nvSpPr>
          <p:cNvPr id="60" name="Text 58"/>
          <p:cNvSpPr/>
          <p:nvPr/>
        </p:nvSpPr>
        <p:spPr>
          <a:xfrm>
            <a:off x="8554526" y="6062413"/>
            <a:ext cx="2829686" cy="167934"/>
          </a:xfrm>
          <a:prstGeom prst="rect">
            <a:avLst/>
          </a:prstGeom>
          <a:noFill/>
          <a:ln/>
        </p:spPr>
        <p:txBody>
          <a:bodyPr wrap="square" lIns="0" tIns="0" rIns="0" bIns="0" rtlCol="0" anchor="ctr"/>
          <a:lstStyle/>
          <a:p>
            <a:pPr algn="ctr">
              <a:lnSpc>
                <a:spcPct val="120000"/>
              </a:lnSpc>
            </a:pPr>
            <a:r>
              <a:rPr lang="en-US" sz="1600" dirty="0">
                <a:solidFill>
                  <a:srgbClr val="F8F7F5">
                    <a:alpha val="80000"/>
                  </a:srgbClr>
                </a:solidFill>
                <a:latin typeface="Quattrocento Sans" pitchFamily="34" charset="0"/>
                <a:ea typeface="Quattrocento Sans" pitchFamily="34" charset="-122"/>
                <a:cs typeface="Quattrocento Sans" pitchFamily="34" charset="-120"/>
              </a:rPr>
              <a:t>Sufficient for population</a:t>
            </a:r>
            <a:endParaRPr lang="en-US" sz="1600" dirty="0"/>
          </a:p>
        </p:txBody>
      </p:sp>
    </p:spTree>
    <p:extLst>
      <p:ext uri="{BB962C8B-B14F-4D97-AF65-F5344CB8AC3E}">
        <p14:creationId xmlns:p14="http://schemas.microsoft.com/office/powerpoint/2010/main" val="80404686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62865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87E62"/>
          </a:solidFill>
          <a:ln/>
        </p:spPr>
      </p:sp>
      <p:sp>
        <p:nvSpPr>
          <p:cNvPr id="4" name="Text 2"/>
          <p:cNvSpPr/>
          <p:nvPr/>
        </p:nvSpPr>
        <p:spPr>
          <a:xfrm>
            <a:off x="1340922" y="457200"/>
            <a:ext cx="4755077" cy="391026"/>
          </a:xfrm>
          <a:prstGeom prst="rect">
            <a:avLst/>
          </a:prstGeom>
          <a:noFill/>
          <a:ln/>
        </p:spPr>
        <p:txBody>
          <a:bodyPr wrap="square" lIns="0" tIns="0" rIns="0" bIns="0" rtlCol="0" anchor="ctr"/>
          <a:lstStyle/>
          <a:p>
            <a:pPr>
              <a:lnSpc>
                <a:spcPct val="110000"/>
              </a:lnSpc>
            </a:pPr>
            <a:r>
              <a:rPr lang="en-US" sz="2000" b="1" dirty="0">
                <a:solidFill>
                  <a:srgbClr val="2A4D53"/>
                </a:solidFill>
                <a:latin typeface="Liter" pitchFamily="34" charset="0"/>
                <a:ea typeface="Liter" pitchFamily="34" charset="-122"/>
                <a:cs typeface="Liter" pitchFamily="34" charset="-120"/>
              </a:rPr>
              <a:t>Vaccine Alignment Findings</a:t>
            </a:r>
            <a:endParaRPr lang="en-US" sz="2000" dirty="0"/>
          </a:p>
        </p:txBody>
      </p:sp>
      <p:sp>
        <p:nvSpPr>
          <p:cNvPr id="5" name="Shape 3"/>
          <p:cNvSpPr/>
          <p:nvPr/>
        </p:nvSpPr>
        <p:spPr>
          <a:xfrm>
            <a:off x="169100" y="1143000"/>
            <a:ext cx="6743700" cy="1790700"/>
          </a:xfrm>
          <a:custGeom>
            <a:avLst/>
            <a:gdLst/>
            <a:ahLst/>
            <a:cxnLst/>
            <a:rect l="l" t="t" r="r" b="b"/>
            <a:pathLst>
              <a:path w="6743700" h="1619250">
                <a:moveTo>
                  <a:pt x="38100" y="0"/>
                </a:moveTo>
                <a:lnTo>
                  <a:pt x="6667498" y="0"/>
                </a:lnTo>
                <a:cubicBezTo>
                  <a:pt x="6709583" y="0"/>
                  <a:pt x="6743700" y="34117"/>
                  <a:pt x="6743700" y="76202"/>
                </a:cubicBezTo>
                <a:lnTo>
                  <a:pt x="6743700" y="1543048"/>
                </a:lnTo>
                <a:cubicBezTo>
                  <a:pt x="6743700" y="1585133"/>
                  <a:pt x="6709583" y="1619250"/>
                  <a:pt x="6667498" y="1619250"/>
                </a:cubicBezTo>
                <a:lnTo>
                  <a:pt x="38100" y="1619250"/>
                </a:lnTo>
                <a:cubicBezTo>
                  <a:pt x="17072" y="1619250"/>
                  <a:pt x="0" y="1602178"/>
                  <a:pt x="0" y="1581150"/>
                </a:cubicBezTo>
                <a:lnTo>
                  <a:pt x="0" y="38100"/>
                </a:lnTo>
                <a:cubicBezTo>
                  <a:pt x="0" y="17072"/>
                  <a:pt x="17072" y="0"/>
                  <a:pt x="38100" y="0"/>
                </a:cubicBezTo>
                <a:close/>
              </a:path>
            </a:pathLst>
          </a:custGeom>
          <a:solidFill>
            <a:srgbClr val="FEF2F2"/>
          </a:solidFill>
          <a:ln/>
        </p:spPr>
      </p:sp>
      <p:sp>
        <p:nvSpPr>
          <p:cNvPr id="6" name="Shape 4"/>
          <p:cNvSpPr/>
          <p:nvPr/>
        </p:nvSpPr>
        <p:spPr>
          <a:xfrm flipH="1">
            <a:off x="209204" y="1114425"/>
            <a:ext cx="45719" cy="1790700"/>
          </a:xfrm>
          <a:custGeom>
            <a:avLst/>
            <a:gdLst/>
            <a:ahLst/>
            <a:cxnLst/>
            <a:rect l="l" t="t" r="r" b="b"/>
            <a:pathLst>
              <a:path w="38100" h="1619250">
                <a:moveTo>
                  <a:pt x="38100" y="0"/>
                </a:moveTo>
                <a:lnTo>
                  <a:pt x="38100" y="0"/>
                </a:lnTo>
                <a:lnTo>
                  <a:pt x="38100" y="1619250"/>
                </a:lnTo>
                <a:lnTo>
                  <a:pt x="38100" y="1619250"/>
                </a:lnTo>
                <a:cubicBezTo>
                  <a:pt x="17072" y="1619250"/>
                  <a:pt x="0" y="1602178"/>
                  <a:pt x="0" y="1581150"/>
                </a:cubicBezTo>
                <a:lnTo>
                  <a:pt x="0" y="38100"/>
                </a:lnTo>
                <a:cubicBezTo>
                  <a:pt x="0" y="17072"/>
                  <a:pt x="17072" y="0"/>
                  <a:pt x="38100" y="0"/>
                </a:cubicBezTo>
                <a:close/>
              </a:path>
            </a:pathLst>
          </a:custGeom>
          <a:solidFill>
            <a:srgbClr val="FB2C36"/>
          </a:solidFill>
          <a:ln/>
        </p:spPr>
      </p:sp>
      <p:sp>
        <p:nvSpPr>
          <p:cNvPr id="7" name="Text 5"/>
          <p:cNvSpPr/>
          <p:nvPr/>
        </p:nvSpPr>
        <p:spPr>
          <a:xfrm>
            <a:off x="295027" y="1400676"/>
            <a:ext cx="6419850" cy="1238250"/>
          </a:xfrm>
          <a:prstGeom prst="rect">
            <a:avLst/>
          </a:prstGeom>
          <a:noFill/>
          <a:ln/>
        </p:spPr>
        <p:txBody>
          <a:bodyPr wrap="square" lIns="0" tIns="0" rIns="0" bIns="0" rtlCol="0" anchor="ctr"/>
          <a:lstStyle/>
          <a:p>
            <a:pPr algn="just">
              <a:lnSpc>
                <a:spcPct val="140000"/>
              </a:lnSpc>
            </a:pPr>
            <a:r>
              <a:rPr lang="en-US" sz="1400" dirty="0">
                <a:solidFill>
                  <a:srgbClr val="2A4D53"/>
                </a:solidFill>
                <a:latin typeface="Liter" pitchFamily="34" charset="0"/>
                <a:ea typeface="Liter" pitchFamily="34" charset="-122"/>
                <a:cs typeface="Liter" pitchFamily="34" charset="-120"/>
              </a:rPr>
              <a:t>Our assessment indicates a </a:t>
            </a:r>
            <a:r>
              <a:rPr lang="en-US" sz="1400" b="1" dirty="0">
                <a:solidFill>
                  <a:srgbClr val="2A4D53"/>
                </a:solidFill>
                <a:latin typeface="Liter" pitchFamily="34" charset="0"/>
                <a:ea typeface="Liter" pitchFamily="34" charset="-122"/>
                <a:cs typeface="Liter" pitchFamily="34" charset="-120"/>
              </a:rPr>
              <a:t>concerning geographic disparity</a:t>
            </a:r>
            <a:r>
              <a:rPr lang="en-US" sz="1400" dirty="0">
                <a:solidFill>
                  <a:srgbClr val="2A4D53"/>
                </a:solidFill>
                <a:latin typeface="Liter" pitchFamily="34" charset="0"/>
                <a:ea typeface="Liter" pitchFamily="34" charset="-122"/>
                <a:cs typeface="Liter" pitchFamily="34" charset="-120"/>
              </a:rPr>
              <a:t> in vaccine distribution. Although the overall supply in our state may appear sufficient, it is </a:t>
            </a:r>
            <a:r>
              <a:rPr lang="en-US" sz="1400" b="1" dirty="0">
                <a:solidFill>
                  <a:srgbClr val="E7000B"/>
                </a:solidFill>
                <a:latin typeface="Liter" pitchFamily="34" charset="0"/>
                <a:ea typeface="Liter" pitchFamily="34" charset="-122"/>
                <a:cs typeface="Liter" pitchFamily="34" charset="-120"/>
              </a:rPr>
              <a:t>failing to reach the appropriate children</a:t>
            </a:r>
            <a:r>
              <a:rPr lang="en-US" sz="1400" dirty="0">
                <a:solidFill>
                  <a:srgbClr val="2A4D53"/>
                </a:solidFill>
                <a:latin typeface="Liter" pitchFamily="34" charset="0"/>
                <a:ea typeface="Liter" pitchFamily="34" charset="-122"/>
                <a:cs typeface="Liter" pitchFamily="34" charset="-120"/>
              </a:rPr>
              <a:t>. Ankpong Hc is currently classified as a complete </a:t>
            </a:r>
            <a:r>
              <a:rPr lang="en-US" sz="1400" b="1" dirty="0">
                <a:solidFill>
                  <a:srgbClr val="2A4D53"/>
                </a:solidFill>
                <a:latin typeface="Liter" pitchFamily="34" charset="0"/>
                <a:ea typeface="Liter" pitchFamily="34" charset="-122"/>
                <a:cs typeface="Liter" pitchFamily="34" charset="-120"/>
              </a:rPr>
              <a:t>'vaccine desert'</a:t>
            </a:r>
            <a:r>
              <a:rPr lang="en-US" sz="1400" dirty="0">
                <a:solidFill>
                  <a:srgbClr val="2A4D53"/>
                </a:solidFill>
                <a:latin typeface="Liter" pitchFamily="34" charset="0"/>
                <a:ea typeface="Liter" pitchFamily="34" charset="-122"/>
                <a:cs typeface="Liter" pitchFamily="34" charset="-120"/>
              </a:rPr>
              <a:t> with no recorded inventory, while several high-traffic centers, such as Dandako and Television Phc, are functioning with fewer than one dose available per child.</a:t>
            </a:r>
            <a:endParaRPr lang="en-US" sz="1400" dirty="0"/>
          </a:p>
        </p:txBody>
      </p:sp>
      <p:sp>
        <p:nvSpPr>
          <p:cNvPr id="8" name="Shape 6"/>
          <p:cNvSpPr/>
          <p:nvPr/>
        </p:nvSpPr>
        <p:spPr>
          <a:xfrm>
            <a:off x="168352" y="3305175"/>
            <a:ext cx="45719" cy="1710489"/>
          </a:xfrm>
          <a:custGeom>
            <a:avLst/>
            <a:gdLst/>
            <a:ahLst/>
            <a:cxnLst/>
            <a:rect l="l" t="t" r="r" b="b"/>
            <a:pathLst>
              <a:path w="38100" h="1371600">
                <a:moveTo>
                  <a:pt x="38100" y="0"/>
                </a:moveTo>
                <a:lnTo>
                  <a:pt x="38100" y="0"/>
                </a:lnTo>
                <a:lnTo>
                  <a:pt x="38100" y="1371600"/>
                </a:lnTo>
                <a:lnTo>
                  <a:pt x="38100" y="1371600"/>
                </a:lnTo>
                <a:cubicBezTo>
                  <a:pt x="17072" y="1371600"/>
                  <a:pt x="0" y="1354528"/>
                  <a:pt x="0" y="1333500"/>
                </a:cubicBezTo>
                <a:lnTo>
                  <a:pt x="0" y="38100"/>
                </a:lnTo>
                <a:cubicBezTo>
                  <a:pt x="0" y="17072"/>
                  <a:pt x="17072" y="0"/>
                  <a:pt x="38100" y="0"/>
                </a:cubicBezTo>
                <a:close/>
              </a:path>
            </a:pathLst>
          </a:custGeom>
          <a:solidFill>
            <a:srgbClr val="C87E62"/>
          </a:solidFill>
          <a:ln/>
        </p:spPr>
      </p:sp>
      <p:sp>
        <p:nvSpPr>
          <p:cNvPr id="9" name="Text 7"/>
          <p:cNvSpPr/>
          <p:nvPr/>
        </p:nvSpPr>
        <p:spPr>
          <a:xfrm>
            <a:off x="286909" y="3429000"/>
            <a:ext cx="6419850" cy="1339014"/>
          </a:xfrm>
          <a:prstGeom prst="rect">
            <a:avLst/>
          </a:prstGeom>
          <a:noFill/>
          <a:ln/>
        </p:spPr>
        <p:txBody>
          <a:bodyPr wrap="square" lIns="0" tIns="0" rIns="0" bIns="0" rtlCol="0" anchor="ctr"/>
          <a:lstStyle/>
          <a:p>
            <a:pPr algn="just">
              <a:lnSpc>
                <a:spcPct val="140000"/>
              </a:lnSpc>
            </a:pPr>
            <a:r>
              <a:rPr lang="en-US" sz="1600" dirty="0">
                <a:solidFill>
                  <a:srgbClr val="2A4D53"/>
                </a:solidFill>
                <a:latin typeface="Liter" pitchFamily="34" charset="0"/>
                <a:ea typeface="Liter" pitchFamily="34" charset="-122"/>
                <a:cs typeface="Liter" pitchFamily="34" charset="-120"/>
              </a:rPr>
              <a:t>Consequently, a child's likelihood of receiving immunization is presently </a:t>
            </a:r>
            <a:r>
              <a:rPr lang="en-US" sz="1600" b="1" dirty="0">
                <a:solidFill>
                  <a:srgbClr val="2A4D53"/>
                </a:solidFill>
                <a:latin typeface="Liter" pitchFamily="34" charset="0"/>
                <a:ea typeface="Liter" pitchFamily="34" charset="-122"/>
                <a:cs typeface="Liter" pitchFamily="34" charset="-120"/>
              </a:rPr>
              <a:t>dictated by their location rather than their actual need</a:t>
            </a:r>
            <a:r>
              <a:rPr lang="en-US" sz="1600" dirty="0">
                <a:solidFill>
                  <a:srgbClr val="2A4D53"/>
                </a:solidFill>
                <a:latin typeface="Liter" pitchFamily="34" charset="0"/>
                <a:ea typeface="Liter" pitchFamily="34" charset="-122"/>
                <a:cs typeface="Liter" pitchFamily="34" charset="-120"/>
              </a:rPr>
              <a:t>. We do not necessarily require additional vaccine purchases; instead, we must realign our logistics to transfer excess stock from over-supplied facilities to these </a:t>
            </a:r>
            <a:r>
              <a:rPr lang="en-US" sz="1600" b="1" dirty="0">
                <a:solidFill>
                  <a:srgbClr val="C87E62"/>
                </a:solidFill>
                <a:latin typeface="Liter" pitchFamily="34" charset="0"/>
                <a:ea typeface="Liter" pitchFamily="34" charset="-122"/>
                <a:cs typeface="Liter" pitchFamily="34" charset="-120"/>
              </a:rPr>
              <a:t>'red-flag' locations</a:t>
            </a:r>
            <a:r>
              <a:rPr lang="en-US" sz="1600" dirty="0">
                <a:solidFill>
                  <a:srgbClr val="2A4D53"/>
                </a:solidFill>
                <a:latin typeface="Liter" pitchFamily="34" charset="0"/>
                <a:ea typeface="Liter" pitchFamily="34" charset="-122"/>
                <a:cs typeface="Liter" pitchFamily="34" charset="-120"/>
              </a:rPr>
              <a:t> without delay.</a:t>
            </a:r>
            <a:endParaRPr lang="en-US" sz="1600" dirty="0"/>
          </a:p>
        </p:txBody>
      </p:sp>
      <p:pic>
        <p:nvPicPr>
          <p:cNvPr id="12" name="Picture 11">
            <a:extLst>
              <a:ext uri="{FF2B5EF4-FFF2-40B4-BE49-F238E27FC236}">
                <a16:creationId xmlns:a16="http://schemas.microsoft.com/office/drawing/2014/main" id="{C4D2139B-684E-78EE-EE24-B25C036754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2800" y="0"/>
            <a:ext cx="5174268" cy="6460761"/>
          </a:xfrm>
          <a:prstGeom prst="rect">
            <a:avLst/>
          </a:prstGeom>
        </p:spPr>
      </p:pic>
    </p:spTree>
    <p:extLst>
      <p:ext uri="{BB962C8B-B14F-4D97-AF65-F5344CB8AC3E}">
        <p14:creationId xmlns:p14="http://schemas.microsoft.com/office/powerpoint/2010/main" val="208717054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57275" y="643095"/>
            <a:ext cx="571640" cy="35727"/>
          </a:xfrm>
          <a:custGeom>
            <a:avLst/>
            <a:gdLst/>
            <a:ahLst/>
            <a:cxnLst/>
            <a:rect l="l" t="t" r="r" b="b"/>
            <a:pathLst>
              <a:path w="571640" h="35727">
                <a:moveTo>
                  <a:pt x="0" y="0"/>
                </a:moveTo>
                <a:lnTo>
                  <a:pt x="571640" y="0"/>
                </a:lnTo>
                <a:lnTo>
                  <a:pt x="571640" y="35727"/>
                </a:lnTo>
                <a:lnTo>
                  <a:pt x="0" y="35727"/>
                </a:lnTo>
                <a:lnTo>
                  <a:pt x="0" y="0"/>
                </a:lnTo>
                <a:close/>
              </a:path>
            </a:pathLst>
          </a:custGeom>
          <a:solidFill>
            <a:srgbClr val="C87E62"/>
          </a:solidFill>
          <a:ln/>
        </p:spPr>
      </p:sp>
      <p:sp>
        <p:nvSpPr>
          <p:cNvPr id="3" name="Text 1"/>
          <p:cNvSpPr/>
          <p:nvPr/>
        </p:nvSpPr>
        <p:spPr>
          <a:xfrm>
            <a:off x="1107552" y="117565"/>
            <a:ext cx="7565292" cy="214365"/>
          </a:xfrm>
          <a:prstGeom prst="rect">
            <a:avLst/>
          </a:prstGeom>
          <a:noFill/>
          <a:ln/>
        </p:spPr>
        <p:txBody>
          <a:bodyPr wrap="square" lIns="0" tIns="0" rIns="0" bIns="0" rtlCol="0" anchor="ctr"/>
          <a:lstStyle/>
          <a:p>
            <a:pPr>
              <a:lnSpc>
                <a:spcPct val="120000"/>
              </a:lnSpc>
            </a:pPr>
            <a:r>
              <a:rPr lang="en-US" sz="2000" kern="0" spc="113" dirty="0">
                <a:solidFill>
                  <a:srgbClr val="A9A299"/>
                </a:solidFill>
                <a:latin typeface="Liter" pitchFamily="34" charset="0"/>
                <a:ea typeface="Liter" pitchFamily="34" charset="-122"/>
                <a:cs typeface="Liter" pitchFamily="34" charset="-120"/>
              </a:rPr>
              <a:t>Question 3</a:t>
            </a:r>
            <a:endParaRPr lang="en-US" sz="2000" dirty="0"/>
          </a:p>
        </p:txBody>
      </p:sp>
      <p:sp>
        <p:nvSpPr>
          <p:cNvPr id="4" name="Text 2"/>
          <p:cNvSpPr/>
          <p:nvPr/>
        </p:nvSpPr>
        <p:spPr>
          <a:xfrm>
            <a:off x="1071824" y="607367"/>
            <a:ext cx="9014711" cy="357275"/>
          </a:xfrm>
          <a:prstGeom prst="rect">
            <a:avLst/>
          </a:prstGeom>
          <a:noFill/>
          <a:ln/>
        </p:spPr>
        <p:txBody>
          <a:bodyPr wrap="square" lIns="0" tIns="0" rIns="0" bIns="0" rtlCol="0" anchor="ctr"/>
          <a:lstStyle/>
          <a:p>
            <a:pPr>
              <a:lnSpc>
                <a:spcPct val="90000"/>
              </a:lnSpc>
            </a:pPr>
            <a:r>
              <a:rPr lang="en-US" sz="2532" b="1" dirty="0">
                <a:solidFill>
                  <a:srgbClr val="2A4D53"/>
                </a:solidFill>
                <a:latin typeface="Liter" pitchFamily="34" charset="0"/>
                <a:ea typeface="Liter" pitchFamily="34" charset="-122"/>
                <a:cs typeface="Liter" pitchFamily="34" charset="-120"/>
              </a:rPr>
              <a:t>Where Are Pregnant Women and WRA Underserved?</a:t>
            </a:r>
            <a:endParaRPr lang="en-US" sz="1600" dirty="0"/>
          </a:p>
        </p:txBody>
      </p:sp>
      <p:sp>
        <p:nvSpPr>
          <p:cNvPr id="5" name="Shape 3"/>
          <p:cNvSpPr/>
          <p:nvPr/>
        </p:nvSpPr>
        <p:spPr>
          <a:xfrm>
            <a:off x="357275" y="1179007"/>
            <a:ext cx="4876800" cy="2358013"/>
          </a:xfrm>
          <a:custGeom>
            <a:avLst/>
            <a:gdLst/>
            <a:ahLst/>
            <a:cxnLst/>
            <a:rect l="l" t="t" r="r" b="b"/>
            <a:pathLst>
              <a:path w="4876800" h="2358013">
                <a:moveTo>
                  <a:pt x="0" y="0"/>
                </a:moveTo>
                <a:lnTo>
                  <a:pt x="4876800" y="0"/>
                </a:lnTo>
                <a:lnTo>
                  <a:pt x="4876800" y="2358013"/>
                </a:lnTo>
                <a:lnTo>
                  <a:pt x="0" y="2358013"/>
                </a:lnTo>
                <a:lnTo>
                  <a:pt x="0" y="0"/>
                </a:lnTo>
                <a:close/>
              </a:path>
            </a:pathLst>
          </a:custGeom>
          <a:solidFill>
            <a:srgbClr val="2A4D53"/>
          </a:solidFill>
          <a:ln/>
        </p:spPr>
      </p:sp>
      <p:sp>
        <p:nvSpPr>
          <p:cNvPr id="6" name="Shape 4"/>
          <p:cNvSpPr/>
          <p:nvPr/>
        </p:nvSpPr>
        <p:spPr>
          <a:xfrm>
            <a:off x="640862" y="1402303"/>
            <a:ext cx="200967" cy="267956"/>
          </a:xfrm>
          <a:custGeom>
            <a:avLst/>
            <a:gdLst/>
            <a:ahLst/>
            <a:cxnLst/>
            <a:rect l="l" t="t" r="r" b="b"/>
            <a:pathLst>
              <a:path w="200967" h="267956">
                <a:moveTo>
                  <a:pt x="71176" y="12560"/>
                </a:moveTo>
                <a:cubicBezTo>
                  <a:pt x="71176" y="-3615"/>
                  <a:pt x="84308" y="-16747"/>
                  <a:pt x="100484" y="-16747"/>
                </a:cubicBezTo>
                <a:cubicBezTo>
                  <a:pt x="116659" y="-16747"/>
                  <a:pt x="129791" y="-3615"/>
                  <a:pt x="129791" y="12560"/>
                </a:cubicBezTo>
                <a:cubicBezTo>
                  <a:pt x="129791" y="28736"/>
                  <a:pt x="116659" y="41868"/>
                  <a:pt x="100484" y="41868"/>
                </a:cubicBezTo>
                <a:cubicBezTo>
                  <a:pt x="84308" y="41868"/>
                  <a:pt x="71176" y="28736"/>
                  <a:pt x="71176" y="12560"/>
                </a:cubicBezTo>
                <a:close/>
                <a:moveTo>
                  <a:pt x="58615" y="200967"/>
                </a:moveTo>
                <a:lnTo>
                  <a:pt x="45113" y="200967"/>
                </a:lnTo>
                <a:cubicBezTo>
                  <a:pt x="39408" y="200967"/>
                  <a:pt x="35379" y="195367"/>
                  <a:pt x="37158" y="189924"/>
                </a:cubicBezTo>
                <a:lnTo>
                  <a:pt x="59662" y="122412"/>
                </a:lnTo>
                <a:lnTo>
                  <a:pt x="34384" y="156482"/>
                </a:lnTo>
                <a:cubicBezTo>
                  <a:pt x="28889" y="163914"/>
                  <a:pt x="18370" y="165484"/>
                  <a:pt x="10938" y="159936"/>
                </a:cubicBezTo>
                <a:cubicBezTo>
                  <a:pt x="3506" y="154389"/>
                  <a:pt x="1936" y="143922"/>
                  <a:pt x="7484" y="136490"/>
                </a:cubicBezTo>
                <a:lnTo>
                  <a:pt x="44380" y="86772"/>
                </a:lnTo>
                <a:cubicBezTo>
                  <a:pt x="57569" y="69082"/>
                  <a:pt x="78346" y="58615"/>
                  <a:pt x="100484" y="58615"/>
                </a:cubicBezTo>
                <a:cubicBezTo>
                  <a:pt x="122621" y="58615"/>
                  <a:pt x="143398" y="69082"/>
                  <a:pt x="156587" y="86824"/>
                </a:cubicBezTo>
                <a:lnTo>
                  <a:pt x="193483" y="136542"/>
                </a:lnTo>
                <a:cubicBezTo>
                  <a:pt x="198978" y="143974"/>
                  <a:pt x="197461" y="154441"/>
                  <a:pt x="190029" y="159989"/>
                </a:cubicBezTo>
                <a:cubicBezTo>
                  <a:pt x="182597" y="165536"/>
                  <a:pt x="172130" y="163966"/>
                  <a:pt x="166583" y="156534"/>
                </a:cubicBezTo>
                <a:lnTo>
                  <a:pt x="141305" y="122464"/>
                </a:lnTo>
                <a:lnTo>
                  <a:pt x="163809" y="189924"/>
                </a:lnTo>
                <a:cubicBezTo>
                  <a:pt x="165641" y="195367"/>
                  <a:pt x="161559" y="200967"/>
                  <a:pt x="155854" y="200967"/>
                </a:cubicBezTo>
                <a:lnTo>
                  <a:pt x="142352" y="200967"/>
                </a:lnTo>
                <a:lnTo>
                  <a:pt x="142352" y="267956"/>
                </a:lnTo>
                <a:cubicBezTo>
                  <a:pt x="142352" y="277219"/>
                  <a:pt x="134868" y="284703"/>
                  <a:pt x="125604" y="284703"/>
                </a:cubicBezTo>
                <a:cubicBezTo>
                  <a:pt x="116341" y="284703"/>
                  <a:pt x="108857" y="277219"/>
                  <a:pt x="108857" y="267956"/>
                </a:cubicBezTo>
                <a:lnTo>
                  <a:pt x="108857" y="200967"/>
                </a:lnTo>
                <a:lnTo>
                  <a:pt x="92110" y="200967"/>
                </a:lnTo>
                <a:lnTo>
                  <a:pt x="92110" y="267956"/>
                </a:lnTo>
                <a:cubicBezTo>
                  <a:pt x="92110" y="277219"/>
                  <a:pt x="84626" y="284703"/>
                  <a:pt x="75363" y="284703"/>
                </a:cubicBezTo>
                <a:cubicBezTo>
                  <a:pt x="66099" y="284703"/>
                  <a:pt x="58615" y="277219"/>
                  <a:pt x="58615" y="267956"/>
                </a:cubicBezTo>
                <a:lnTo>
                  <a:pt x="58615" y="200967"/>
                </a:lnTo>
                <a:close/>
              </a:path>
            </a:pathLst>
          </a:custGeom>
          <a:solidFill>
            <a:srgbClr val="C87E62"/>
          </a:solidFill>
          <a:ln/>
        </p:spPr>
      </p:sp>
      <p:sp>
        <p:nvSpPr>
          <p:cNvPr id="7" name="Text 5"/>
          <p:cNvSpPr/>
          <p:nvPr/>
        </p:nvSpPr>
        <p:spPr>
          <a:xfrm>
            <a:off x="1013766" y="1393370"/>
            <a:ext cx="3122135" cy="321547"/>
          </a:xfrm>
          <a:prstGeom prst="rect">
            <a:avLst/>
          </a:prstGeom>
          <a:noFill/>
          <a:ln/>
        </p:spPr>
        <p:txBody>
          <a:bodyPr wrap="square" lIns="0" tIns="0" rIns="0" bIns="0" rtlCol="0" anchor="ctr"/>
          <a:lstStyle/>
          <a:p>
            <a:pPr>
              <a:lnSpc>
                <a:spcPct val="110000"/>
              </a:lnSpc>
            </a:pPr>
            <a:r>
              <a:rPr lang="en-US" sz="1688" b="1" dirty="0">
                <a:solidFill>
                  <a:srgbClr val="F8F7F5"/>
                </a:solidFill>
                <a:latin typeface="Liter" pitchFamily="34" charset="0"/>
                <a:ea typeface="Liter" pitchFamily="34" charset="-122"/>
                <a:cs typeface="Liter" pitchFamily="34" charset="-120"/>
              </a:rPr>
              <a:t>Critical Services Needed</a:t>
            </a:r>
            <a:endParaRPr lang="en-US" sz="1600" dirty="0"/>
          </a:p>
        </p:txBody>
      </p:sp>
      <p:sp>
        <p:nvSpPr>
          <p:cNvPr id="8" name="Shape 6"/>
          <p:cNvSpPr/>
          <p:nvPr/>
        </p:nvSpPr>
        <p:spPr>
          <a:xfrm>
            <a:off x="571640" y="1822101"/>
            <a:ext cx="428730" cy="428730"/>
          </a:xfrm>
          <a:custGeom>
            <a:avLst/>
            <a:gdLst/>
            <a:ahLst/>
            <a:cxnLst/>
            <a:rect l="l" t="t" r="r" b="b"/>
            <a:pathLst>
              <a:path w="428730" h="428730">
                <a:moveTo>
                  <a:pt x="0" y="0"/>
                </a:moveTo>
                <a:lnTo>
                  <a:pt x="428730" y="0"/>
                </a:lnTo>
                <a:lnTo>
                  <a:pt x="428730" y="428730"/>
                </a:lnTo>
                <a:lnTo>
                  <a:pt x="0" y="428730"/>
                </a:lnTo>
                <a:lnTo>
                  <a:pt x="0" y="0"/>
                </a:lnTo>
                <a:close/>
              </a:path>
            </a:pathLst>
          </a:custGeom>
          <a:solidFill>
            <a:srgbClr val="C87E62"/>
          </a:solidFill>
          <a:ln/>
        </p:spPr>
      </p:sp>
      <p:sp>
        <p:nvSpPr>
          <p:cNvPr id="9" name="Text 7"/>
          <p:cNvSpPr/>
          <p:nvPr/>
        </p:nvSpPr>
        <p:spPr>
          <a:xfrm>
            <a:off x="526980" y="1822101"/>
            <a:ext cx="518048" cy="428730"/>
          </a:xfrm>
          <a:prstGeom prst="rect">
            <a:avLst/>
          </a:prstGeom>
          <a:noFill/>
          <a:ln/>
        </p:spPr>
        <p:txBody>
          <a:bodyPr wrap="square" lIns="0" tIns="0" rIns="0" bIns="0" rtlCol="0" anchor="ctr"/>
          <a:lstStyle/>
          <a:p>
            <a:pPr algn="ctr">
              <a:lnSpc>
                <a:spcPct val="120000"/>
              </a:lnSpc>
            </a:pPr>
            <a:r>
              <a:rPr lang="en-US" sz="1407" b="1" dirty="0">
                <a:solidFill>
                  <a:srgbClr val="F8F7F5"/>
                </a:solidFill>
                <a:latin typeface="Liter" pitchFamily="34" charset="0"/>
                <a:ea typeface="Liter" pitchFamily="34" charset="-122"/>
                <a:cs typeface="Liter" pitchFamily="34" charset="-120"/>
              </a:rPr>
              <a:t>ANC</a:t>
            </a:r>
            <a:endParaRPr lang="en-US" sz="1600" dirty="0"/>
          </a:p>
        </p:txBody>
      </p:sp>
      <p:sp>
        <p:nvSpPr>
          <p:cNvPr id="10" name="Text 8"/>
          <p:cNvSpPr/>
          <p:nvPr/>
        </p:nvSpPr>
        <p:spPr>
          <a:xfrm>
            <a:off x="1107551" y="1911420"/>
            <a:ext cx="1509487" cy="276888"/>
          </a:xfrm>
          <a:prstGeom prst="rect">
            <a:avLst/>
          </a:prstGeom>
          <a:noFill/>
          <a:ln/>
        </p:spPr>
        <p:txBody>
          <a:bodyPr wrap="square" lIns="0" tIns="0" rIns="0" bIns="0" rtlCol="0" anchor="ctr"/>
          <a:lstStyle/>
          <a:p>
            <a:pPr>
              <a:lnSpc>
                <a:spcPct val="130000"/>
              </a:lnSpc>
            </a:pPr>
            <a:r>
              <a:rPr lang="en-US" sz="1600" dirty="0">
                <a:solidFill>
                  <a:srgbClr val="F8F7F5"/>
                </a:solidFill>
                <a:latin typeface="Quattrocento Sans" pitchFamily="34" charset="0"/>
                <a:ea typeface="Quattrocento Sans" pitchFamily="34" charset="-122"/>
                <a:cs typeface="Quattrocento Sans" pitchFamily="34" charset="-120"/>
              </a:rPr>
              <a:t>Antenatal Care</a:t>
            </a:r>
            <a:endParaRPr lang="en-US" sz="1600" dirty="0"/>
          </a:p>
        </p:txBody>
      </p:sp>
      <p:sp>
        <p:nvSpPr>
          <p:cNvPr id="11" name="Shape 9"/>
          <p:cNvSpPr/>
          <p:nvPr/>
        </p:nvSpPr>
        <p:spPr>
          <a:xfrm>
            <a:off x="571640" y="2358013"/>
            <a:ext cx="428730" cy="428730"/>
          </a:xfrm>
          <a:custGeom>
            <a:avLst/>
            <a:gdLst/>
            <a:ahLst/>
            <a:cxnLst/>
            <a:rect l="l" t="t" r="r" b="b"/>
            <a:pathLst>
              <a:path w="428730" h="428730">
                <a:moveTo>
                  <a:pt x="0" y="0"/>
                </a:moveTo>
                <a:lnTo>
                  <a:pt x="428730" y="0"/>
                </a:lnTo>
                <a:lnTo>
                  <a:pt x="428730" y="428730"/>
                </a:lnTo>
                <a:lnTo>
                  <a:pt x="0" y="428730"/>
                </a:lnTo>
                <a:lnTo>
                  <a:pt x="0" y="0"/>
                </a:lnTo>
                <a:close/>
              </a:path>
            </a:pathLst>
          </a:custGeom>
          <a:solidFill>
            <a:srgbClr val="C87E62"/>
          </a:solidFill>
          <a:ln/>
        </p:spPr>
      </p:sp>
      <p:sp>
        <p:nvSpPr>
          <p:cNvPr id="12" name="Shape 10"/>
          <p:cNvSpPr/>
          <p:nvPr/>
        </p:nvSpPr>
        <p:spPr>
          <a:xfrm>
            <a:off x="719015" y="2483059"/>
            <a:ext cx="133978" cy="178637"/>
          </a:xfrm>
          <a:custGeom>
            <a:avLst/>
            <a:gdLst/>
            <a:ahLst/>
            <a:cxnLst/>
            <a:rect l="l" t="t" r="r" b="b"/>
            <a:pathLst>
              <a:path w="133978" h="178637">
                <a:moveTo>
                  <a:pt x="41868" y="30703"/>
                </a:moveTo>
                <a:cubicBezTo>
                  <a:pt x="41868" y="16839"/>
                  <a:pt x="53124" y="5582"/>
                  <a:pt x="66989" y="5582"/>
                </a:cubicBezTo>
                <a:cubicBezTo>
                  <a:pt x="80854" y="5582"/>
                  <a:pt x="92110" y="16839"/>
                  <a:pt x="92110" y="30703"/>
                </a:cubicBezTo>
                <a:cubicBezTo>
                  <a:pt x="92110" y="44568"/>
                  <a:pt x="80854" y="55824"/>
                  <a:pt x="66989" y="55824"/>
                </a:cubicBezTo>
                <a:cubicBezTo>
                  <a:pt x="53124" y="55824"/>
                  <a:pt x="41868" y="44568"/>
                  <a:pt x="41868" y="30703"/>
                </a:cubicBezTo>
                <a:close/>
                <a:moveTo>
                  <a:pt x="2687" y="50416"/>
                </a:moveTo>
                <a:cubicBezTo>
                  <a:pt x="7222" y="44171"/>
                  <a:pt x="15945" y="42810"/>
                  <a:pt x="22190" y="47346"/>
                </a:cubicBezTo>
                <a:lnTo>
                  <a:pt x="34820" y="56522"/>
                </a:lnTo>
                <a:cubicBezTo>
                  <a:pt x="44171" y="63326"/>
                  <a:pt x="55440" y="66989"/>
                  <a:pt x="66989" y="66989"/>
                </a:cubicBezTo>
                <a:cubicBezTo>
                  <a:pt x="78538" y="66989"/>
                  <a:pt x="89807" y="63326"/>
                  <a:pt x="99158" y="56522"/>
                </a:cubicBezTo>
                <a:lnTo>
                  <a:pt x="111788" y="47311"/>
                </a:lnTo>
                <a:cubicBezTo>
                  <a:pt x="118033" y="42775"/>
                  <a:pt x="126756" y="44171"/>
                  <a:pt x="131291" y="50381"/>
                </a:cubicBezTo>
                <a:cubicBezTo>
                  <a:pt x="135827" y="56592"/>
                  <a:pt x="134432" y="65349"/>
                  <a:pt x="128221" y="69885"/>
                </a:cubicBezTo>
                <a:lnTo>
                  <a:pt x="115591" y="79096"/>
                </a:lnTo>
                <a:cubicBezTo>
                  <a:pt x="110846" y="82550"/>
                  <a:pt x="105787" y="85446"/>
                  <a:pt x="100484" y="87818"/>
                </a:cubicBezTo>
                <a:lnTo>
                  <a:pt x="100484" y="100484"/>
                </a:lnTo>
                <a:lnTo>
                  <a:pt x="33495" y="100484"/>
                </a:lnTo>
                <a:lnTo>
                  <a:pt x="33495" y="87818"/>
                </a:lnTo>
                <a:cubicBezTo>
                  <a:pt x="28191" y="85481"/>
                  <a:pt x="23132" y="82550"/>
                  <a:pt x="18387" y="79096"/>
                </a:cubicBezTo>
                <a:lnTo>
                  <a:pt x="5757" y="69885"/>
                </a:lnTo>
                <a:cubicBezTo>
                  <a:pt x="-488" y="65349"/>
                  <a:pt x="-1849" y="56627"/>
                  <a:pt x="2687" y="50381"/>
                </a:cubicBezTo>
                <a:close/>
                <a:moveTo>
                  <a:pt x="34018" y="114893"/>
                </a:moveTo>
                <a:lnTo>
                  <a:pt x="55161" y="133385"/>
                </a:lnTo>
                <a:lnTo>
                  <a:pt x="46090" y="146364"/>
                </a:lnTo>
                <a:lnTo>
                  <a:pt x="54568" y="154842"/>
                </a:lnTo>
                <a:cubicBezTo>
                  <a:pt x="60011" y="160285"/>
                  <a:pt x="60011" y="169112"/>
                  <a:pt x="54568" y="174590"/>
                </a:cubicBezTo>
                <a:cubicBezTo>
                  <a:pt x="49125" y="180068"/>
                  <a:pt x="40298" y="180033"/>
                  <a:pt x="34820" y="174590"/>
                </a:cubicBezTo>
                <a:lnTo>
                  <a:pt x="18073" y="157843"/>
                </a:lnTo>
                <a:cubicBezTo>
                  <a:pt x="13258" y="153028"/>
                  <a:pt x="12595" y="145492"/>
                  <a:pt x="16468" y="139944"/>
                </a:cubicBezTo>
                <a:lnTo>
                  <a:pt x="33983" y="114893"/>
                </a:lnTo>
                <a:close/>
                <a:moveTo>
                  <a:pt x="78852" y="133385"/>
                </a:moveTo>
                <a:lnTo>
                  <a:pt x="99995" y="114893"/>
                </a:lnTo>
                <a:lnTo>
                  <a:pt x="117510" y="139944"/>
                </a:lnTo>
                <a:cubicBezTo>
                  <a:pt x="121383" y="145492"/>
                  <a:pt x="120720" y="153028"/>
                  <a:pt x="115940" y="157808"/>
                </a:cubicBezTo>
                <a:lnTo>
                  <a:pt x="99193" y="174555"/>
                </a:lnTo>
                <a:cubicBezTo>
                  <a:pt x="93750" y="179998"/>
                  <a:pt x="84923" y="179998"/>
                  <a:pt x="79445" y="174555"/>
                </a:cubicBezTo>
                <a:cubicBezTo>
                  <a:pt x="73967" y="169112"/>
                  <a:pt x="74002" y="160285"/>
                  <a:pt x="79445" y="154807"/>
                </a:cubicBezTo>
                <a:lnTo>
                  <a:pt x="87923" y="146329"/>
                </a:lnTo>
                <a:lnTo>
                  <a:pt x="78852" y="133350"/>
                </a:lnTo>
                <a:close/>
              </a:path>
            </a:pathLst>
          </a:custGeom>
          <a:solidFill>
            <a:srgbClr val="F8F7F5"/>
          </a:solidFill>
          <a:ln/>
        </p:spPr>
      </p:sp>
      <p:sp>
        <p:nvSpPr>
          <p:cNvPr id="13" name="Text 11"/>
          <p:cNvSpPr/>
          <p:nvPr/>
        </p:nvSpPr>
        <p:spPr>
          <a:xfrm>
            <a:off x="1107552" y="2447331"/>
            <a:ext cx="1917002" cy="339411"/>
          </a:xfrm>
          <a:prstGeom prst="rect">
            <a:avLst/>
          </a:prstGeom>
          <a:noFill/>
          <a:ln/>
        </p:spPr>
        <p:txBody>
          <a:bodyPr wrap="square" lIns="0" tIns="0" rIns="0" bIns="0" rtlCol="0" anchor="ctr"/>
          <a:lstStyle/>
          <a:p>
            <a:pPr>
              <a:lnSpc>
                <a:spcPct val="130000"/>
              </a:lnSpc>
            </a:pPr>
            <a:r>
              <a:rPr lang="en-US" sz="1600" dirty="0">
                <a:solidFill>
                  <a:srgbClr val="F8F7F5"/>
                </a:solidFill>
                <a:latin typeface="Quattrocento Sans" pitchFamily="34" charset="0"/>
                <a:ea typeface="Quattrocento Sans" pitchFamily="34" charset="-122"/>
                <a:cs typeface="Quattrocento Sans" pitchFamily="34" charset="-120"/>
              </a:rPr>
              <a:t>Skilled Delivery</a:t>
            </a:r>
            <a:endParaRPr lang="en-US" sz="1600" dirty="0"/>
          </a:p>
        </p:txBody>
      </p:sp>
      <p:sp>
        <p:nvSpPr>
          <p:cNvPr id="14" name="Shape 12"/>
          <p:cNvSpPr/>
          <p:nvPr/>
        </p:nvSpPr>
        <p:spPr>
          <a:xfrm>
            <a:off x="571640" y="2893925"/>
            <a:ext cx="428730" cy="428730"/>
          </a:xfrm>
          <a:custGeom>
            <a:avLst/>
            <a:gdLst/>
            <a:ahLst/>
            <a:cxnLst/>
            <a:rect l="l" t="t" r="r" b="b"/>
            <a:pathLst>
              <a:path w="428730" h="428730">
                <a:moveTo>
                  <a:pt x="0" y="0"/>
                </a:moveTo>
                <a:lnTo>
                  <a:pt x="428730" y="0"/>
                </a:lnTo>
                <a:lnTo>
                  <a:pt x="428730" y="428730"/>
                </a:lnTo>
                <a:lnTo>
                  <a:pt x="0" y="428730"/>
                </a:lnTo>
                <a:lnTo>
                  <a:pt x="0" y="0"/>
                </a:lnTo>
                <a:close/>
              </a:path>
            </a:pathLst>
          </a:custGeom>
          <a:solidFill>
            <a:srgbClr val="C87E62"/>
          </a:solidFill>
          <a:ln/>
        </p:spPr>
      </p:sp>
      <p:sp>
        <p:nvSpPr>
          <p:cNvPr id="15" name="Text 13"/>
          <p:cNvSpPr/>
          <p:nvPr/>
        </p:nvSpPr>
        <p:spPr>
          <a:xfrm>
            <a:off x="526980" y="2893925"/>
            <a:ext cx="518048" cy="428730"/>
          </a:xfrm>
          <a:prstGeom prst="rect">
            <a:avLst/>
          </a:prstGeom>
          <a:noFill/>
          <a:ln/>
        </p:spPr>
        <p:txBody>
          <a:bodyPr wrap="square" lIns="0" tIns="0" rIns="0" bIns="0" rtlCol="0" anchor="ctr"/>
          <a:lstStyle/>
          <a:p>
            <a:pPr algn="ctr">
              <a:lnSpc>
                <a:spcPct val="120000"/>
              </a:lnSpc>
            </a:pPr>
            <a:r>
              <a:rPr lang="en-US" sz="1407" b="1" dirty="0">
                <a:solidFill>
                  <a:srgbClr val="F8F7F5"/>
                </a:solidFill>
                <a:latin typeface="Liter" pitchFamily="34" charset="0"/>
                <a:ea typeface="Liter" pitchFamily="34" charset="-122"/>
                <a:cs typeface="Liter" pitchFamily="34" charset="-120"/>
              </a:rPr>
              <a:t>FP</a:t>
            </a:r>
            <a:endParaRPr lang="en-US" sz="1600" dirty="0"/>
          </a:p>
        </p:txBody>
      </p:sp>
      <p:sp>
        <p:nvSpPr>
          <p:cNvPr id="16" name="Text 14"/>
          <p:cNvSpPr/>
          <p:nvPr/>
        </p:nvSpPr>
        <p:spPr>
          <a:xfrm>
            <a:off x="1107552" y="2983243"/>
            <a:ext cx="2648522" cy="339411"/>
          </a:xfrm>
          <a:prstGeom prst="rect">
            <a:avLst/>
          </a:prstGeom>
          <a:noFill/>
          <a:ln/>
        </p:spPr>
        <p:txBody>
          <a:bodyPr wrap="square" lIns="0" tIns="0" rIns="0" bIns="0" rtlCol="0" anchor="ctr"/>
          <a:lstStyle/>
          <a:p>
            <a:pPr>
              <a:lnSpc>
                <a:spcPct val="130000"/>
              </a:lnSpc>
            </a:pPr>
            <a:r>
              <a:rPr lang="en-US" sz="1600" dirty="0">
                <a:solidFill>
                  <a:srgbClr val="F8F7F5"/>
                </a:solidFill>
                <a:latin typeface="Quattrocento Sans" pitchFamily="34" charset="0"/>
                <a:ea typeface="Quattrocento Sans" pitchFamily="34" charset="-122"/>
                <a:cs typeface="Quattrocento Sans" pitchFamily="34" charset="-120"/>
              </a:rPr>
              <a:t>Family Planning Services</a:t>
            </a:r>
            <a:endParaRPr lang="en-US" sz="1600" dirty="0"/>
          </a:p>
        </p:txBody>
      </p:sp>
      <p:sp>
        <p:nvSpPr>
          <p:cNvPr id="17" name="Shape 15"/>
          <p:cNvSpPr/>
          <p:nvPr/>
        </p:nvSpPr>
        <p:spPr>
          <a:xfrm>
            <a:off x="375138" y="3715657"/>
            <a:ext cx="4858936" cy="3242268"/>
          </a:xfrm>
          <a:custGeom>
            <a:avLst/>
            <a:gdLst/>
            <a:ahLst/>
            <a:cxnLst/>
            <a:rect l="l" t="t" r="r" b="b"/>
            <a:pathLst>
              <a:path w="4858936" h="3242268">
                <a:moveTo>
                  <a:pt x="0" y="0"/>
                </a:moveTo>
                <a:lnTo>
                  <a:pt x="4858936" y="0"/>
                </a:lnTo>
                <a:lnTo>
                  <a:pt x="4858936" y="3242268"/>
                </a:lnTo>
                <a:lnTo>
                  <a:pt x="0" y="3242268"/>
                </a:lnTo>
                <a:lnTo>
                  <a:pt x="0" y="0"/>
                </a:lnTo>
                <a:close/>
              </a:path>
            </a:pathLst>
          </a:custGeom>
          <a:solidFill>
            <a:srgbClr val="FFFFFF"/>
          </a:solidFill>
          <a:ln/>
          <a:effectLst>
            <a:outerShdw blurRad="26796" dist="8932" dir="5400000" algn="bl" rotWithShape="0">
              <a:srgbClr val="000000">
                <a:alpha val="10196"/>
              </a:srgbClr>
            </a:outerShdw>
          </a:effectLst>
        </p:spPr>
      </p:sp>
      <p:sp>
        <p:nvSpPr>
          <p:cNvPr id="18" name="Shape 16"/>
          <p:cNvSpPr/>
          <p:nvPr/>
        </p:nvSpPr>
        <p:spPr>
          <a:xfrm>
            <a:off x="375138" y="3715657"/>
            <a:ext cx="35727" cy="3242268"/>
          </a:xfrm>
          <a:custGeom>
            <a:avLst/>
            <a:gdLst/>
            <a:ahLst/>
            <a:cxnLst/>
            <a:rect l="l" t="t" r="r" b="b"/>
            <a:pathLst>
              <a:path w="35727" h="3242268">
                <a:moveTo>
                  <a:pt x="0" y="0"/>
                </a:moveTo>
                <a:lnTo>
                  <a:pt x="35727" y="0"/>
                </a:lnTo>
                <a:lnTo>
                  <a:pt x="35727" y="3242268"/>
                </a:lnTo>
                <a:lnTo>
                  <a:pt x="0" y="3242268"/>
                </a:lnTo>
                <a:lnTo>
                  <a:pt x="0" y="0"/>
                </a:lnTo>
                <a:close/>
              </a:path>
            </a:pathLst>
          </a:custGeom>
          <a:solidFill>
            <a:srgbClr val="C87E62"/>
          </a:solidFill>
          <a:ln/>
        </p:spPr>
      </p:sp>
      <p:sp>
        <p:nvSpPr>
          <p:cNvPr id="19" name="Shape 17"/>
          <p:cNvSpPr/>
          <p:nvPr/>
        </p:nvSpPr>
        <p:spPr>
          <a:xfrm>
            <a:off x="660958" y="3965749"/>
            <a:ext cx="160774" cy="214365"/>
          </a:xfrm>
          <a:custGeom>
            <a:avLst/>
            <a:gdLst/>
            <a:ahLst/>
            <a:cxnLst/>
            <a:rect l="l" t="t" r="r" b="b"/>
            <a:pathLst>
              <a:path w="160774" h="214365">
                <a:moveTo>
                  <a:pt x="26796" y="0"/>
                </a:moveTo>
                <a:cubicBezTo>
                  <a:pt x="12016" y="0"/>
                  <a:pt x="0" y="12016"/>
                  <a:pt x="0" y="26796"/>
                </a:cubicBezTo>
                <a:lnTo>
                  <a:pt x="0" y="187569"/>
                </a:lnTo>
                <a:cubicBezTo>
                  <a:pt x="0" y="202349"/>
                  <a:pt x="12016" y="214365"/>
                  <a:pt x="26796" y="214365"/>
                </a:cubicBezTo>
                <a:lnTo>
                  <a:pt x="133978" y="214365"/>
                </a:lnTo>
                <a:cubicBezTo>
                  <a:pt x="148757" y="214365"/>
                  <a:pt x="160774" y="202349"/>
                  <a:pt x="160774" y="187569"/>
                </a:cubicBezTo>
                <a:lnTo>
                  <a:pt x="160774" y="26796"/>
                </a:lnTo>
                <a:cubicBezTo>
                  <a:pt x="160774" y="12016"/>
                  <a:pt x="148757" y="0"/>
                  <a:pt x="133978" y="0"/>
                </a:cubicBezTo>
                <a:lnTo>
                  <a:pt x="26796" y="0"/>
                </a:lnTo>
                <a:close/>
                <a:moveTo>
                  <a:pt x="40193" y="26796"/>
                </a:moveTo>
                <a:lnTo>
                  <a:pt x="120580" y="26796"/>
                </a:lnTo>
                <a:cubicBezTo>
                  <a:pt x="127991" y="26796"/>
                  <a:pt x="133978" y="32783"/>
                  <a:pt x="133978" y="40193"/>
                </a:cubicBezTo>
                <a:lnTo>
                  <a:pt x="133978" y="53591"/>
                </a:lnTo>
                <a:cubicBezTo>
                  <a:pt x="133978" y="61002"/>
                  <a:pt x="127991" y="66989"/>
                  <a:pt x="120580" y="66989"/>
                </a:cubicBezTo>
                <a:lnTo>
                  <a:pt x="40193" y="66989"/>
                </a:lnTo>
                <a:cubicBezTo>
                  <a:pt x="32783" y="66989"/>
                  <a:pt x="26796" y="61002"/>
                  <a:pt x="26796" y="53591"/>
                </a:cubicBezTo>
                <a:lnTo>
                  <a:pt x="26796" y="40193"/>
                </a:lnTo>
                <a:cubicBezTo>
                  <a:pt x="26796" y="32783"/>
                  <a:pt x="32783" y="26796"/>
                  <a:pt x="40193" y="26796"/>
                </a:cubicBezTo>
                <a:close/>
                <a:moveTo>
                  <a:pt x="46892" y="97134"/>
                </a:moveTo>
                <a:cubicBezTo>
                  <a:pt x="46892" y="102680"/>
                  <a:pt x="42390" y="107182"/>
                  <a:pt x="36844" y="107182"/>
                </a:cubicBezTo>
                <a:cubicBezTo>
                  <a:pt x="31298" y="107182"/>
                  <a:pt x="26796" y="102680"/>
                  <a:pt x="26796" y="97134"/>
                </a:cubicBezTo>
                <a:cubicBezTo>
                  <a:pt x="26796" y="91588"/>
                  <a:pt x="31298" y="87086"/>
                  <a:pt x="36844" y="87086"/>
                </a:cubicBezTo>
                <a:cubicBezTo>
                  <a:pt x="42390" y="87086"/>
                  <a:pt x="46892" y="91588"/>
                  <a:pt x="46892" y="97134"/>
                </a:cubicBezTo>
                <a:close/>
                <a:moveTo>
                  <a:pt x="80387" y="107182"/>
                </a:moveTo>
                <a:cubicBezTo>
                  <a:pt x="74841" y="107182"/>
                  <a:pt x="70338" y="102680"/>
                  <a:pt x="70338" y="97134"/>
                </a:cubicBezTo>
                <a:cubicBezTo>
                  <a:pt x="70338" y="91588"/>
                  <a:pt x="74841" y="87086"/>
                  <a:pt x="80387" y="87086"/>
                </a:cubicBezTo>
                <a:cubicBezTo>
                  <a:pt x="85933" y="87086"/>
                  <a:pt x="90435" y="91588"/>
                  <a:pt x="90435" y="97134"/>
                </a:cubicBezTo>
                <a:cubicBezTo>
                  <a:pt x="90435" y="102680"/>
                  <a:pt x="85933" y="107182"/>
                  <a:pt x="80387" y="107182"/>
                </a:cubicBezTo>
                <a:close/>
                <a:moveTo>
                  <a:pt x="133978" y="97134"/>
                </a:moveTo>
                <a:cubicBezTo>
                  <a:pt x="133978" y="102680"/>
                  <a:pt x="129476" y="107182"/>
                  <a:pt x="123930" y="107182"/>
                </a:cubicBezTo>
                <a:cubicBezTo>
                  <a:pt x="118384" y="107182"/>
                  <a:pt x="113881" y="102680"/>
                  <a:pt x="113881" y="97134"/>
                </a:cubicBezTo>
                <a:cubicBezTo>
                  <a:pt x="113881" y="91588"/>
                  <a:pt x="118384" y="87086"/>
                  <a:pt x="123930" y="87086"/>
                </a:cubicBezTo>
                <a:cubicBezTo>
                  <a:pt x="129476" y="87086"/>
                  <a:pt x="133978" y="91588"/>
                  <a:pt x="133978" y="97134"/>
                </a:cubicBezTo>
                <a:close/>
                <a:moveTo>
                  <a:pt x="36844" y="147376"/>
                </a:moveTo>
                <a:cubicBezTo>
                  <a:pt x="31298" y="147376"/>
                  <a:pt x="26796" y="142873"/>
                  <a:pt x="26796" y="137327"/>
                </a:cubicBezTo>
                <a:cubicBezTo>
                  <a:pt x="26796" y="131782"/>
                  <a:pt x="31298" y="127279"/>
                  <a:pt x="36844" y="127279"/>
                </a:cubicBezTo>
                <a:cubicBezTo>
                  <a:pt x="42390" y="127279"/>
                  <a:pt x="46892" y="131782"/>
                  <a:pt x="46892" y="137327"/>
                </a:cubicBezTo>
                <a:cubicBezTo>
                  <a:pt x="46892" y="142873"/>
                  <a:pt x="42390" y="147376"/>
                  <a:pt x="36844" y="147376"/>
                </a:cubicBezTo>
                <a:close/>
                <a:moveTo>
                  <a:pt x="90435" y="137327"/>
                </a:moveTo>
                <a:cubicBezTo>
                  <a:pt x="90435" y="142873"/>
                  <a:pt x="85933" y="147376"/>
                  <a:pt x="80387" y="147376"/>
                </a:cubicBezTo>
                <a:cubicBezTo>
                  <a:pt x="74841" y="147376"/>
                  <a:pt x="70338" y="142873"/>
                  <a:pt x="70338" y="137327"/>
                </a:cubicBezTo>
                <a:cubicBezTo>
                  <a:pt x="70338" y="131782"/>
                  <a:pt x="74841" y="127279"/>
                  <a:pt x="80387" y="127279"/>
                </a:cubicBezTo>
                <a:cubicBezTo>
                  <a:pt x="85933" y="127279"/>
                  <a:pt x="90435" y="131782"/>
                  <a:pt x="90435" y="137327"/>
                </a:cubicBezTo>
                <a:close/>
                <a:moveTo>
                  <a:pt x="123930" y="147376"/>
                </a:moveTo>
                <a:cubicBezTo>
                  <a:pt x="118384" y="147376"/>
                  <a:pt x="113881" y="142873"/>
                  <a:pt x="113881" y="137327"/>
                </a:cubicBezTo>
                <a:cubicBezTo>
                  <a:pt x="113881" y="131782"/>
                  <a:pt x="118384" y="127279"/>
                  <a:pt x="123930" y="127279"/>
                </a:cubicBezTo>
                <a:cubicBezTo>
                  <a:pt x="129476" y="127279"/>
                  <a:pt x="133978" y="131782"/>
                  <a:pt x="133978" y="137327"/>
                </a:cubicBezTo>
                <a:cubicBezTo>
                  <a:pt x="133978" y="142873"/>
                  <a:pt x="129476" y="147376"/>
                  <a:pt x="123930" y="147376"/>
                </a:cubicBezTo>
                <a:close/>
                <a:moveTo>
                  <a:pt x="26796" y="177521"/>
                </a:moveTo>
                <a:cubicBezTo>
                  <a:pt x="26796" y="171952"/>
                  <a:pt x="31275" y="167473"/>
                  <a:pt x="36844" y="167473"/>
                </a:cubicBezTo>
                <a:lnTo>
                  <a:pt x="83736" y="167473"/>
                </a:lnTo>
                <a:cubicBezTo>
                  <a:pt x="89305" y="167473"/>
                  <a:pt x="93785" y="171952"/>
                  <a:pt x="93785" y="177521"/>
                </a:cubicBezTo>
                <a:cubicBezTo>
                  <a:pt x="93785" y="183089"/>
                  <a:pt x="89305" y="187569"/>
                  <a:pt x="83736" y="187569"/>
                </a:cubicBezTo>
                <a:lnTo>
                  <a:pt x="36844" y="187569"/>
                </a:lnTo>
                <a:cubicBezTo>
                  <a:pt x="31275" y="187569"/>
                  <a:pt x="26796" y="183089"/>
                  <a:pt x="26796" y="177521"/>
                </a:cubicBezTo>
                <a:close/>
                <a:moveTo>
                  <a:pt x="123930" y="167473"/>
                </a:moveTo>
                <a:cubicBezTo>
                  <a:pt x="129498" y="167473"/>
                  <a:pt x="133978" y="171952"/>
                  <a:pt x="133978" y="177521"/>
                </a:cubicBezTo>
                <a:cubicBezTo>
                  <a:pt x="133978" y="183089"/>
                  <a:pt x="129498" y="187569"/>
                  <a:pt x="123930" y="187569"/>
                </a:cubicBezTo>
                <a:cubicBezTo>
                  <a:pt x="118361" y="187569"/>
                  <a:pt x="113881" y="183089"/>
                  <a:pt x="113881" y="177521"/>
                </a:cubicBezTo>
                <a:cubicBezTo>
                  <a:pt x="113881" y="171952"/>
                  <a:pt x="118361" y="167473"/>
                  <a:pt x="123930" y="167473"/>
                </a:cubicBezTo>
                <a:close/>
              </a:path>
            </a:pathLst>
          </a:custGeom>
          <a:solidFill>
            <a:srgbClr val="C87E62"/>
          </a:solidFill>
          <a:ln/>
        </p:spPr>
      </p:sp>
      <p:sp>
        <p:nvSpPr>
          <p:cNvPr id="20" name="Text 18"/>
          <p:cNvSpPr/>
          <p:nvPr/>
        </p:nvSpPr>
        <p:spPr>
          <a:xfrm>
            <a:off x="982505" y="3930022"/>
            <a:ext cx="3970216" cy="303684"/>
          </a:xfrm>
          <a:prstGeom prst="rect">
            <a:avLst/>
          </a:prstGeom>
          <a:noFill/>
          <a:ln/>
        </p:spPr>
        <p:txBody>
          <a:bodyPr wrap="square" lIns="0" tIns="0" rIns="0" bIns="0" rtlCol="0" anchor="ctr"/>
          <a:lstStyle/>
          <a:p>
            <a:pPr>
              <a:lnSpc>
                <a:spcPct val="110000"/>
              </a:lnSpc>
            </a:pPr>
            <a:r>
              <a:rPr lang="en-US" sz="1688" b="1" dirty="0">
                <a:solidFill>
                  <a:srgbClr val="2A4D53"/>
                </a:solidFill>
                <a:latin typeface="Liter" pitchFamily="34" charset="0"/>
                <a:ea typeface="Liter" pitchFamily="34" charset="-122"/>
                <a:cs typeface="Liter" pitchFamily="34" charset="-120"/>
              </a:rPr>
              <a:t>How We Arrived at the Gap Columns</a:t>
            </a:r>
            <a:endParaRPr lang="en-US" sz="1600" dirty="0"/>
          </a:p>
        </p:txBody>
      </p:sp>
      <p:sp>
        <p:nvSpPr>
          <p:cNvPr id="21" name="Text 19"/>
          <p:cNvSpPr/>
          <p:nvPr/>
        </p:nvSpPr>
        <p:spPr>
          <a:xfrm>
            <a:off x="607367" y="4358752"/>
            <a:ext cx="4492730" cy="250092"/>
          </a:xfrm>
          <a:prstGeom prst="rect">
            <a:avLst/>
          </a:prstGeom>
          <a:noFill/>
          <a:ln/>
        </p:spPr>
        <p:txBody>
          <a:bodyPr wrap="square" lIns="0" tIns="0" rIns="0" bIns="0" rtlCol="0" anchor="ctr"/>
          <a:lstStyle/>
          <a:p>
            <a:pP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Consolidating "Supply" (Service Readiness)</a:t>
            </a:r>
            <a:endParaRPr lang="en-US" sz="1600" dirty="0"/>
          </a:p>
        </p:txBody>
      </p:sp>
      <p:sp>
        <p:nvSpPr>
          <p:cNvPr id="22" name="Text 20"/>
          <p:cNvSpPr/>
          <p:nvPr/>
        </p:nvSpPr>
        <p:spPr>
          <a:xfrm>
            <a:off x="607367" y="4680299"/>
            <a:ext cx="4483798" cy="214365"/>
          </a:xfrm>
          <a:prstGeom prst="rect">
            <a:avLst/>
          </a:prstGeom>
          <a:noFill/>
          <a:ln/>
        </p:spPr>
        <p:txBody>
          <a:bodyPr wrap="square" lIns="0" tIns="0" rIns="0" bIns="0" rtlCol="0" anchor="ctr"/>
          <a:lstStyle/>
          <a:p>
            <a:pPr>
              <a:lnSpc>
                <a:spcPct val="120000"/>
              </a:lnSpc>
            </a:pPr>
            <a:r>
              <a:rPr lang="en-US" sz="1300" dirty="0">
                <a:solidFill>
                  <a:srgbClr val="3D3D3D"/>
                </a:solidFill>
                <a:latin typeface="Quattrocento Sans" pitchFamily="34" charset="0"/>
                <a:ea typeface="Quattrocento Sans" pitchFamily="34" charset="-122"/>
                <a:cs typeface="Quattrocento Sans" pitchFamily="34" charset="-120"/>
              </a:rPr>
              <a:t>• </a:t>
            </a:r>
            <a:r>
              <a:rPr lang="en-US" sz="1300" b="1" dirty="0">
                <a:solidFill>
                  <a:srgbClr val="3D3D3D"/>
                </a:solidFill>
                <a:latin typeface="Quattrocento Sans" pitchFamily="34" charset="0"/>
                <a:ea typeface="Quattrocento Sans" pitchFamily="34" charset="-122"/>
                <a:cs typeface="Quattrocento Sans" pitchFamily="34" charset="-120"/>
              </a:rPr>
              <a:t>Maternal Service Score:</a:t>
            </a:r>
            <a:r>
              <a:rPr lang="en-US" sz="1300" dirty="0">
                <a:solidFill>
                  <a:srgbClr val="3D3D3D"/>
                </a:solidFill>
                <a:latin typeface="Quattrocento Sans" pitchFamily="34" charset="0"/>
                <a:ea typeface="Quattrocento Sans" pitchFamily="34" charset="-122"/>
                <a:cs typeface="Quattrocento Sans" pitchFamily="34" charset="-120"/>
              </a:rPr>
              <a:t> ANC register, ANC card availability</a:t>
            </a:r>
            <a:endParaRPr lang="en-US" sz="1300" dirty="0"/>
          </a:p>
        </p:txBody>
      </p:sp>
      <p:sp>
        <p:nvSpPr>
          <p:cNvPr id="23" name="Text 21"/>
          <p:cNvSpPr/>
          <p:nvPr/>
        </p:nvSpPr>
        <p:spPr>
          <a:xfrm>
            <a:off x="607367" y="4966119"/>
            <a:ext cx="4483798" cy="214365"/>
          </a:xfrm>
          <a:prstGeom prst="rect">
            <a:avLst/>
          </a:prstGeom>
          <a:noFill/>
          <a:ln/>
        </p:spPr>
        <p:txBody>
          <a:bodyPr wrap="square" lIns="0" tIns="0" rIns="0" bIns="0" rtlCol="0" anchor="ctr"/>
          <a:lstStyle/>
          <a:p>
            <a:pPr>
              <a:lnSpc>
                <a:spcPct val="120000"/>
              </a:lnSpc>
            </a:pPr>
            <a:r>
              <a:rPr lang="en-US" sz="1400" dirty="0">
                <a:solidFill>
                  <a:srgbClr val="3D3D3D"/>
                </a:solidFill>
                <a:latin typeface="Quattrocento Sans" pitchFamily="34" charset="0"/>
                <a:ea typeface="Quattrocento Sans" pitchFamily="34" charset="-122"/>
                <a:cs typeface="Quattrocento Sans" pitchFamily="34" charset="-120"/>
              </a:rPr>
              <a:t>• </a:t>
            </a:r>
            <a:r>
              <a:rPr lang="en-US" sz="1400" b="1" dirty="0">
                <a:solidFill>
                  <a:srgbClr val="3D3D3D"/>
                </a:solidFill>
                <a:latin typeface="Quattrocento Sans" pitchFamily="34" charset="0"/>
                <a:ea typeface="Quattrocento Sans" pitchFamily="34" charset="-122"/>
                <a:cs typeface="Quattrocento Sans" pitchFamily="34" charset="-120"/>
              </a:rPr>
              <a:t>Maternal Drug Stock:</a:t>
            </a:r>
            <a:r>
              <a:rPr lang="en-US" sz="1400" dirty="0">
                <a:solidFill>
                  <a:srgbClr val="3D3D3D"/>
                </a:solidFill>
                <a:latin typeface="Quattrocento Sans" pitchFamily="34" charset="0"/>
                <a:ea typeface="Quattrocento Sans" pitchFamily="34" charset="-122"/>
                <a:cs typeface="Quattrocento Sans" pitchFamily="34" charset="-120"/>
              </a:rPr>
              <a:t> Fesolate tabs, Folic Acid quantities</a:t>
            </a:r>
            <a:endParaRPr lang="en-US" sz="1400" dirty="0"/>
          </a:p>
        </p:txBody>
      </p:sp>
      <p:sp>
        <p:nvSpPr>
          <p:cNvPr id="24" name="Text 22"/>
          <p:cNvSpPr/>
          <p:nvPr/>
        </p:nvSpPr>
        <p:spPr>
          <a:xfrm>
            <a:off x="607367" y="5251938"/>
            <a:ext cx="4483798" cy="214365"/>
          </a:xfrm>
          <a:prstGeom prst="rect">
            <a:avLst/>
          </a:prstGeom>
          <a:noFill/>
          <a:ln/>
        </p:spPr>
        <p:txBody>
          <a:bodyPr wrap="square" lIns="0" tIns="0" rIns="0" bIns="0" rtlCol="0" anchor="ctr"/>
          <a:lstStyle/>
          <a:p>
            <a:pPr>
              <a:lnSpc>
                <a:spcPct val="120000"/>
              </a:lnSpc>
            </a:pPr>
            <a:r>
              <a:rPr lang="en-US" sz="1400" dirty="0">
                <a:solidFill>
                  <a:srgbClr val="3D3D3D"/>
                </a:solidFill>
                <a:latin typeface="Quattrocento Sans" pitchFamily="34" charset="0"/>
                <a:ea typeface="Quattrocento Sans" pitchFamily="34" charset="-122"/>
                <a:cs typeface="Quattrocento Sans" pitchFamily="34" charset="-120"/>
              </a:rPr>
              <a:t>• </a:t>
            </a:r>
            <a:r>
              <a:rPr lang="en-US" sz="1400" b="1" dirty="0">
                <a:solidFill>
                  <a:srgbClr val="3D3D3D"/>
                </a:solidFill>
                <a:latin typeface="Quattrocento Sans" pitchFamily="34" charset="0"/>
                <a:ea typeface="Quattrocento Sans" pitchFamily="34" charset="-122"/>
                <a:cs typeface="Quattrocento Sans" pitchFamily="34" charset="-120"/>
              </a:rPr>
              <a:t>FP Method Mix:</a:t>
            </a:r>
            <a:r>
              <a:rPr lang="en-US" sz="1400" dirty="0">
                <a:solidFill>
                  <a:srgbClr val="3D3D3D"/>
                </a:solidFill>
                <a:latin typeface="Quattrocento Sans" pitchFamily="34" charset="0"/>
                <a:ea typeface="Quattrocento Sans" pitchFamily="34" charset="-122"/>
                <a:cs typeface="Quattrocento Sans" pitchFamily="34" charset="-120"/>
              </a:rPr>
              <a:t> Count of different contraceptive types</a:t>
            </a:r>
            <a:endParaRPr lang="en-US" sz="1400" dirty="0"/>
          </a:p>
        </p:txBody>
      </p:sp>
      <p:sp>
        <p:nvSpPr>
          <p:cNvPr id="25" name="Shape 23"/>
          <p:cNvSpPr/>
          <p:nvPr/>
        </p:nvSpPr>
        <p:spPr>
          <a:xfrm>
            <a:off x="607367" y="5613679"/>
            <a:ext cx="4412343" cy="8932"/>
          </a:xfrm>
          <a:custGeom>
            <a:avLst/>
            <a:gdLst/>
            <a:ahLst/>
            <a:cxnLst/>
            <a:rect l="l" t="t" r="r" b="b"/>
            <a:pathLst>
              <a:path w="4412343" h="8932">
                <a:moveTo>
                  <a:pt x="0" y="0"/>
                </a:moveTo>
                <a:lnTo>
                  <a:pt x="4412343" y="0"/>
                </a:lnTo>
                <a:lnTo>
                  <a:pt x="4412343" y="8932"/>
                </a:lnTo>
                <a:lnTo>
                  <a:pt x="0" y="8932"/>
                </a:lnTo>
                <a:lnTo>
                  <a:pt x="0" y="0"/>
                </a:lnTo>
                <a:close/>
              </a:path>
            </a:pathLst>
          </a:custGeom>
          <a:solidFill>
            <a:srgbClr val="A9A299">
              <a:alpha val="30196"/>
            </a:srgbClr>
          </a:solidFill>
          <a:ln/>
        </p:spPr>
      </p:sp>
      <p:sp>
        <p:nvSpPr>
          <p:cNvPr id="26" name="Text 24"/>
          <p:cNvSpPr/>
          <p:nvPr/>
        </p:nvSpPr>
        <p:spPr>
          <a:xfrm>
            <a:off x="607367" y="5725327"/>
            <a:ext cx="4492730" cy="250092"/>
          </a:xfrm>
          <a:prstGeom prst="rect">
            <a:avLst/>
          </a:prstGeom>
          <a:noFill/>
          <a:ln/>
        </p:spPr>
        <p:txBody>
          <a:bodyPr wrap="square" lIns="0" tIns="0" rIns="0" bIns="0" rtlCol="0" anchor="ctr"/>
          <a:lstStyle/>
          <a:p>
            <a:pP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Calculating the "Gap" (Unmet Need)</a:t>
            </a:r>
            <a:endParaRPr lang="en-US" sz="1600" dirty="0"/>
          </a:p>
        </p:txBody>
      </p:sp>
      <p:sp>
        <p:nvSpPr>
          <p:cNvPr id="27" name="Shape 25"/>
          <p:cNvSpPr/>
          <p:nvPr/>
        </p:nvSpPr>
        <p:spPr>
          <a:xfrm>
            <a:off x="607367" y="6046875"/>
            <a:ext cx="4412343" cy="464457"/>
          </a:xfrm>
          <a:custGeom>
            <a:avLst/>
            <a:gdLst/>
            <a:ahLst/>
            <a:cxnLst/>
            <a:rect l="l" t="t" r="r" b="b"/>
            <a:pathLst>
              <a:path w="4412343" h="464457">
                <a:moveTo>
                  <a:pt x="0" y="0"/>
                </a:moveTo>
                <a:lnTo>
                  <a:pt x="4412343" y="0"/>
                </a:lnTo>
                <a:lnTo>
                  <a:pt x="4412343" y="464457"/>
                </a:lnTo>
                <a:lnTo>
                  <a:pt x="0" y="464457"/>
                </a:lnTo>
                <a:lnTo>
                  <a:pt x="0" y="0"/>
                </a:lnTo>
                <a:close/>
              </a:path>
            </a:pathLst>
          </a:custGeom>
          <a:solidFill>
            <a:srgbClr val="2A4D53">
              <a:alpha val="5098"/>
            </a:srgbClr>
          </a:solidFill>
          <a:ln/>
        </p:spPr>
      </p:sp>
      <p:sp>
        <p:nvSpPr>
          <p:cNvPr id="28" name="Text 26"/>
          <p:cNvSpPr/>
          <p:nvPr/>
        </p:nvSpPr>
        <p:spPr>
          <a:xfrm>
            <a:off x="674356" y="6154057"/>
            <a:ext cx="4278365" cy="250092"/>
          </a:xfrm>
          <a:prstGeom prst="rect">
            <a:avLst/>
          </a:prstGeom>
          <a:noFill/>
          <a:ln/>
        </p:spPr>
        <p:txBody>
          <a:bodyPr wrap="square" lIns="0" tIns="0" rIns="0" bIns="0" rtlCol="0" anchor="ctr"/>
          <a:lstStyle/>
          <a:p>
            <a:pPr algn="ctr">
              <a:lnSpc>
                <a:spcPct val="130000"/>
              </a:lnSpc>
            </a:pPr>
            <a:r>
              <a:rPr lang="en-US" sz="1600" b="1" dirty="0">
                <a:solidFill>
                  <a:srgbClr val="2A4D53"/>
                </a:solidFill>
                <a:latin typeface="Liter" pitchFamily="34" charset="0"/>
                <a:ea typeface="Liter" pitchFamily="34" charset="-122"/>
                <a:cs typeface="Liter" pitchFamily="34" charset="-120"/>
              </a:rPr>
              <a:t>Gap Score = Demand ÷ Supply</a:t>
            </a:r>
            <a:endParaRPr lang="en-US" sz="1600" dirty="0"/>
          </a:p>
        </p:txBody>
      </p:sp>
      <p:sp>
        <p:nvSpPr>
          <p:cNvPr id="29" name="Shape 27"/>
          <p:cNvSpPr/>
          <p:nvPr/>
        </p:nvSpPr>
        <p:spPr>
          <a:xfrm>
            <a:off x="5448440" y="1179007"/>
            <a:ext cx="6386286" cy="5778919"/>
          </a:xfrm>
          <a:custGeom>
            <a:avLst/>
            <a:gdLst/>
            <a:ahLst/>
            <a:cxnLst/>
            <a:rect l="l" t="t" r="r" b="b"/>
            <a:pathLst>
              <a:path w="6386286" h="5778919">
                <a:moveTo>
                  <a:pt x="0" y="0"/>
                </a:moveTo>
                <a:lnTo>
                  <a:pt x="6386286" y="0"/>
                </a:lnTo>
                <a:lnTo>
                  <a:pt x="6386286" y="5778919"/>
                </a:lnTo>
                <a:lnTo>
                  <a:pt x="0" y="5778919"/>
                </a:lnTo>
                <a:lnTo>
                  <a:pt x="0" y="0"/>
                </a:lnTo>
                <a:close/>
              </a:path>
            </a:pathLst>
          </a:custGeom>
          <a:solidFill>
            <a:srgbClr val="FFFFFF"/>
          </a:solidFill>
          <a:ln/>
          <a:effectLst>
            <a:outerShdw blurRad="26796" dist="8932" dir="5400000" algn="bl" rotWithShape="0">
              <a:srgbClr val="000000">
                <a:alpha val="10196"/>
              </a:srgbClr>
            </a:outerShdw>
          </a:effectLst>
        </p:spPr>
      </p:sp>
      <p:sp>
        <p:nvSpPr>
          <p:cNvPr id="30" name="Text 28"/>
          <p:cNvSpPr/>
          <p:nvPr/>
        </p:nvSpPr>
        <p:spPr>
          <a:xfrm>
            <a:off x="5662804" y="1393371"/>
            <a:ext cx="6064738" cy="285820"/>
          </a:xfrm>
          <a:prstGeom prst="rect">
            <a:avLst/>
          </a:prstGeom>
          <a:noFill/>
          <a:ln/>
        </p:spPr>
        <p:txBody>
          <a:bodyPr wrap="square" lIns="0" tIns="0" rIns="0" bIns="0" rtlCol="0" anchor="ctr"/>
          <a:lstStyle/>
          <a:p>
            <a:pPr>
              <a:lnSpc>
                <a:spcPct val="110000"/>
              </a:lnSpc>
            </a:pPr>
            <a:r>
              <a:rPr lang="en-US" sz="1688" b="1" dirty="0">
                <a:solidFill>
                  <a:srgbClr val="2A4D53"/>
                </a:solidFill>
                <a:latin typeface="Liter" pitchFamily="34" charset="0"/>
                <a:ea typeface="Liter" pitchFamily="34" charset="-122"/>
                <a:cs typeface="Liter" pitchFamily="34" charset="-120"/>
              </a:rPr>
              <a:t>Maternal Health Gap Analysis Framework</a:t>
            </a:r>
            <a:endParaRPr lang="en-US" sz="1600" dirty="0"/>
          </a:p>
        </p:txBody>
      </p:sp>
      <p:sp>
        <p:nvSpPr>
          <p:cNvPr id="31" name="Shape 29"/>
          <p:cNvSpPr/>
          <p:nvPr/>
        </p:nvSpPr>
        <p:spPr>
          <a:xfrm>
            <a:off x="5680668" y="1857829"/>
            <a:ext cx="5939692" cy="1339780"/>
          </a:xfrm>
          <a:custGeom>
            <a:avLst/>
            <a:gdLst/>
            <a:ahLst/>
            <a:cxnLst/>
            <a:rect l="l" t="t" r="r" b="b"/>
            <a:pathLst>
              <a:path w="5939692" h="1339780">
                <a:moveTo>
                  <a:pt x="0" y="0"/>
                </a:moveTo>
                <a:lnTo>
                  <a:pt x="5939692" y="0"/>
                </a:lnTo>
                <a:lnTo>
                  <a:pt x="5939692" y="1339780"/>
                </a:lnTo>
                <a:lnTo>
                  <a:pt x="0" y="1339780"/>
                </a:lnTo>
                <a:lnTo>
                  <a:pt x="0" y="0"/>
                </a:lnTo>
                <a:close/>
              </a:path>
            </a:pathLst>
          </a:custGeom>
          <a:solidFill>
            <a:srgbClr val="2A4D53">
              <a:alpha val="5098"/>
            </a:srgbClr>
          </a:solidFill>
          <a:ln/>
        </p:spPr>
      </p:sp>
      <p:sp>
        <p:nvSpPr>
          <p:cNvPr id="32" name="Shape 30"/>
          <p:cNvSpPr/>
          <p:nvPr/>
        </p:nvSpPr>
        <p:spPr>
          <a:xfrm>
            <a:off x="5680668" y="1857829"/>
            <a:ext cx="35727" cy="1339780"/>
          </a:xfrm>
          <a:custGeom>
            <a:avLst/>
            <a:gdLst/>
            <a:ahLst/>
            <a:cxnLst/>
            <a:rect l="l" t="t" r="r" b="b"/>
            <a:pathLst>
              <a:path w="35727" h="1339780">
                <a:moveTo>
                  <a:pt x="0" y="0"/>
                </a:moveTo>
                <a:lnTo>
                  <a:pt x="35727" y="0"/>
                </a:lnTo>
                <a:lnTo>
                  <a:pt x="35727" y="1339780"/>
                </a:lnTo>
                <a:lnTo>
                  <a:pt x="0" y="1339780"/>
                </a:lnTo>
                <a:lnTo>
                  <a:pt x="0" y="0"/>
                </a:lnTo>
                <a:close/>
              </a:path>
            </a:pathLst>
          </a:custGeom>
          <a:solidFill>
            <a:srgbClr val="2A4D53"/>
          </a:solidFill>
          <a:ln/>
        </p:spPr>
      </p:sp>
      <p:sp>
        <p:nvSpPr>
          <p:cNvPr id="33" name="Shape 31"/>
          <p:cNvSpPr/>
          <p:nvPr/>
        </p:nvSpPr>
        <p:spPr>
          <a:xfrm>
            <a:off x="5917363" y="2054330"/>
            <a:ext cx="187569" cy="214365"/>
          </a:xfrm>
          <a:custGeom>
            <a:avLst/>
            <a:gdLst/>
            <a:ahLst/>
            <a:cxnLst/>
            <a:rect l="l" t="t" r="r" b="b"/>
            <a:pathLst>
              <a:path w="187569" h="214365">
                <a:moveTo>
                  <a:pt x="154661" y="53591"/>
                </a:moveTo>
                <a:lnTo>
                  <a:pt x="140300" y="33495"/>
                </a:lnTo>
                <a:lnTo>
                  <a:pt x="47311" y="33495"/>
                </a:lnTo>
                <a:lnTo>
                  <a:pt x="32950" y="53591"/>
                </a:lnTo>
                <a:lnTo>
                  <a:pt x="154661" y="53591"/>
                </a:lnTo>
                <a:close/>
                <a:moveTo>
                  <a:pt x="0" y="62174"/>
                </a:moveTo>
                <a:cubicBezTo>
                  <a:pt x="0" y="56606"/>
                  <a:pt x="1758" y="51163"/>
                  <a:pt x="4982" y="46599"/>
                </a:cubicBezTo>
                <a:lnTo>
                  <a:pt x="25498" y="17920"/>
                </a:lnTo>
                <a:cubicBezTo>
                  <a:pt x="30522" y="10886"/>
                  <a:pt x="38644" y="6699"/>
                  <a:pt x="47269" y="6699"/>
                </a:cubicBezTo>
                <a:lnTo>
                  <a:pt x="140258" y="6699"/>
                </a:lnTo>
                <a:cubicBezTo>
                  <a:pt x="148925" y="6699"/>
                  <a:pt x="157047" y="10886"/>
                  <a:pt x="162072" y="17920"/>
                </a:cubicBezTo>
                <a:lnTo>
                  <a:pt x="182545" y="46599"/>
                </a:lnTo>
                <a:cubicBezTo>
                  <a:pt x="185811" y="51163"/>
                  <a:pt x="187527" y="56606"/>
                  <a:pt x="187527" y="62174"/>
                </a:cubicBezTo>
                <a:lnTo>
                  <a:pt x="187569" y="174171"/>
                </a:lnTo>
                <a:cubicBezTo>
                  <a:pt x="187569" y="188951"/>
                  <a:pt x="175553" y="200967"/>
                  <a:pt x="160774" y="200967"/>
                </a:cubicBezTo>
                <a:lnTo>
                  <a:pt x="26796" y="200967"/>
                </a:lnTo>
                <a:cubicBezTo>
                  <a:pt x="12016" y="200967"/>
                  <a:pt x="0" y="188951"/>
                  <a:pt x="0" y="174171"/>
                </a:cubicBezTo>
                <a:lnTo>
                  <a:pt x="0" y="62174"/>
                </a:lnTo>
                <a:close/>
              </a:path>
            </a:pathLst>
          </a:custGeom>
          <a:solidFill>
            <a:srgbClr val="2A4D53"/>
          </a:solidFill>
          <a:ln/>
        </p:spPr>
      </p:sp>
      <p:sp>
        <p:nvSpPr>
          <p:cNvPr id="34" name="Text 32"/>
          <p:cNvSpPr/>
          <p:nvPr/>
        </p:nvSpPr>
        <p:spPr>
          <a:xfrm>
            <a:off x="6252308" y="2036465"/>
            <a:ext cx="3524040" cy="272421"/>
          </a:xfrm>
          <a:prstGeom prst="rect">
            <a:avLst/>
          </a:prstGeom>
          <a:noFill/>
          <a:ln/>
        </p:spPr>
        <p:txBody>
          <a:bodyPr wrap="square" lIns="0" tIns="0" rIns="0" bIns="0" rtlCol="0" anchor="ctr"/>
          <a:lstStyle/>
          <a:p>
            <a:pPr>
              <a:lnSpc>
                <a:spcPct val="120000"/>
              </a:lnSpc>
            </a:pPr>
            <a:r>
              <a:rPr lang="en-US" sz="1407" b="1" dirty="0">
                <a:solidFill>
                  <a:srgbClr val="2A4D53"/>
                </a:solidFill>
                <a:latin typeface="Liter" pitchFamily="34" charset="0"/>
                <a:ea typeface="Liter" pitchFamily="34" charset="-122"/>
                <a:cs typeface="Liter" pitchFamily="34" charset="-120"/>
              </a:rPr>
              <a:t>Supply Side: Service Readiness</a:t>
            </a:r>
            <a:endParaRPr lang="en-US" sz="1600" dirty="0"/>
          </a:p>
        </p:txBody>
      </p:sp>
      <p:sp>
        <p:nvSpPr>
          <p:cNvPr id="35" name="Shape 33"/>
          <p:cNvSpPr/>
          <p:nvPr/>
        </p:nvSpPr>
        <p:spPr>
          <a:xfrm>
            <a:off x="5881635" y="2433934"/>
            <a:ext cx="1777442" cy="580571"/>
          </a:xfrm>
          <a:custGeom>
            <a:avLst/>
            <a:gdLst/>
            <a:ahLst/>
            <a:cxnLst/>
            <a:rect l="l" t="t" r="r" b="b"/>
            <a:pathLst>
              <a:path w="1777442" h="580571">
                <a:moveTo>
                  <a:pt x="0" y="0"/>
                </a:moveTo>
                <a:lnTo>
                  <a:pt x="1777442" y="0"/>
                </a:lnTo>
                <a:lnTo>
                  <a:pt x="1777442" y="580571"/>
                </a:lnTo>
                <a:lnTo>
                  <a:pt x="0" y="580571"/>
                </a:lnTo>
                <a:lnTo>
                  <a:pt x="0" y="0"/>
                </a:lnTo>
                <a:close/>
              </a:path>
            </a:pathLst>
          </a:custGeom>
          <a:solidFill>
            <a:srgbClr val="FFFFFF"/>
          </a:solidFill>
          <a:ln w="12700">
            <a:solidFill>
              <a:srgbClr val="2A4D53">
                <a:alpha val="20000"/>
              </a:srgbClr>
            </a:solidFill>
            <a:prstDash val="solid"/>
          </a:ln>
        </p:spPr>
      </p:sp>
      <p:sp>
        <p:nvSpPr>
          <p:cNvPr id="36" name="Text 34"/>
          <p:cNvSpPr/>
          <p:nvPr/>
        </p:nvSpPr>
        <p:spPr>
          <a:xfrm>
            <a:off x="5993284" y="2505389"/>
            <a:ext cx="1616668" cy="147376"/>
          </a:xfrm>
          <a:prstGeom prst="rect">
            <a:avLst/>
          </a:prstGeom>
          <a:noFill/>
          <a:ln/>
        </p:spPr>
        <p:txBody>
          <a:bodyPr wrap="square" lIns="0" tIns="0" rIns="0" bIns="0" rtlCol="0" anchor="ctr"/>
          <a:lstStyle/>
          <a:p>
            <a:pPr>
              <a:lnSpc>
                <a:spcPct val="120000"/>
              </a:lnSpc>
            </a:pPr>
            <a:r>
              <a:rPr lang="en-US" sz="1200" b="1" dirty="0">
                <a:solidFill>
                  <a:srgbClr val="2A4D53"/>
                </a:solidFill>
                <a:latin typeface="Quattrocento Sans" pitchFamily="34" charset="0"/>
                <a:ea typeface="Quattrocento Sans" pitchFamily="34" charset="-122"/>
                <a:cs typeface="Quattrocento Sans" pitchFamily="34" charset="-120"/>
              </a:rPr>
              <a:t>Maternal Service Score</a:t>
            </a:r>
            <a:endParaRPr lang="en-US" sz="1200" dirty="0"/>
          </a:p>
        </p:txBody>
      </p:sp>
      <p:sp>
        <p:nvSpPr>
          <p:cNvPr id="37" name="Text 35"/>
          <p:cNvSpPr/>
          <p:nvPr/>
        </p:nvSpPr>
        <p:spPr>
          <a:xfrm>
            <a:off x="5993284" y="2759947"/>
            <a:ext cx="1607736" cy="142910"/>
          </a:xfrm>
          <a:prstGeom prst="rect">
            <a:avLst/>
          </a:prstGeom>
          <a:noFill/>
          <a:ln/>
        </p:spPr>
        <p:txBody>
          <a:bodyPr wrap="square" lIns="0" tIns="0" rIns="0" bIns="0" rtlCol="0" anchor="ctr"/>
          <a:lstStyle/>
          <a:p>
            <a:pPr>
              <a:lnSpc>
                <a:spcPct val="110000"/>
              </a:lnSpc>
            </a:pPr>
            <a:r>
              <a:rPr lang="en-US" sz="1100" b="1" dirty="0">
                <a:solidFill>
                  <a:srgbClr val="A9A299"/>
                </a:solidFill>
                <a:latin typeface="Quattrocento Sans" pitchFamily="34" charset="0"/>
                <a:ea typeface="Quattrocento Sans" pitchFamily="34" charset="-122"/>
                <a:cs typeface="Quattrocento Sans" pitchFamily="34" charset="-120"/>
              </a:rPr>
              <a:t>ANC_Register + ANC_Card</a:t>
            </a:r>
            <a:endParaRPr lang="en-US" sz="1100" b="1" dirty="0"/>
          </a:p>
        </p:txBody>
      </p:sp>
      <p:sp>
        <p:nvSpPr>
          <p:cNvPr id="38" name="Shape 36"/>
          <p:cNvSpPr/>
          <p:nvPr/>
        </p:nvSpPr>
        <p:spPr>
          <a:xfrm>
            <a:off x="7773098" y="2433934"/>
            <a:ext cx="1777442" cy="580571"/>
          </a:xfrm>
          <a:custGeom>
            <a:avLst/>
            <a:gdLst/>
            <a:ahLst/>
            <a:cxnLst/>
            <a:rect l="l" t="t" r="r" b="b"/>
            <a:pathLst>
              <a:path w="1777442" h="580571">
                <a:moveTo>
                  <a:pt x="0" y="0"/>
                </a:moveTo>
                <a:lnTo>
                  <a:pt x="1777442" y="0"/>
                </a:lnTo>
                <a:lnTo>
                  <a:pt x="1777442" y="580571"/>
                </a:lnTo>
                <a:lnTo>
                  <a:pt x="0" y="580571"/>
                </a:lnTo>
                <a:lnTo>
                  <a:pt x="0" y="0"/>
                </a:lnTo>
                <a:close/>
              </a:path>
            </a:pathLst>
          </a:custGeom>
          <a:solidFill>
            <a:srgbClr val="FFFFFF"/>
          </a:solidFill>
          <a:ln w="12700">
            <a:solidFill>
              <a:srgbClr val="2A4D53">
                <a:alpha val="20000"/>
              </a:srgbClr>
            </a:solidFill>
            <a:prstDash val="solid"/>
          </a:ln>
        </p:spPr>
      </p:sp>
      <p:sp>
        <p:nvSpPr>
          <p:cNvPr id="39" name="Text 37"/>
          <p:cNvSpPr/>
          <p:nvPr/>
        </p:nvSpPr>
        <p:spPr>
          <a:xfrm>
            <a:off x="7884746" y="2489758"/>
            <a:ext cx="1616668" cy="178637"/>
          </a:xfrm>
          <a:prstGeom prst="rect">
            <a:avLst/>
          </a:prstGeom>
          <a:noFill/>
          <a:ln/>
        </p:spPr>
        <p:txBody>
          <a:bodyPr wrap="square" lIns="0" tIns="0" rIns="0" bIns="0" rtlCol="0" anchor="ctr"/>
          <a:lstStyle/>
          <a:p>
            <a:pPr>
              <a:lnSpc>
                <a:spcPct val="120000"/>
              </a:lnSpc>
            </a:pPr>
            <a:r>
              <a:rPr lang="en-US" sz="1400" b="1" dirty="0">
                <a:solidFill>
                  <a:srgbClr val="2A4D53"/>
                </a:solidFill>
                <a:latin typeface="Quattrocento Sans" pitchFamily="34" charset="0"/>
                <a:ea typeface="Quattrocento Sans" pitchFamily="34" charset="-122"/>
                <a:cs typeface="Quattrocento Sans" pitchFamily="34" charset="-120"/>
              </a:rPr>
              <a:t>Maternal Drug Stock</a:t>
            </a:r>
            <a:endParaRPr lang="en-US" sz="1400" dirty="0"/>
          </a:p>
        </p:txBody>
      </p:sp>
      <p:sp>
        <p:nvSpPr>
          <p:cNvPr id="40" name="Text 38"/>
          <p:cNvSpPr/>
          <p:nvPr/>
        </p:nvSpPr>
        <p:spPr>
          <a:xfrm>
            <a:off x="7884746" y="2759947"/>
            <a:ext cx="1607736" cy="142910"/>
          </a:xfrm>
          <a:prstGeom prst="rect">
            <a:avLst/>
          </a:prstGeom>
          <a:noFill/>
          <a:ln/>
        </p:spPr>
        <p:txBody>
          <a:bodyPr wrap="square" lIns="0" tIns="0" rIns="0" bIns="0" rtlCol="0" anchor="ctr"/>
          <a:lstStyle/>
          <a:p>
            <a:pPr>
              <a:lnSpc>
                <a:spcPct val="110000"/>
              </a:lnSpc>
            </a:pPr>
            <a:r>
              <a:rPr lang="en-US" sz="1200" b="1" dirty="0">
                <a:solidFill>
                  <a:srgbClr val="A9A299"/>
                </a:solidFill>
                <a:latin typeface="Quattrocento Sans" pitchFamily="34" charset="0"/>
                <a:ea typeface="Quattrocento Sans" pitchFamily="34" charset="-122"/>
                <a:cs typeface="Quattrocento Sans" pitchFamily="34" charset="-120"/>
              </a:rPr>
              <a:t>Fesolate + Folic_Acid</a:t>
            </a:r>
            <a:endParaRPr lang="en-US" sz="1200" b="1" dirty="0"/>
          </a:p>
        </p:txBody>
      </p:sp>
      <p:sp>
        <p:nvSpPr>
          <p:cNvPr id="41" name="Shape 39"/>
          <p:cNvSpPr/>
          <p:nvPr/>
        </p:nvSpPr>
        <p:spPr>
          <a:xfrm>
            <a:off x="9664700" y="2433934"/>
            <a:ext cx="1777442" cy="580571"/>
          </a:xfrm>
          <a:custGeom>
            <a:avLst/>
            <a:gdLst/>
            <a:ahLst/>
            <a:cxnLst/>
            <a:rect l="l" t="t" r="r" b="b"/>
            <a:pathLst>
              <a:path w="1777442" h="580571">
                <a:moveTo>
                  <a:pt x="0" y="0"/>
                </a:moveTo>
                <a:lnTo>
                  <a:pt x="1777442" y="0"/>
                </a:lnTo>
                <a:lnTo>
                  <a:pt x="1777442" y="580571"/>
                </a:lnTo>
                <a:lnTo>
                  <a:pt x="0" y="580571"/>
                </a:lnTo>
                <a:lnTo>
                  <a:pt x="0" y="0"/>
                </a:lnTo>
                <a:close/>
              </a:path>
            </a:pathLst>
          </a:custGeom>
          <a:solidFill>
            <a:srgbClr val="FFFFFF"/>
          </a:solidFill>
          <a:ln w="12700">
            <a:solidFill>
              <a:srgbClr val="2A4D53">
                <a:alpha val="20000"/>
              </a:srgbClr>
            </a:solidFill>
            <a:prstDash val="solid"/>
          </a:ln>
        </p:spPr>
      </p:sp>
      <p:sp>
        <p:nvSpPr>
          <p:cNvPr id="42" name="Text 40"/>
          <p:cNvSpPr/>
          <p:nvPr/>
        </p:nvSpPr>
        <p:spPr>
          <a:xfrm>
            <a:off x="9786117" y="2500923"/>
            <a:ext cx="1616668" cy="178637"/>
          </a:xfrm>
          <a:prstGeom prst="rect">
            <a:avLst/>
          </a:prstGeom>
          <a:noFill/>
          <a:ln/>
        </p:spPr>
        <p:txBody>
          <a:bodyPr wrap="square" lIns="0" tIns="0" rIns="0" bIns="0" rtlCol="0" anchor="ctr"/>
          <a:lstStyle/>
          <a:p>
            <a:pPr>
              <a:lnSpc>
                <a:spcPct val="120000"/>
              </a:lnSpc>
            </a:pPr>
            <a:r>
              <a:rPr lang="en-US" sz="1600" b="1" dirty="0">
                <a:solidFill>
                  <a:srgbClr val="2A4D53"/>
                </a:solidFill>
                <a:latin typeface="Quattrocento Sans" pitchFamily="34" charset="0"/>
                <a:ea typeface="Quattrocento Sans" pitchFamily="34" charset="-122"/>
                <a:cs typeface="Quattrocento Sans" pitchFamily="34" charset="-120"/>
              </a:rPr>
              <a:t>FP Method Mix</a:t>
            </a:r>
            <a:endParaRPr lang="en-US" sz="1600" dirty="0"/>
          </a:p>
        </p:txBody>
      </p:sp>
      <p:sp>
        <p:nvSpPr>
          <p:cNvPr id="43" name="Text 41"/>
          <p:cNvSpPr/>
          <p:nvPr/>
        </p:nvSpPr>
        <p:spPr>
          <a:xfrm>
            <a:off x="9776348" y="2759947"/>
            <a:ext cx="1607736" cy="142910"/>
          </a:xfrm>
          <a:prstGeom prst="rect">
            <a:avLst/>
          </a:prstGeom>
          <a:noFill/>
          <a:ln/>
        </p:spPr>
        <p:txBody>
          <a:bodyPr wrap="square" lIns="0" tIns="0" rIns="0" bIns="0" rtlCol="0" anchor="ctr"/>
          <a:lstStyle/>
          <a:p>
            <a:pPr>
              <a:lnSpc>
                <a:spcPct val="110000"/>
              </a:lnSpc>
            </a:pPr>
            <a:r>
              <a:rPr lang="en-US" sz="1050" dirty="0">
                <a:solidFill>
                  <a:srgbClr val="A9A299"/>
                </a:solidFill>
                <a:latin typeface="Quattrocento Sans" pitchFamily="34" charset="0"/>
                <a:ea typeface="Quattrocento Sans" pitchFamily="34" charset="-122"/>
                <a:cs typeface="Quattrocento Sans" pitchFamily="34" charset="-120"/>
              </a:rPr>
              <a:t>Mini pills + IUCD + Implants</a:t>
            </a:r>
            <a:endParaRPr lang="en-US" sz="1050" dirty="0"/>
          </a:p>
        </p:txBody>
      </p:sp>
      <p:sp>
        <p:nvSpPr>
          <p:cNvPr id="44" name="Shape 42"/>
          <p:cNvSpPr/>
          <p:nvPr/>
        </p:nvSpPr>
        <p:spPr>
          <a:xfrm>
            <a:off x="5680668" y="3340519"/>
            <a:ext cx="5939692" cy="1446963"/>
          </a:xfrm>
          <a:custGeom>
            <a:avLst/>
            <a:gdLst/>
            <a:ahLst/>
            <a:cxnLst/>
            <a:rect l="l" t="t" r="r" b="b"/>
            <a:pathLst>
              <a:path w="5939692" h="1446963">
                <a:moveTo>
                  <a:pt x="0" y="0"/>
                </a:moveTo>
                <a:lnTo>
                  <a:pt x="5939692" y="0"/>
                </a:lnTo>
                <a:lnTo>
                  <a:pt x="5939692" y="1446963"/>
                </a:lnTo>
                <a:lnTo>
                  <a:pt x="0" y="1446963"/>
                </a:lnTo>
                <a:lnTo>
                  <a:pt x="0" y="0"/>
                </a:lnTo>
                <a:close/>
              </a:path>
            </a:pathLst>
          </a:custGeom>
          <a:solidFill>
            <a:srgbClr val="C87E62">
              <a:alpha val="10196"/>
            </a:srgbClr>
          </a:solidFill>
          <a:ln/>
        </p:spPr>
      </p:sp>
      <p:sp>
        <p:nvSpPr>
          <p:cNvPr id="45" name="Shape 43"/>
          <p:cNvSpPr/>
          <p:nvPr/>
        </p:nvSpPr>
        <p:spPr>
          <a:xfrm>
            <a:off x="5680668" y="3340519"/>
            <a:ext cx="35727" cy="1446963"/>
          </a:xfrm>
          <a:custGeom>
            <a:avLst/>
            <a:gdLst/>
            <a:ahLst/>
            <a:cxnLst/>
            <a:rect l="l" t="t" r="r" b="b"/>
            <a:pathLst>
              <a:path w="35727" h="1446963">
                <a:moveTo>
                  <a:pt x="0" y="0"/>
                </a:moveTo>
                <a:lnTo>
                  <a:pt x="35727" y="0"/>
                </a:lnTo>
                <a:lnTo>
                  <a:pt x="35727" y="1446963"/>
                </a:lnTo>
                <a:lnTo>
                  <a:pt x="0" y="1446963"/>
                </a:lnTo>
                <a:lnTo>
                  <a:pt x="0" y="0"/>
                </a:lnTo>
                <a:close/>
              </a:path>
            </a:pathLst>
          </a:custGeom>
          <a:solidFill>
            <a:srgbClr val="C87E62"/>
          </a:solidFill>
          <a:ln/>
        </p:spPr>
      </p:sp>
      <p:sp>
        <p:nvSpPr>
          <p:cNvPr id="46" name="Shape 44"/>
          <p:cNvSpPr/>
          <p:nvPr/>
        </p:nvSpPr>
        <p:spPr>
          <a:xfrm>
            <a:off x="5877169" y="3537020"/>
            <a:ext cx="267956" cy="214365"/>
          </a:xfrm>
          <a:custGeom>
            <a:avLst/>
            <a:gdLst/>
            <a:ahLst/>
            <a:cxnLst/>
            <a:rect l="l" t="t" r="r" b="b"/>
            <a:pathLst>
              <a:path w="267956" h="214365">
                <a:moveTo>
                  <a:pt x="133978" y="6699"/>
                </a:moveTo>
                <a:cubicBezTo>
                  <a:pt x="158010" y="6699"/>
                  <a:pt x="177521" y="26210"/>
                  <a:pt x="177521" y="50242"/>
                </a:cubicBezTo>
                <a:cubicBezTo>
                  <a:pt x="177521" y="74274"/>
                  <a:pt x="158010" y="93785"/>
                  <a:pt x="133978" y="93785"/>
                </a:cubicBezTo>
                <a:cubicBezTo>
                  <a:pt x="109946" y="93785"/>
                  <a:pt x="90435" y="74274"/>
                  <a:pt x="90435" y="50242"/>
                </a:cubicBezTo>
                <a:cubicBezTo>
                  <a:pt x="90435" y="26210"/>
                  <a:pt x="109946" y="6699"/>
                  <a:pt x="133978" y="6699"/>
                </a:cubicBezTo>
                <a:close/>
                <a:moveTo>
                  <a:pt x="40193" y="36844"/>
                </a:moveTo>
                <a:cubicBezTo>
                  <a:pt x="56831" y="36844"/>
                  <a:pt x="70338" y="50352"/>
                  <a:pt x="70338" y="66989"/>
                </a:cubicBezTo>
                <a:cubicBezTo>
                  <a:pt x="70338" y="83627"/>
                  <a:pt x="56831" y="97134"/>
                  <a:pt x="40193" y="97134"/>
                </a:cubicBezTo>
                <a:cubicBezTo>
                  <a:pt x="23556" y="97134"/>
                  <a:pt x="10048" y="83627"/>
                  <a:pt x="10048" y="66989"/>
                </a:cubicBezTo>
                <a:cubicBezTo>
                  <a:pt x="10048" y="50352"/>
                  <a:pt x="23556" y="36844"/>
                  <a:pt x="40193" y="36844"/>
                </a:cubicBezTo>
                <a:close/>
                <a:moveTo>
                  <a:pt x="0" y="174171"/>
                </a:moveTo>
                <a:cubicBezTo>
                  <a:pt x="0" y="144571"/>
                  <a:pt x="23990" y="120580"/>
                  <a:pt x="53591" y="120580"/>
                </a:cubicBezTo>
                <a:cubicBezTo>
                  <a:pt x="58950" y="120580"/>
                  <a:pt x="64142" y="121376"/>
                  <a:pt x="69041" y="122841"/>
                </a:cubicBezTo>
                <a:cubicBezTo>
                  <a:pt x="55266" y="138249"/>
                  <a:pt x="46892" y="158596"/>
                  <a:pt x="46892" y="180870"/>
                </a:cubicBezTo>
                <a:lnTo>
                  <a:pt x="46892" y="187569"/>
                </a:lnTo>
                <a:cubicBezTo>
                  <a:pt x="46892" y="192342"/>
                  <a:pt x="47897" y="196864"/>
                  <a:pt x="49697" y="200967"/>
                </a:cubicBezTo>
                <a:lnTo>
                  <a:pt x="13398" y="200967"/>
                </a:lnTo>
                <a:cubicBezTo>
                  <a:pt x="5987" y="200967"/>
                  <a:pt x="0" y="194980"/>
                  <a:pt x="0" y="187569"/>
                </a:cubicBezTo>
                <a:lnTo>
                  <a:pt x="0" y="174171"/>
                </a:lnTo>
                <a:close/>
                <a:moveTo>
                  <a:pt x="218259" y="200967"/>
                </a:moveTo>
                <a:cubicBezTo>
                  <a:pt x="220059" y="196864"/>
                  <a:pt x="221064" y="192342"/>
                  <a:pt x="221064" y="187569"/>
                </a:cubicBezTo>
                <a:lnTo>
                  <a:pt x="221064" y="180870"/>
                </a:lnTo>
                <a:cubicBezTo>
                  <a:pt x="221064" y="158596"/>
                  <a:pt x="212690" y="138249"/>
                  <a:pt x="198915" y="122841"/>
                </a:cubicBezTo>
                <a:cubicBezTo>
                  <a:pt x="203814" y="121376"/>
                  <a:pt x="209006" y="120580"/>
                  <a:pt x="214365" y="120580"/>
                </a:cubicBezTo>
                <a:cubicBezTo>
                  <a:pt x="243966" y="120580"/>
                  <a:pt x="267956" y="144571"/>
                  <a:pt x="267956" y="174171"/>
                </a:cubicBezTo>
                <a:lnTo>
                  <a:pt x="267956" y="187569"/>
                </a:lnTo>
                <a:cubicBezTo>
                  <a:pt x="267956" y="194980"/>
                  <a:pt x="261969" y="200967"/>
                  <a:pt x="254558" y="200967"/>
                </a:cubicBezTo>
                <a:lnTo>
                  <a:pt x="218259" y="200967"/>
                </a:lnTo>
                <a:close/>
                <a:moveTo>
                  <a:pt x="197618" y="66989"/>
                </a:moveTo>
                <a:cubicBezTo>
                  <a:pt x="197618" y="50352"/>
                  <a:pt x="211125" y="36844"/>
                  <a:pt x="227763" y="36844"/>
                </a:cubicBezTo>
                <a:cubicBezTo>
                  <a:pt x="244400" y="36844"/>
                  <a:pt x="257908" y="50352"/>
                  <a:pt x="257908" y="66989"/>
                </a:cubicBezTo>
                <a:cubicBezTo>
                  <a:pt x="257908" y="83627"/>
                  <a:pt x="244400" y="97134"/>
                  <a:pt x="227763" y="97134"/>
                </a:cubicBezTo>
                <a:cubicBezTo>
                  <a:pt x="211125" y="97134"/>
                  <a:pt x="197618" y="83627"/>
                  <a:pt x="197618" y="66989"/>
                </a:cubicBezTo>
                <a:close/>
                <a:moveTo>
                  <a:pt x="66989" y="180870"/>
                </a:moveTo>
                <a:cubicBezTo>
                  <a:pt x="66989" y="143859"/>
                  <a:pt x="96967" y="113881"/>
                  <a:pt x="133978" y="113881"/>
                </a:cubicBezTo>
                <a:cubicBezTo>
                  <a:pt x="170989" y="113881"/>
                  <a:pt x="200967" y="143859"/>
                  <a:pt x="200967" y="180870"/>
                </a:cubicBezTo>
                <a:lnTo>
                  <a:pt x="200967" y="187569"/>
                </a:lnTo>
                <a:cubicBezTo>
                  <a:pt x="200967" y="194980"/>
                  <a:pt x="194980" y="200967"/>
                  <a:pt x="187569" y="200967"/>
                </a:cubicBezTo>
                <a:lnTo>
                  <a:pt x="80387" y="200967"/>
                </a:lnTo>
                <a:cubicBezTo>
                  <a:pt x="72976" y="200967"/>
                  <a:pt x="66989" y="194980"/>
                  <a:pt x="66989" y="187569"/>
                </a:cubicBezTo>
                <a:lnTo>
                  <a:pt x="66989" y="180870"/>
                </a:lnTo>
                <a:close/>
              </a:path>
            </a:pathLst>
          </a:custGeom>
          <a:solidFill>
            <a:srgbClr val="C87E62"/>
          </a:solidFill>
          <a:ln/>
        </p:spPr>
      </p:sp>
      <p:sp>
        <p:nvSpPr>
          <p:cNvPr id="47" name="Text 45"/>
          <p:cNvSpPr/>
          <p:nvPr/>
        </p:nvSpPr>
        <p:spPr>
          <a:xfrm>
            <a:off x="6252308" y="3519156"/>
            <a:ext cx="3074572" cy="232229"/>
          </a:xfrm>
          <a:prstGeom prst="rect">
            <a:avLst/>
          </a:prstGeom>
          <a:noFill/>
          <a:ln/>
        </p:spPr>
        <p:txBody>
          <a:bodyPr wrap="square" lIns="0" tIns="0" rIns="0" bIns="0" rtlCol="0" anchor="ctr"/>
          <a:lstStyle/>
          <a:p>
            <a:pPr>
              <a:lnSpc>
                <a:spcPct val="120000"/>
              </a:lnSpc>
            </a:pPr>
            <a:r>
              <a:rPr lang="en-US" sz="1600" b="1" dirty="0">
                <a:solidFill>
                  <a:srgbClr val="2A4D53"/>
                </a:solidFill>
                <a:latin typeface="Liter" pitchFamily="34" charset="0"/>
                <a:ea typeface="Liter" pitchFamily="34" charset="-122"/>
                <a:cs typeface="Liter" pitchFamily="34" charset="-120"/>
              </a:rPr>
              <a:t>Demand Side: Population Need</a:t>
            </a:r>
            <a:endParaRPr lang="en-US" sz="1600" dirty="0"/>
          </a:p>
        </p:txBody>
      </p:sp>
      <p:sp>
        <p:nvSpPr>
          <p:cNvPr id="48" name="Shape 46"/>
          <p:cNvSpPr/>
          <p:nvPr/>
        </p:nvSpPr>
        <p:spPr>
          <a:xfrm>
            <a:off x="5881635" y="3916624"/>
            <a:ext cx="2724220" cy="687754"/>
          </a:xfrm>
          <a:custGeom>
            <a:avLst/>
            <a:gdLst/>
            <a:ahLst/>
            <a:cxnLst/>
            <a:rect l="l" t="t" r="r" b="b"/>
            <a:pathLst>
              <a:path w="2724220" h="687754">
                <a:moveTo>
                  <a:pt x="0" y="0"/>
                </a:moveTo>
                <a:lnTo>
                  <a:pt x="2724220" y="0"/>
                </a:lnTo>
                <a:lnTo>
                  <a:pt x="2724220" y="687754"/>
                </a:lnTo>
                <a:lnTo>
                  <a:pt x="0" y="687754"/>
                </a:lnTo>
                <a:lnTo>
                  <a:pt x="0" y="0"/>
                </a:lnTo>
                <a:close/>
              </a:path>
            </a:pathLst>
          </a:custGeom>
          <a:solidFill>
            <a:srgbClr val="FFFFFF"/>
          </a:solidFill>
          <a:ln w="12700">
            <a:solidFill>
              <a:srgbClr val="C87E62">
                <a:alpha val="30196"/>
              </a:srgbClr>
            </a:solidFill>
            <a:prstDash val="solid"/>
          </a:ln>
        </p:spPr>
      </p:sp>
      <p:sp>
        <p:nvSpPr>
          <p:cNvPr id="49" name="Shape 47"/>
          <p:cNvSpPr/>
          <p:nvPr/>
        </p:nvSpPr>
        <p:spPr>
          <a:xfrm>
            <a:off x="7161823" y="4028273"/>
            <a:ext cx="160774" cy="214365"/>
          </a:xfrm>
          <a:custGeom>
            <a:avLst/>
            <a:gdLst/>
            <a:ahLst/>
            <a:cxnLst/>
            <a:rect l="l" t="t" r="r" b="b"/>
            <a:pathLst>
              <a:path w="160774" h="214365">
                <a:moveTo>
                  <a:pt x="56941" y="10048"/>
                </a:moveTo>
                <a:cubicBezTo>
                  <a:pt x="56941" y="-2892"/>
                  <a:pt x="67447" y="-13398"/>
                  <a:pt x="80387" y="-13398"/>
                </a:cubicBezTo>
                <a:cubicBezTo>
                  <a:pt x="93327" y="-13398"/>
                  <a:pt x="103833" y="-2892"/>
                  <a:pt x="103833" y="10048"/>
                </a:cubicBezTo>
                <a:cubicBezTo>
                  <a:pt x="103833" y="22989"/>
                  <a:pt x="93327" y="33495"/>
                  <a:pt x="80387" y="33495"/>
                </a:cubicBezTo>
                <a:cubicBezTo>
                  <a:pt x="67447" y="33495"/>
                  <a:pt x="56941" y="22989"/>
                  <a:pt x="56941" y="10048"/>
                </a:cubicBezTo>
                <a:close/>
                <a:moveTo>
                  <a:pt x="46892" y="160774"/>
                </a:moveTo>
                <a:lnTo>
                  <a:pt x="36090" y="160774"/>
                </a:lnTo>
                <a:cubicBezTo>
                  <a:pt x="31527" y="160774"/>
                  <a:pt x="28303" y="156294"/>
                  <a:pt x="29726" y="151939"/>
                </a:cubicBezTo>
                <a:lnTo>
                  <a:pt x="47730" y="97930"/>
                </a:lnTo>
                <a:lnTo>
                  <a:pt x="27507" y="125186"/>
                </a:lnTo>
                <a:cubicBezTo>
                  <a:pt x="23111" y="131131"/>
                  <a:pt x="14696" y="132387"/>
                  <a:pt x="8750" y="127949"/>
                </a:cubicBezTo>
                <a:cubicBezTo>
                  <a:pt x="2805" y="123511"/>
                  <a:pt x="1549" y="115137"/>
                  <a:pt x="5987" y="109192"/>
                </a:cubicBezTo>
                <a:lnTo>
                  <a:pt x="35504" y="69417"/>
                </a:lnTo>
                <a:cubicBezTo>
                  <a:pt x="46055" y="55266"/>
                  <a:pt x="62677" y="46892"/>
                  <a:pt x="80387" y="46892"/>
                </a:cubicBezTo>
                <a:cubicBezTo>
                  <a:pt x="98097" y="46892"/>
                  <a:pt x="114719" y="55266"/>
                  <a:pt x="125269" y="69459"/>
                </a:cubicBezTo>
                <a:lnTo>
                  <a:pt x="154786" y="109234"/>
                </a:lnTo>
                <a:cubicBezTo>
                  <a:pt x="159183" y="115179"/>
                  <a:pt x="157968" y="123553"/>
                  <a:pt x="152023" y="127991"/>
                </a:cubicBezTo>
                <a:cubicBezTo>
                  <a:pt x="146078" y="132429"/>
                  <a:pt x="137704" y="131173"/>
                  <a:pt x="133266" y="125228"/>
                </a:cubicBezTo>
                <a:lnTo>
                  <a:pt x="113044" y="97971"/>
                </a:lnTo>
                <a:lnTo>
                  <a:pt x="131047" y="151939"/>
                </a:lnTo>
                <a:cubicBezTo>
                  <a:pt x="132513" y="156294"/>
                  <a:pt x="129247" y="160774"/>
                  <a:pt x="124683" y="160774"/>
                </a:cubicBezTo>
                <a:lnTo>
                  <a:pt x="113881" y="160774"/>
                </a:lnTo>
                <a:lnTo>
                  <a:pt x="113881" y="214365"/>
                </a:lnTo>
                <a:cubicBezTo>
                  <a:pt x="113881" y="221775"/>
                  <a:pt x="107894" y="227763"/>
                  <a:pt x="100484" y="227763"/>
                </a:cubicBezTo>
                <a:cubicBezTo>
                  <a:pt x="93073" y="227763"/>
                  <a:pt x="87086" y="221775"/>
                  <a:pt x="87086" y="214365"/>
                </a:cubicBezTo>
                <a:lnTo>
                  <a:pt x="87086" y="160774"/>
                </a:lnTo>
                <a:lnTo>
                  <a:pt x="73688" y="160774"/>
                </a:lnTo>
                <a:lnTo>
                  <a:pt x="73688" y="214365"/>
                </a:lnTo>
                <a:cubicBezTo>
                  <a:pt x="73688" y="221775"/>
                  <a:pt x="67701" y="227763"/>
                  <a:pt x="60290" y="227763"/>
                </a:cubicBezTo>
                <a:cubicBezTo>
                  <a:pt x="52879" y="227763"/>
                  <a:pt x="46892" y="221775"/>
                  <a:pt x="46892" y="214365"/>
                </a:cubicBezTo>
                <a:lnTo>
                  <a:pt x="46892" y="160774"/>
                </a:lnTo>
                <a:close/>
              </a:path>
            </a:pathLst>
          </a:custGeom>
          <a:solidFill>
            <a:srgbClr val="C87E62"/>
          </a:solidFill>
          <a:ln/>
        </p:spPr>
      </p:sp>
      <p:sp>
        <p:nvSpPr>
          <p:cNvPr id="50" name="Text 48"/>
          <p:cNvSpPr/>
          <p:nvPr/>
        </p:nvSpPr>
        <p:spPr>
          <a:xfrm>
            <a:off x="5962022" y="4314092"/>
            <a:ext cx="2563446" cy="178637"/>
          </a:xfrm>
          <a:prstGeom prst="rect">
            <a:avLst/>
          </a:prstGeom>
          <a:noFill/>
          <a:ln/>
        </p:spPr>
        <p:txBody>
          <a:bodyPr wrap="square" lIns="0" tIns="0" rIns="0" bIns="0" rtlCol="0" anchor="ctr"/>
          <a:lstStyle/>
          <a:p>
            <a:pPr algn="ctr">
              <a:lnSpc>
                <a:spcPct val="120000"/>
              </a:lnSpc>
            </a:pPr>
            <a:r>
              <a:rPr lang="en-US" sz="1600" b="1" dirty="0">
                <a:solidFill>
                  <a:srgbClr val="2A4D53"/>
                </a:solidFill>
                <a:latin typeface="Quattrocento Sans" pitchFamily="34" charset="0"/>
                <a:ea typeface="Quattrocento Sans" pitchFamily="34" charset="-122"/>
                <a:cs typeface="Quattrocento Sans" pitchFamily="34" charset="-120"/>
              </a:rPr>
              <a:t>Pregnant Women Count</a:t>
            </a:r>
            <a:endParaRPr lang="en-US" sz="1600" dirty="0"/>
          </a:p>
        </p:txBody>
      </p:sp>
      <p:sp>
        <p:nvSpPr>
          <p:cNvPr id="51" name="Shape 49"/>
          <p:cNvSpPr/>
          <p:nvPr/>
        </p:nvSpPr>
        <p:spPr>
          <a:xfrm>
            <a:off x="8718899" y="3916624"/>
            <a:ext cx="2724220" cy="687754"/>
          </a:xfrm>
          <a:custGeom>
            <a:avLst/>
            <a:gdLst/>
            <a:ahLst/>
            <a:cxnLst/>
            <a:rect l="l" t="t" r="r" b="b"/>
            <a:pathLst>
              <a:path w="2724220" h="687754">
                <a:moveTo>
                  <a:pt x="0" y="0"/>
                </a:moveTo>
                <a:lnTo>
                  <a:pt x="2724220" y="0"/>
                </a:lnTo>
                <a:lnTo>
                  <a:pt x="2724220" y="687754"/>
                </a:lnTo>
                <a:lnTo>
                  <a:pt x="0" y="687754"/>
                </a:lnTo>
                <a:lnTo>
                  <a:pt x="0" y="0"/>
                </a:lnTo>
                <a:close/>
              </a:path>
            </a:pathLst>
          </a:custGeom>
          <a:solidFill>
            <a:srgbClr val="FFFFFF"/>
          </a:solidFill>
          <a:ln w="12700">
            <a:solidFill>
              <a:srgbClr val="C87E62">
                <a:alpha val="30196"/>
              </a:srgbClr>
            </a:solidFill>
            <a:prstDash val="solid"/>
          </a:ln>
        </p:spPr>
      </p:sp>
      <p:sp>
        <p:nvSpPr>
          <p:cNvPr id="52" name="Shape 50"/>
          <p:cNvSpPr/>
          <p:nvPr/>
        </p:nvSpPr>
        <p:spPr>
          <a:xfrm>
            <a:off x="9958893" y="4028273"/>
            <a:ext cx="241160" cy="214365"/>
          </a:xfrm>
          <a:custGeom>
            <a:avLst/>
            <a:gdLst/>
            <a:ahLst/>
            <a:cxnLst/>
            <a:rect l="l" t="t" r="r" b="b"/>
            <a:pathLst>
              <a:path w="241160" h="214365">
                <a:moveTo>
                  <a:pt x="26796" y="53591"/>
                </a:moveTo>
                <a:cubicBezTo>
                  <a:pt x="26796" y="27711"/>
                  <a:pt x="47807" y="6699"/>
                  <a:pt x="73688" y="6699"/>
                </a:cubicBezTo>
                <a:cubicBezTo>
                  <a:pt x="99568" y="6699"/>
                  <a:pt x="120580" y="27711"/>
                  <a:pt x="120580" y="53591"/>
                </a:cubicBezTo>
                <a:cubicBezTo>
                  <a:pt x="120580" y="79472"/>
                  <a:pt x="99568" y="100484"/>
                  <a:pt x="73688" y="100484"/>
                </a:cubicBezTo>
                <a:cubicBezTo>
                  <a:pt x="47807" y="100484"/>
                  <a:pt x="26796" y="79472"/>
                  <a:pt x="26796" y="53591"/>
                </a:cubicBezTo>
                <a:close/>
                <a:moveTo>
                  <a:pt x="0" y="194268"/>
                </a:moveTo>
                <a:cubicBezTo>
                  <a:pt x="0" y="153572"/>
                  <a:pt x="32992" y="120580"/>
                  <a:pt x="73688" y="120580"/>
                </a:cubicBezTo>
                <a:cubicBezTo>
                  <a:pt x="114384" y="120580"/>
                  <a:pt x="147376" y="153572"/>
                  <a:pt x="147376" y="194268"/>
                </a:cubicBezTo>
                <a:lnTo>
                  <a:pt x="147376" y="196780"/>
                </a:lnTo>
                <a:cubicBezTo>
                  <a:pt x="147376" y="206494"/>
                  <a:pt x="139505" y="214365"/>
                  <a:pt x="129791" y="214365"/>
                </a:cubicBezTo>
                <a:lnTo>
                  <a:pt x="17585" y="214365"/>
                </a:lnTo>
                <a:cubicBezTo>
                  <a:pt x="7871" y="214365"/>
                  <a:pt x="0" y="206494"/>
                  <a:pt x="0" y="196780"/>
                </a:cubicBezTo>
                <a:lnTo>
                  <a:pt x="0" y="194268"/>
                </a:lnTo>
                <a:close/>
                <a:moveTo>
                  <a:pt x="180870" y="26796"/>
                </a:moveTo>
                <a:cubicBezTo>
                  <a:pt x="203054" y="26796"/>
                  <a:pt x="221064" y="44806"/>
                  <a:pt x="221064" y="66989"/>
                </a:cubicBezTo>
                <a:cubicBezTo>
                  <a:pt x="221064" y="89172"/>
                  <a:pt x="203054" y="107182"/>
                  <a:pt x="180870" y="107182"/>
                </a:cubicBezTo>
                <a:cubicBezTo>
                  <a:pt x="158687" y="107182"/>
                  <a:pt x="140677" y="89172"/>
                  <a:pt x="140677" y="66989"/>
                </a:cubicBezTo>
                <a:cubicBezTo>
                  <a:pt x="140677" y="44806"/>
                  <a:pt x="158687" y="26796"/>
                  <a:pt x="180870" y="26796"/>
                </a:cubicBezTo>
                <a:close/>
                <a:moveTo>
                  <a:pt x="180870" y="127279"/>
                </a:moveTo>
                <a:cubicBezTo>
                  <a:pt x="214155" y="127279"/>
                  <a:pt x="241160" y="154284"/>
                  <a:pt x="241160" y="187569"/>
                </a:cubicBezTo>
                <a:lnTo>
                  <a:pt x="241160" y="196948"/>
                </a:lnTo>
                <a:cubicBezTo>
                  <a:pt x="241160" y="206577"/>
                  <a:pt x="233373" y="214365"/>
                  <a:pt x="223743" y="214365"/>
                </a:cubicBezTo>
                <a:lnTo>
                  <a:pt x="163118" y="214365"/>
                </a:lnTo>
                <a:cubicBezTo>
                  <a:pt x="165882" y="209131"/>
                  <a:pt x="167473" y="203144"/>
                  <a:pt x="167473" y="196780"/>
                </a:cubicBezTo>
                <a:lnTo>
                  <a:pt x="167473" y="194268"/>
                </a:lnTo>
                <a:cubicBezTo>
                  <a:pt x="167473" y="172706"/>
                  <a:pt x="160187" y="152861"/>
                  <a:pt x="148004" y="137034"/>
                </a:cubicBezTo>
                <a:cubicBezTo>
                  <a:pt x="157466" y="130880"/>
                  <a:pt x="168770" y="127279"/>
                  <a:pt x="180870" y="127279"/>
                </a:cubicBezTo>
                <a:close/>
              </a:path>
            </a:pathLst>
          </a:custGeom>
          <a:solidFill>
            <a:srgbClr val="C87E62"/>
          </a:solidFill>
          <a:ln/>
        </p:spPr>
      </p:sp>
      <p:sp>
        <p:nvSpPr>
          <p:cNvPr id="53" name="Text 51"/>
          <p:cNvSpPr/>
          <p:nvPr/>
        </p:nvSpPr>
        <p:spPr>
          <a:xfrm>
            <a:off x="8799286" y="4314092"/>
            <a:ext cx="2563446" cy="178637"/>
          </a:xfrm>
          <a:prstGeom prst="rect">
            <a:avLst/>
          </a:prstGeom>
          <a:noFill/>
          <a:ln/>
        </p:spPr>
        <p:txBody>
          <a:bodyPr wrap="square" lIns="0" tIns="0" rIns="0" bIns="0" rtlCol="0" anchor="ctr"/>
          <a:lstStyle/>
          <a:p>
            <a:pPr algn="ctr">
              <a:lnSpc>
                <a:spcPct val="120000"/>
              </a:lnSpc>
            </a:pPr>
            <a:r>
              <a:rPr lang="en-US" sz="1600" b="1" dirty="0">
                <a:solidFill>
                  <a:srgbClr val="2A4D53"/>
                </a:solidFill>
                <a:latin typeface="Quattrocento Sans" pitchFamily="34" charset="0"/>
                <a:ea typeface="Quattrocento Sans" pitchFamily="34" charset="-122"/>
                <a:cs typeface="Quattrocento Sans" pitchFamily="34" charset="-120"/>
              </a:rPr>
              <a:t>WRA Population</a:t>
            </a:r>
            <a:endParaRPr lang="en-US" sz="1600" dirty="0"/>
          </a:p>
        </p:txBody>
      </p:sp>
      <p:sp>
        <p:nvSpPr>
          <p:cNvPr id="54" name="Shape 52"/>
          <p:cNvSpPr/>
          <p:nvPr/>
        </p:nvSpPr>
        <p:spPr>
          <a:xfrm>
            <a:off x="5662804" y="4930391"/>
            <a:ext cx="5957556" cy="1714919"/>
          </a:xfrm>
          <a:custGeom>
            <a:avLst/>
            <a:gdLst/>
            <a:ahLst/>
            <a:cxnLst/>
            <a:rect l="l" t="t" r="r" b="b"/>
            <a:pathLst>
              <a:path w="5957556" h="1714919">
                <a:moveTo>
                  <a:pt x="0" y="0"/>
                </a:moveTo>
                <a:lnTo>
                  <a:pt x="5957556" y="0"/>
                </a:lnTo>
                <a:lnTo>
                  <a:pt x="5957556" y="1714919"/>
                </a:lnTo>
                <a:lnTo>
                  <a:pt x="0" y="1714919"/>
                </a:lnTo>
                <a:lnTo>
                  <a:pt x="0" y="0"/>
                </a:lnTo>
                <a:close/>
              </a:path>
            </a:pathLst>
          </a:custGeom>
          <a:solidFill>
            <a:srgbClr val="2A4D53"/>
          </a:solidFill>
          <a:ln/>
        </p:spPr>
      </p:sp>
      <p:sp>
        <p:nvSpPr>
          <p:cNvPr id="55" name="Shape 53"/>
          <p:cNvSpPr/>
          <p:nvPr/>
        </p:nvSpPr>
        <p:spPr>
          <a:xfrm>
            <a:off x="5868237" y="5126892"/>
            <a:ext cx="214365" cy="214365"/>
          </a:xfrm>
          <a:custGeom>
            <a:avLst/>
            <a:gdLst/>
            <a:ahLst/>
            <a:cxnLst/>
            <a:rect l="l" t="t" r="r" b="b"/>
            <a:pathLst>
              <a:path w="214365" h="214365">
                <a:moveTo>
                  <a:pt x="13398" y="13398"/>
                </a:moveTo>
                <a:cubicBezTo>
                  <a:pt x="20808" y="13398"/>
                  <a:pt x="26796" y="19385"/>
                  <a:pt x="26796" y="26796"/>
                </a:cubicBezTo>
                <a:lnTo>
                  <a:pt x="26796" y="167473"/>
                </a:lnTo>
                <a:cubicBezTo>
                  <a:pt x="26796" y="171157"/>
                  <a:pt x="29810" y="174171"/>
                  <a:pt x="33495" y="174171"/>
                </a:cubicBezTo>
                <a:lnTo>
                  <a:pt x="200967" y="174171"/>
                </a:lnTo>
                <a:cubicBezTo>
                  <a:pt x="208378" y="174171"/>
                  <a:pt x="214365" y="180159"/>
                  <a:pt x="214365" y="187569"/>
                </a:cubicBezTo>
                <a:cubicBezTo>
                  <a:pt x="214365" y="194980"/>
                  <a:pt x="208378" y="200967"/>
                  <a:pt x="200967" y="200967"/>
                </a:cubicBezTo>
                <a:lnTo>
                  <a:pt x="33495" y="200967"/>
                </a:lnTo>
                <a:cubicBezTo>
                  <a:pt x="14989" y="200967"/>
                  <a:pt x="0" y="185978"/>
                  <a:pt x="0" y="167473"/>
                </a:cubicBezTo>
                <a:lnTo>
                  <a:pt x="0" y="26796"/>
                </a:lnTo>
                <a:cubicBezTo>
                  <a:pt x="0" y="19385"/>
                  <a:pt x="5987" y="13398"/>
                  <a:pt x="13398" y="13398"/>
                </a:cubicBezTo>
                <a:close/>
                <a:moveTo>
                  <a:pt x="53591" y="40193"/>
                </a:moveTo>
                <a:cubicBezTo>
                  <a:pt x="53591" y="32783"/>
                  <a:pt x="59578" y="26796"/>
                  <a:pt x="66989" y="26796"/>
                </a:cubicBezTo>
                <a:lnTo>
                  <a:pt x="147376" y="26796"/>
                </a:lnTo>
                <a:cubicBezTo>
                  <a:pt x="154786" y="26796"/>
                  <a:pt x="160774" y="32783"/>
                  <a:pt x="160774" y="40193"/>
                </a:cubicBezTo>
                <a:cubicBezTo>
                  <a:pt x="160774" y="47604"/>
                  <a:pt x="154786" y="53591"/>
                  <a:pt x="147376" y="53591"/>
                </a:cubicBezTo>
                <a:lnTo>
                  <a:pt x="66989" y="53591"/>
                </a:lnTo>
                <a:cubicBezTo>
                  <a:pt x="59578" y="53591"/>
                  <a:pt x="53591" y="47604"/>
                  <a:pt x="53591" y="40193"/>
                </a:cubicBezTo>
                <a:close/>
                <a:moveTo>
                  <a:pt x="66989" y="73688"/>
                </a:moveTo>
                <a:lnTo>
                  <a:pt x="120580" y="73688"/>
                </a:lnTo>
                <a:cubicBezTo>
                  <a:pt x="127991" y="73688"/>
                  <a:pt x="133978" y="79675"/>
                  <a:pt x="133978" y="87086"/>
                </a:cubicBezTo>
                <a:cubicBezTo>
                  <a:pt x="133978" y="94496"/>
                  <a:pt x="127991" y="100484"/>
                  <a:pt x="120580" y="100484"/>
                </a:cubicBezTo>
                <a:lnTo>
                  <a:pt x="66989" y="100484"/>
                </a:lnTo>
                <a:cubicBezTo>
                  <a:pt x="59578" y="100484"/>
                  <a:pt x="53591" y="94496"/>
                  <a:pt x="53591" y="87086"/>
                </a:cubicBezTo>
                <a:cubicBezTo>
                  <a:pt x="53591" y="79675"/>
                  <a:pt x="59578" y="73688"/>
                  <a:pt x="66989" y="73688"/>
                </a:cubicBezTo>
                <a:close/>
                <a:moveTo>
                  <a:pt x="66989" y="120580"/>
                </a:moveTo>
                <a:lnTo>
                  <a:pt x="174171" y="120580"/>
                </a:lnTo>
                <a:cubicBezTo>
                  <a:pt x="181582" y="120580"/>
                  <a:pt x="187569" y="126567"/>
                  <a:pt x="187569" y="133978"/>
                </a:cubicBezTo>
                <a:cubicBezTo>
                  <a:pt x="187569" y="141389"/>
                  <a:pt x="181582" y="147376"/>
                  <a:pt x="174171" y="147376"/>
                </a:cubicBezTo>
                <a:lnTo>
                  <a:pt x="66989" y="147376"/>
                </a:lnTo>
                <a:cubicBezTo>
                  <a:pt x="59578" y="147376"/>
                  <a:pt x="53591" y="141389"/>
                  <a:pt x="53591" y="133978"/>
                </a:cubicBezTo>
                <a:cubicBezTo>
                  <a:pt x="53591" y="126567"/>
                  <a:pt x="59578" y="120580"/>
                  <a:pt x="66989" y="120580"/>
                </a:cubicBezTo>
                <a:close/>
              </a:path>
            </a:pathLst>
          </a:custGeom>
          <a:solidFill>
            <a:srgbClr val="C87E62"/>
          </a:solidFill>
          <a:ln/>
        </p:spPr>
      </p:sp>
      <p:sp>
        <p:nvSpPr>
          <p:cNvPr id="56" name="Text 54"/>
          <p:cNvSpPr/>
          <p:nvPr/>
        </p:nvSpPr>
        <p:spPr>
          <a:xfrm>
            <a:off x="6216579" y="5109029"/>
            <a:ext cx="2389275" cy="187568"/>
          </a:xfrm>
          <a:prstGeom prst="rect">
            <a:avLst/>
          </a:prstGeom>
          <a:noFill/>
          <a:ln/>
        </p:spPr>
        <p:txBody>
          <a:bodyPr wrap="square" lIns="0" tIns="0" rIns="0" bIns="0" rtlCol="0" anchor="ctr"/>
          <a:lstStyle/>
          <a:p>
            <a:pPr>
              <a:lnSpc>
                <a:spcPct val="120000"/>
              </a:lnSpc>
            </a:pPr>
            <a:r>
              <a:rPr lang="en-US" sz="1600" b="1" dirty="0">
                <a:solidFill>
                  <a:srgbClr val="F8F7F5"/>
                </a:solidFill>
                <a:latin typeface="Liter" pitchFamily="34" charset="0"/>
                <a:ea typeface="Liter" pitchFamily="34" charset="-122"/>
                <a:cs typeface="Liter" pitchFamily="34" charset="-120"/>
              </a:rPr>
              <a:t>Gap Score Interpretation</a:t>
            </a:r>
            <a:endParaRPr lang="en-US" sz="1600" dirty="0"/>
          </a:p>
        </p:txBody>
      </p:sp>
      <p:sp>
        <p:nvSpPr>
          <p:cNvPr id="57" name="Shape 55"/>
          <p:cNvSpPr/>
          <p:nvPr/>
        </p:nvSpPr>
        <p:spPr>
          <a:xfrm>
            <a:off x="5841442" y="5502031"/>
            <a:ext cx="5600281" cy="428730"/>
          </a:xfrm>
          <a:custGeom>
            <a:avLst/>
            <a:gdLst/>
            <a:ahLst/>
            <a:cxnLst/>
            <a:rect l="l" t="t" r="r" b="b"/>
            <a:pathLst>
              <a:path w="5600281" h="428730">
                <a:moveTo>
                  <a:pt x="0" y="0"/>
                </a:moveTo>
                <a:lnTo>
                  <a:pt x="5600281" y="0"/>
                </a:lnTo>
                <a:lnTo>
                  <a:pt x="5600281" y="428730"/>
                </a:lnTo>
                <a:lnTo>
                  <a:pt x="0" y="428730"/>
                </a:lnTo>
                <a:lnTo>
                  <a:pt x="0" y="0"/>
                </a:lnTo>
                <a:close/>
              </a:path>
            </a:pathLst>
          </a:custGeom>
          <a:solidFill>
            <a:srgbClr val="C87E62"/>
          </a:solidFill>
          <a:ln/>
        </p:spPr>
      </p:sp>
      <p:sp>
        <p:nvSpPr>
          <p:cNvPr id="58" name="Text 56"/>
          <p:cNvSpPr/>
          <p:nvPr/>
        </p:nvSpPr>
        <p:spPr>
          <a:xfrm>
            <a:off x="5948624" y="5609213"/>
            <a:ext cx="1936122" cy="223296"/>
          </a:xfrm>
          <a:prstGeom prst="rect">
            <a:avLst/>
          </a:prstGeom>
          <a:noFill/>
          <a:ln/>
        </p:spPr>
        <p:txBody>
          <a:bodyPr wrap="square" lIns="0" tIns="0" rIns="0" bIns="0" rtlCol="0" anchor="ctr"/>
          <a:lstStyle/>
          <a:p>
            <a:pPr>
              <a:lnSpc>
                <a:spcPct val="120000"/>
              </a:lnSpc>
            </a:pPr>
            <a:r>
              <a:rPr lang="en-US" sz="1400" b="1" dirty="0">
                <a:solidFill>
                  <a:srgbClr val="F8F7F5"/>
                </a:solidFill>
                <a:latin typeface="Quattrocento Sans" pitchFamily="34" charset="0"/>
                <a:ea typeface="Quattrocento Sans" pitchFamily="34" charset="-122"/>
                <a:cs typeface="Quattrocento Sans" pitchFamily="34" charset="-120"/>
              </a:rPr>
              <a:t>High Score (e.g., 733.3)</a:t>
            </a:r>
            <a:endParaRPr lang="en-US" sz="1400" dirty="0"/>
          </a:p>
        </p:txBody>
      </p:sp>
      <p:sp>
        <p:nvSpPr>
          <p:cNvPr id="59" name="Text 57"/>
          <p:cNvSpPr/>
          <p:nvPr/>
        </p:nvSpPr>
        <p:spPr>
          <a:xfrm>
            <a:off x="8412480" y="5627077"/>
            <a:ext cx="2990306" cy="98250"/>
          </a:xfrm>
          <a:prstGeom prst="rect">
            <a:avLst/>
          </a:prstGeom>
          <a:noFill/>
          <a:ln/>
        </p:spPr>
        <p:txBody>
          <a:bodyPr wrap="square" lIns="0" tIns="0" rIns="0" bIns="0" rtlCol="0" anchor="ctr"/>
          <a:lstStyle/>
          <a:p>
            <a:pPr>
              <a:lnSpc>
                <a:spcPct val="120000"/>
              </a:lnSpc>
            </a:pPr>
            <a:r>
              <a:rPr lang="en-US" sz="1400" dirty="0">
                <a:solidFill>
                  <a:srgbClr val="F8F7F5"/>
                </a:solidFill>
                <a:latin typeface="Quattrocento Sans" pitchFamily="34" charset="0"/>
                <a:ea typeface="Quattrocento Sans" pitchFamily="34" charset="-122"/>
                <a:cs typeface="Quattrocento Sans" pitchFamily="34" charset="-120"/>
              </a:rPr>
              <a:t>Hundreds of women per unit of service</a:t>
            </a:r>
            <a:endParaRPr lang="en-US" sz="1400" dirty="0"/>
          </a:p>
        </p:txBody>
      </p:sp>
      <p:sp>
        <p:nvSpPr>
          <p:cNvPr id="60" name="Shape 58"/>
          <p:cNvSpPr/>
          <p:nvPr/>
        </p:nvSpPr>
        <p:spPr>
          <a:xfrm>
            <a:off x="5841442" y="6037943"/>
            <a:ext cx="5600281" cy="428730"/>
          </a:xfrm>
          <a:custGeom>
            <a:avLst/>
            <a:gdLst/>
            <a:ahLst/>
            <a:cxnLst/>
            <a:rect l="l" t="t" r="r" b="b"/>
            <a:pathLst>
              <a:path w="5600281" h="428730">
                <a:moveTo>
                  <a:pt x="0" y="0"/>
                </a:moveTo>
                <a:lnTo>
                  <a:pt x="5600281" y="0"/>
                </a:lnTo>
                <a:lnTo>
                  <a:pt x="5600281" y="428730"/>
                </a:lnTo>
                <a:lnTo>
                  <a:pt x="0" y="428730"/>
                </a:lnTo>
                <a:lnTo>
                  <a:pt x="0" y="0"/>
                </a:lnTo>
                <a:close/>
              </a:path>
            </a:pathLst>
          </a:custGeom>
          <a:solidFill>
            <a:srgbClr val="F8F7F5">
              <a:alpha val="20000"/>
            </a:srgbClr>
          </a:solidFill>
          <a:ln/>
        </p:spPr>
      </p:sp>
      <p:sp>
        <p:nvSpPr>
          <p:cNvPr id="61" name="Text 59"/>
          <p:cNvSpPr/>
          <p:nvPr/>
        </p:nvSpPr>
        <p:spPr>
          <a:xfrm>
            <a:off x="5948624" y="6145125"/>
            <a:ext cx="1824474" cy="259024"/>
          </a:xfrm>
          <a:prstGeom prst="rect">
            <a:avLst/>
          </a:prstGeom>
          <a:noFill/>
          <a:ln/>
        </p:spPr>
        <p:txBody>
          <a:bodyPr wrap="square" lIns="0" tIns="0" rIns="0" bIns="0" rtlCol="0" anchor="ctr"/>
          <a:lstStyle/>
          <a:p>
            <a:pPr>
              <a:lnSpc>
                <a:spcPct val="120000"/>
              </a:lnSpc>
            </a:pPr>
            <a:r>
              <a:rPr lang="en-US" b="1" dirty="0">
                <a:solidFill>
                  <a:srgbClr val="F8F7F5"/>
                </a:solidFill>
                <a:latin typeface="Quattrocento Sans" pitchFamily="34" charset="0"/>
                <a:ea typeface="Quattrocento Sans" pitchFamily="34" charset="-122"/>
                <a:cs typeface="Quattrocento Sans" pitchFamily="34" charset="-120"/>
              </a:rPr>
              <a:t>Low Score</a:t>
            </a:r>
            <a:endParaRPr lang="en-US" dirty="0"/>
          </a:p>
        </p:txBody>
      </p:sp>
      <p:sp>
        <p:nvSpPr>
          <p:cNvPr id="62" name="Text 60"/>
          <p:cNvSpPr/>
          <p:nvPr/>
        </p:nvSpPr>
        <p:spPr>
          <a:xfrm>
            <a:off x="8799286" y="6162989"/>
            <a:ext cx="2602523" cy="174171"/>
          </a:xfrm>
          <a:prstGeom prst="rect">
            <a:avLst/>
          </a:prstGeom>
          <a:noFill/>
          <a:ln/>
        </p:spPr>
        <p:txBody>
          <a:bodyPr wrap="square" lIns="0" tIns="0" rIns="0" bIns="0" rtlCol="0" anchor="ctr"/>
          <a:lstStyle/>
          <a:p>
            <a:pPr>
              <a:lnSpc>
                <a:spcPct val="120000"/>
              </a:lnSpc>
            </a:pPr>
            <a:r>
              <a:rPr lang="en-US" sz="1400" dirty="0">
                <a:solidFill>
                  <a:srgbClr val="F8F7F5"/>
                </a:solidFill>
                <a:latin typeface="Quattrocento Sans" pitchFamily="34" charset="0"/>
                <a:ea typeface="Quattrocento Sans" pitchFamily="34" charset="-122"/>
                <a:cs typeface="Quattrocento Sans" pitchFamily="34" charset="-120"/>
              </a:rPr>
              <a:t>Well-resourced for population</a:t>
            </a:r>
            <a:endParaRPr lang="en-US" sz="1400" dirty="0"/>
          </a:p>
        </p:txBody>
      </p:sp>
    </p:spTree>
    <p:extLst>
      <p:ext uri="{BB962C8B-B14F-4D97-AF65-F5344CB8AC3E}">
        <p14:creationId xmlns:p14="http://schemas.microsoft.com/office/powerpoint/2010/main" val="249556286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62865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87E62"/>
          </a:solidFill>
          <a:ln/>
        </p:spPr>
      </p:sp>
      <p:sp>
        <p:nvSpPr>
          <p:cNvPr id="4" name="Text 2"/>
          <p:cNvSpPr/>
          <p:nvPr/>
        </p:nvSpPr>
        <p:spPr>
          <a:xfrm>
            <a:off x="1371600" y="564482"/>
            <a:ext cx="4023273" cy="341897"/>
          </a:xfrm>
          <a:prstGeom prst="rect">
            <a:avLst/>
          </a:prstGeom>
          <a:noFill/>
          <a:ln/>
        </p:spPr>
        <p:txBody>
          <a:bodyPr wrap="square" lIns="0" tIns="0" rIns="0" bIns="0" rtlCol="0" anchor="ctr"/>
          <a:lstStyle/>
          <a:p>
            <a:pPr>
              <a:lnSpc>
                <a:spcPct val="110000"/>
              </a:lnSpc>
            </a:pPr>
            <a:r>
              <a:rPr lang="en-US" sz="1800" b="1" dirty="0">
                <a:solidFill>
                  <a:srgbClr val="2A4D53"/>
                </a:solidFill>
                <a:latin typeface="Liter" pitchFamily="34" charset="0"/>
                <a:ea typeface="Liter" pitchFamily="34" charset="-122"/>
                <a:cs typeface="Liter" pitchFamily="34" charset="-120"/>
              </a:rPr>
              <a:t>Maternal Health Service Gaps</a:t>
            </a:r>
            <a:endParaRPr lang="en-US" sz="1600" dirty="0"/>
          </a:p>
        </p:txBody>
      </p:sp>
      <p:sp>
        <p:nvSpPr>
          <p:cNvPr id="5" name="Shape 3"/>
          <p:cNvSpPr/>
          <p:nvPr/>
        </p:nvSpPr>
        <p:spPr>
          <a:xfrm>
            <a:off x="167729" y="1428750"/>
            <a:ext cx="6743700" cy="876300"/>
          </a:xfrm>
          <a:custGeom>
            <a:avLst/>
            <a:gdLst/>
            <a:ahLst/>
            <a:cxnLst/>
            <a:rect l="l" t="t" r="r" b="b"/>
            <a:pathLst>
              <a:path w="6743700" h="876300">
                <a:moveTo>
                  <a:pt x="38100" y="0"/>
                </a:moveTo>
                <a:lnTo>
                  <a:pt x="6667497" y="0"/>
                </a:lnTo>
                <a:cubicBezTo>
                  <a:pt x="6709583" y="0"/>
                  <a:pt x="6743700" y="34117"/>
                  <a:pt x="6743700" y="76203"/>
                </a:cubicBezTo>
                <a:lnTo>
                  <a:pt x="6743700" y="800097"/>
                </a:lnTo>
                <a:cubicBezTo>
                  <a:pt x="6743700" y="842183"/>
                  <a:pt x="6709583" y="876300"/>
                  <a:pt x="6667497" y="876300"/>
                </a:cubicBezTo>
                <a:lnTo>
                  <a:pt x="38100" y="876300"/>
                </a:lnTo>
                <a:cubicBezTo>
                  <a:pt x="17072" y="876300"/>
                  <a:pt x="0" y="859228"/>
                  <a:pt x="0" y="838200"/>
                </a:cubicBezTo>
                <a:lnTo>
                  <a:pt x="0" y="38100"/>
                </a:lnTo>
                <a:cubicBezTo>
                  <a:pt x="0" y="17072"/>
                  <a:pt x="17072" y="0"/>
                  <a:pt x="38100" y="0"/>
                </a:cubicBezTo>
                <a:close/>
              </a:path>
            </a:pathLst>
          </a:custGeom>
          <a:solidFill>
            <a:srgbClr val="FEF2F2"/>
          </a:solidFill>
          <a:ln/>
        </p:spPr>
      </p:sp>
      <p:sp>
        <p:nvSpPr>
          <p:cNvPr id="6" name="Shape 4"/>
          <p:cNvSpPr/>
          <p:nvPr/>
        </p:nvSpPr>
        <p:spPr>
          <a:xfrm>
            <a:off x="167729" y="1428750"/>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FB2C36"/>
          </a:solidFill>
          <a:ln/>
        </p:spPr>
      </p:sp>
      <p:sp>
        <p:nvSpPr>
          <p:cNvPr id="7" name="Text 5"/>
          <p:cNvSpPr/>
          <p:nvPr/>
        </p:nvSpPr>
        <p:spPr>
          <a:xfrm>
            <a:off x="377279" y="1619250"/>
            <a:ext cx="6419850" cy="495300"/>
          </a:xfrm>
          <a:prstGeom prst="rect">
            <a:avLst/>
          </a:prstGeom>
          <a:noFill/>
          <a:ln/>
        </p:spPr>
        <p:txBody>
          <a:bodyPr wrap="square" lIns="0" tIns="0" rIns="0" bIns="0" rtlCol="0" anchor="ctr"/>
          <a:lstStyle/>
          <a:p>
            <a:pPr algn="just">
              <a:lnSpc>
                <a:spcPct val="140000"/>
              </a:lnSpc>
            </a:pPr>
            <a:r>
              <a:rPr lang="en-US" sz="1400" dirty="0">
                <a:solidFill>
                  <a:srgbClr val="2A4D53"/>
                </a:solidFill>
                <a:latin typeface="Liter" pitchFamily="34" charset="0"/>
                <a:ea typeface="Liter" pitchFamily="34" charset="-122"/>
                <a:cs typeface="Liter" pitchFamily="34" charset="-120"/>
              </a:rPr>
              <a:t>Our analysis identifies </a:t>
            </a:r>
            <a:r>
              <a:rPr lang="en-US" sz="1400" b="1" dirty="0">
                <a:solidFill>
                  <a:srgbClr val="E7000B"/>
                </a:solidFill>
                <a:latin typeface="Liter" pitchFamily="34" charset="0"/>
                <a:ea typeface="Liter" pitchFamily="34" charset="-122"/>
                <a:cs typeface="Liter" pitchFamily="34" charset="-120"/>
              </a:rPr>
              <a:t>Narayi Ward (Chikun)</a:t>
            </a:r>
            <a:r>
              <a:rPr lang="en-US" sz="1400" dirty="0">
                <a:solidFill>
                  <a:srgbClr val="2A4D53"/>
                </a:solidFill>
                <a:latin typeface="Liter" pitchFamily="34" charset="0"/>
                <a:ea typeface="Liter" pitchFamily="34" charset="-122"/>
                <a:cs typeface="Liter" pitchFamily="34" charset="-120"/>
              </a:rPr>
              <a:t> as the state's most critical maternal </a:t>
            </a:r>
            <a:r>
              <a:rPr lang="en-US" sz="1400" b="1" dirty="0">
                <a:solidFill>
                  <a:srgbClr val="2A4D53"/>
                </a:solidFill>
                <a:latin typeface="Liter" pitchFamily="34" charset="0"/>
                <a:ea typeface="Liter" pitchFamily="34" charset="-122"/>
                <a:cs typeface="Liter" pitchFamily="34" charset="-120"/>
              </a:rPr>
              <a:t>'service desert,'</a:t>
            </a:r>
            <a:r>
              <a:rPr lang="en-US" sz="1400" dirty="0">
                <a:solidFill>
                  <a:srgbClr val="2A4D53"/>
                </a:solidFill>
                <a:latin typeface="Liter" pitchFamily="34" charset="0"/>
                <a:ea typeface="Liter" pitchFamily="34" charset="-122"/>
                <a:cs typeface="Liter" pitchFamily="34" charset="-120"/>
              </a:rPr>
              <a:t> where high demand is met with the lowest relative service readiness.</a:t>
            </a:r>
            <a:endParaRPr lang="en-US" sz="1400" dirty="0"/>
          </a:p>
        </p:txBody>
      </p:sp>
      <p:sp>
        <p:nvSpPr>
          <p:cNvPr id="8" name="Shape 6"/>
          <p:cNvSpPr/>
          <p:nvPr/>
        </p:nvSpPr>
        <p:spPr>
          <a:xfrm>
            <a:off x="167729" y="2782303"/>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2A4D53"/>
          </a:solidFill>
          <a:ln/>
        </p:spPr>
      </p:sp>
      <p:sp>
        <p:nvSpPr>
          <p:cNvPr id="9" name="Text 7"/>
          <p:cNvSpPr/>
          <p:nvPr/>
        </p:nvSpPr>
        <p:spPr>
          <a:xfrm>
            <a:off x="377279" y="2972803"/>
            <a:ext cx="6419850" cy="742950"/>
          </a:xfrm>
          <a:prstGeom prst="rect">
            <a:avLst/>
          </a:prstGeom>
          <a:noFill/>
          <a:ln/>
        </p:spPr>
        <p:txBody>
          <a:bodyPr wrap="square" lIns="0" tIns="0" rIns="0" bIns="0" rtlCol="0" anchor="ctr"/>
          <a:lstStyle/>
          <a:p>
            <a:pPr algn="just">
              <a:lnSpc>
                <a:spcPct val="140000"/>
              </a:lnSpc>
            </a:pPr>
            <a:r>
              <a:rPr lang="en-US" sz="1400" dirty="0">
                <a:solidFill>
                  <a:srgbClr val="2A4D53"/>
                </a:solidFill>
                <a:latin typeface="Liter" pitchFamily="34" charset="0"/>
                <a:ea typeface="Liter" pitchFamily="34" charset="-122"/>
                <a:cs typeface="Liter" pitchFamily="34" charset="-120"/>
              </a:rPr>
              <a:t>While Rigachikun (Igabi) manages the highest sheer volume of pregnant women, it is the </a:t>
            </a:r>
            <a:r>
              <a:rPr lang="en-US" sz="1400" b="1" dirty="0">
                <a:solidFill>
                  <a:srgbClr val="2A4D53"/>
                </a:solidFill>
                <a:latin typeface="Liter" pitchFamily="34" charset="0"/>
                <a:ea typeface="Liter" pitchFamily="34" charset="-122"/>
                <a:cs typeface="Liter" pitchFamily="34" charset="-120"/>
              </a:rPr>
              <a:t>systemic shortage of essential drugs</a:t>
            </a:r>
            <a:r>
              <a:rPr lang="en-US" sz="1400" dirty="0">
                <a:solidFill>
                  <a:srgbClr val="2A4D53"/>
                </a:solidFill>
                <a:latin typeface="Liter" pitchFamily="34" charset="0"/>
                <a:ea typeface="Liter" pitchFamily="34" charset="-122"/>
                <a:cs typeface="Liter" pitchFamily="34" charset="-120"/>
              </a:rPr>
              <a:t> in wards like Narayi, Daddu, and Kudaru that creates the highest risk for maternal outcomes.</a:t>
            </a:r>
            <a:endParaRPr lang="en-US" sz="1400" dirty="0"/>
          </a:p>
        </p:txBody>
      </p:sp>
      <p:sp>
        <p:nvSpPr>
          <p:cNvPr id="10" name="Shape 8"/>
          <p:cNvSpPr/>
          <p:nvPr/>
        </p:nvSpPr>
        <p:spPr>
          <a:xfrm>
            <a:off x="167729" y="438150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C87E62"/>
          </a:solidFill>
          <a:ln/>
        </p:spPr>
      </p:sp>
      <p:sp>
        <p:nvSpPr>
          <p:cNvPr id="11" name="Shape 9"/>
          <p:cNvSpPr/>
          <p:nvPr/>
        </p:nvSpPr>
        <p:spPr>
          <a:xfrm>
            <a:off x="415379" y="4619625"/>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C87E62"/>
          </a:solidFill>
          <a:ln/>
        </p:spPr>
      </p:sp>
      <p:sp>
        <p:nvSpPr>
          <p:cNvPr id="12" name="Text 10"/>
          <p:cNvSpPr/>
          <p:nvPr/>
        </p:nvSpPr>
        <p:spPr>
          <a:xfrm>
            <a:off x="624929" y="4572000"/>
            <a:ext cx="6172200" cy="742950"/>
          </a:xfrm>
          <a:prstGeom prst="rect">
            <a:avLst/>
          </a:prstGeom>
          <a:noFill/>
          <a:ln/>
        </p:spPr>
        <p:txBody>
          <a:bodyPr wrap="square" lIns="0" tIns="0" rIns="0" bIns="0" rtlCol="0" anchor="ctr"/>
          <a:lstStyle/>
          <a:p>
            <a:pPr algn="just">
              <a:lnSpc>
                <a:spcPct val="140000"/>
              </a:lnSpc>
            </a:pPr>
            <a:r>
              <a:rPr lang="en-US" sz="1400" dirty="0">
                <a:solidFill>
                  <a:srgbClr val="2A4D53"/>
                </a:solidFill>
                <a:latin typeface="Liter" pitchFamily="34" charset="0"/>
                <a:ea typeface="Liter" pitchFamily="34" charset="-122"/>
                <a:cs typeface="Liter" pitchFamily="34" charset="-120"/>
              </a:rPr>
              <a:t>To reduce mortality rates, resource allocation must shift from high-stock urban centers toward these </a:t>
            </a:r>
            <a:r>
              <a:rPr lang="en-US" sz="1400" b="1" dirty="0">
                <a:solidFill>
                  <a:srgbClr val="C87E62"/>
                </a:solidFill>
                <a:latin typeface="Liter" pitchFamily="34" charset="0"/>
                <a:ea typeface="Liter" pitchFamily="34" charset="-122"/>
                <a:cs typeface="Liter" pitchFamily="34" charset="-120"/>
              </a:rPr>
              <a:t>'Red Zone' wards</a:t>
            </a:r>
            <a:r>
              <a:rPr lang="en-US" sz="1400" dirty="0">
                <a:solidFill>
                  <a:srgbClr val="2A4D53"/>
                </a:solidFill>
                <a:latin typeface="Liter" pitchFamily="34" charset="0"/>
                <a:ea typeface="Liter" pitchFamily="34" charset="-122"/>
                <a:cs typeface="Liter" pitchFamily="34" charset="-120"/>
              </a:rPr>
              <a:t>, prioritizing immediate resupply of life-saving drugs and clinical tools where the gap between population and service exceeds the state average.</a:t>
            </a:r>
            <a:endParaRPr lang="en-US" sz="1400" dirty="0"/>
          </a:p>
        </p:txBody>
      </p:sp>
      <p:pic>
        <p:nvPicPr>
          <p:cNvPr id="15" name="Picture 14">
            <a:extLst>
              <a:ext uri="{FF2B5EF4-FFF2-40B4-BE49-F238E27FC236}">
                <a16:creationId xmlns:a16="http://schemas.microsoft.com/office/drawing/2014/main" id="{B8BD045A-4052-5303-3201-AB492D923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7128" y="906379"/>
            <a:ext cx="5394871" cy="5686926"/>
          </a:xfrm>
          <a:prstGeom prst="rect">
            <a:avLst/>
          </a:prstGeom>
        </p:spPr>
      </p:pic>
    </p:spTree>
    <p:extLst>
      <p:ext uri="{BB962C8B-B14F-4D97-AF65-F5344CB8AC3E}">
        <p14:creationId xmlns:p14="http://schemas.microsoft.com/office/powerpoint/2010/main" val="312114728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62865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87E62"/>
          </a:solidFill>
          <a:ln/>
        </p:spPr>
      </p:sp>
      <p:sp>
        <p:nvSpPr>
          <p:cNvPr id="4" name="Text 2"/>
          <p:cNvSpPr/>
          <p:nvPr/>
        </p:nvSpPr>
        <p:spPr>
          <a:xfrm>
            <a:off x="1371599" y="609600"/>
            <a:ext cx="3649579" cy="190500"/>
          </a:xfrm>
          <a:prstGeom prst="rect">
            <a:avLst/>
          </a:prstGeom>
          <a:noFill/>
          <a:ln/>
        </p:spPr>
        <p:txBody>
          <a:bodyPr wrap="square" lIns="0" tIns="0" rIns="0" bIns="0" rtlCol="0" anchor="ctr"/>
          <a:lstStyle/>
          <a:p>
            <a:pPr>
              <a:lnSpc>
                <a:spcPct val="110000"/>
              </a:lnSpc>
            </a:pPr>
            <a:r>
              <a:rPr lang="en-US" sz="2000" b="1" dirty="0">
                <a:solidFill>
                  <a:srgbClr val="2A4D53"/>
                </a:solidFill>
                <a:latin typeface="Liter" pitchFamily="34" charset="0"/>
                <a:ea typeface="Liter" pitchFamily="34" charset="-122"/>
                <a:cs typeface="Liter" pitchFamily="34" charset="-120"/>
              </a:rPr>
              <a:t>Reproductive Health Gaps</a:t>
            </a:r>
            <a:endParaRPr lang="en-US" sz="2000" dirty="0"/>
          </a:p>
        </p:txBody>
      </p:sp>
      <p:sp>
        <p:nvSpPr>
          <p:cNvPr id="5" name="Shape 3"/>
          <p:cNvSpPr/>
          <p:nvPr/>
        </p:nvSpPr>
        <p:spPr>
          <a:xfrm>
            <a:off x="131846" y="1295400"/>
            <a:ext cx="6743700" cy="1123950"/>
          </a:xfrm>
          <a:custGeom>
            <a:avLst/>
            <a:gdLst/>
            <a:ahLst/>
            <a:cxnLst/>
            <a:rect l="l" t="t" r="r" b="b"/>
            <a:pathLst>
              <a:path w="6743700" h="1123950">
                <a:moveTo>
                  <a:pt x="38100" y="0"/>
                </a:moveTo>
                <a:lnTo>
                  <a:pt x="6667496" y="0"/>
                </a:lnTo>
                <a:cubicBezTo>
                  <a:pt x="6709582" y="0"/>
                  <a:pt x="6743700" y="34118"/>
                  <a:pt x="6743700" y="76204"/>
                </a:cubicBezTo>
                <a:lnTo>
                  <a:pt x="6743700" y="1047746"/>
                </a:lnTo>
                <a:cubicBezTo>
                  <a:pt x="6743700" y="1089832"/>
                  <a:pt x="6709582" y="1123950"/>
                  <a:pt x="6667496" y="1123950"/>
                </a:cubicBezTo>
                <a:lnTo>
                  <a:pt x="38100" y="1123950"/>
                </a:lnTo>
                <a:cubicBezTo>
                  <a:pt x="17072" y="1123950"/>
                  <a:pt x="0" y="1106878"/>
                  <a:pt x="0" y="1085850"/>
                </a:cubicBezTo>
                <a:lnTo>
                  <a:pt x="0" y="38100"/>
                </a:lnTo>
                <a:cubicBezTo>
                  <a:pt x="0" y="17072"/>
                  <a:pt x="17072" y="0"/>
                  <a:pt x="38100" y="0"/>
                </a:cubicBezTo>
                <a:close/>
              </a:path>
            </a:pathLst>
          </a:custGeom>
          <a:solidFill>
            <a:srgbClr val="FEF2F2"/>
          </a:solidFill>
          <a:ln/>
        </p:spPr>
      </p:sp>
      <p:sp>
        <p:nvSpPr>
          <p:cNvPr id="6" name="Shape 4"/>
          <p:cNvSpPr/>
          <p:nvPr/>
        </p:nvSpPr>
        <p:spPr>
          <a:xfrm>
            <a:off x="131846" y="1295400"/>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FB2C36"/>
          </a:solidFill>
          <a:ln/>
        </p:spPr>
      </p:sp>
      <p:sp>
        <p:nvSpPr>
          <p:cNvPr id="7" name="Text 5"/>
          <p:cNvSpPr/>
          <p:nvPr/>
        </p:nvSpPr>
        <p:spPr>
          <a:xfrm>
            <a:off x="341396" y="1485900"/>
            <a:ext cx="6419850" cy="742950"/>
          </a:xfrm>
          <a:prstGeom prst="rect">
            <a:avLst/>
          </a:prstGeom>
          <a:noFill/>
          <a:ln/>
        </p:spPr>
        <p:txBody>
          <a:bodyPr wrap="square" lIns="0" tIns="0" rIns="0" bIns="0" rtlCol="0" anchor="ctr"/>
          <a:lstStyle/>
          <a:p>
            <a:pPr algn="just">
              <a:lnSpc>
                <a:spcPct val="140000"/>
              </a:lnSpc>
            </a:pPr>
            <a:r>
              <a:rPr lang="en-US" sz="1600" dirty="0">
                <a:solidFill>
                  <a:srgbClr val="2A4D53"/>
                </a:solidFill>
                <a:latin typeface="Liter" pitchFamily="34" charset="0"/>
                <a:ea typeface="Liter" pitchFamily="34" charset="-122"/>
                <a:cs typeface="Liter" pitchFamily="34" charset="-120"/>
              </a:rPr>
              <a:t>Reproductive health gaps are most severe in </a:t>
            </a:r>
            <a:r>
              <a:rPr lang="en-US" sz="1600" b="1" dirty="0">
                <a:solidFill>
                  <a:srgbClr val="2A4D53"/>
                </a:solidFill>
                <a:latin typeface="Liter" pitchFamily="34" charset="0"/>
                <a:ea typeface="Liter" pitchFamily="34" charset="-122"/>
                <a:cs typeface="Liter" pitchFamily="34" charset="-120"/>
              </a:rPr>
              <a:t>high-density urban hubs</a:t>
            </a:r>
            <a:r>
              <a:rPr lang="en-US" sz="1600" dirty="0">
                <a:solidFill>
                  <a:srgbClr val="2A4D53"/>
                </a:solidFill>
                <a:latin typeface="Liter" pitchFamily="34" charset="0"/>
                <a:ea typeface="Liter" pitchFamily="34" charset="-122"/>
                <a:cs typeface="Liter" pitchFamily="34" charset="-120"/>
              </a:rPr>
              <a:t> like Badarawa and Hayin Banki, where the </a:t>
            </a:r>
            <a:r>
              <a:rPr lang="en-US" sz="1600" b="1" dirty="0">
                <a:solidFill>
                  <a:srgbClr val="2A4D53"/>
                </a:solidFill>
                <a:latin typeface="Liter" pitchFamily="34" charset="0"/>
                <a:ea typeface="Liter" pitchFamily="34" charset="-122"/>
                <a:cs typeface="Liter" pitchFamily="34" charset="-120"/>
              </a:rPr>
              <a:t>'Method Mix'</a:t>
            </a:r>
            <a:r>
              <a:rPr lang="en-US" sz="1600" dirty="0">
                <a:solidFill>
                  <a:srgbClr val="2A4D53"/>
                </a:solidFill>
                <a:latin typeface="Liter" pitchFamily="34" charset="0"/>
                <a:ea typeface="Liter" pitchFamily="34" charset="-122"/>
                <a:cs typeface="Liter" pitchFamily="34" charset="-120"/>
              </a:rPr>
              <a:t> fails to scale with the massive population of women of reproductive age.</a:t>
            </a:r>
            <a:endParaRPr lang="en-US" sz="1600" dirty="0"/>
          </a:p>
        </p:txBody>
      </p:sp>
      <p:sp>
        <p:nvSpPr>
          <p:cNvPr id="8" name="Shape 6"/>
          <p:cNvSpPr/>
          <p:nvPr/>
        </p:nvSpPr>
        <p:spPr>
          <a:xfrm>
            <a:off x="131846" y="2609850"/>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C87E62"/>
          </a:solidFill>
          <a:ln/>
        </p:spPr>
      </p:sp>
      <p:sp>
        <p:nvSpPr>
          <p:cNvPr id="9" name="Text 7"/>
          <p:cNvSpPr/>
          <p:nvPr/>
        </p:nvSpPr>
        <p:spPr>
          <a:xfrm>
            <a:off x="341396" y="2800350"/>
            <a:ext cx="6419850" cy="495300"/>
          </a:xfrm>
          <a:prstGeom prst="rect">
            <a:avLst/>
          </a:prstGeom>
          <a:noFill/>
          <a:ln/>
        </p:spPr>
        <p:txBody>
          <a:bodyPr wrap="square" lIns="0" tIns="0" rIns="0" bIns="0" rtlCol="0" anchor="ctr"/>
          <a:lstStyle/>
          <a:p>
            <a:pPr algn="just">
              <a:lnSpc>
                <a:spcPct val="140000"/>
              </a:lnSpc>
            </a:pPr>
            <a:r>
              <a:rPr lang="en-US" sz="1600" dirty="0">
                <a:solidFill>
                  <a:srgbClr val="2A4D53"/>
                </a:solidFill>
                <a:latin typeface="Liter" pitchFamily="34" charset="0"/>
                <a:ea typeface="Liter" pitchFamily="34" charset="-122"/>
                <a:cs typeface="Liter" pitchFamily="34" charset="-120"/>
              </a:rPr>
              <a:t>We identified a significant </a:t>
            </a:r>
            <a:r>
              <a:rPr lang="en-US" sz="1600" b="1" dirty="0">
                <a:solidFill>
                  <a:srgbClr val="C87E62"/>
                </a:solidFill>
                <a:latin typeface="Liter" pitchFamily="34" charset="0"/>
                <a:ea typeface="Liter" pitchFamily="34" charset="-122"/>
                <a:cs typeface="Liter" pitchFamily="34" charset="-120"/>
              </a:rPr>
              <a:t>'Choice Desert'</a:t>
            </a:r>
            <a:r>
              <a:rPr lang="en-US" sz="1600" dirty="0">
                <a:solidFill>
                  <a:srgbClr val="2A4D53"/>
                </a:solidFill>
                <a:latin typeface="Liter" pitchFamily="34" charset="0"/>
                <a:ea typeface="Liter" pitchFamily="34" charset="-122"/>
                <a:cs typeface="Liter" pitchFamily="34" charset="-120"/>
              </a:rPr>
              <a:t> in Badarawa, where a population of over </a:t>
            </a:r>
            <a:r>
              <a:rPr lang="en-US" sz="1600" b="1" dirty="0">
                <a:solidFill>
                  <a:srgbClr val="2A4D53"/>
                </a:solidFill>
                <a:latin typeface="Liter" pitchFamily="34" charset="0"/>
                <a:ea typeface="Liter" pitchFamily="34" charset="-122"/>
                <a:cs typeface="Liter" pitchFamily="34" charset="-120"/>
              </a:rPr>
              <a:t>40,000 women</a:t>
            </a:r>
            <a:r>
              <a:rPr lang="en-US" sz="1600" dirty="0">
                <a:solidFill>
                  <a:srgbClr val="2A4D53"/>
                </a:solidFill>
                <a:latin typeface="Liter" pitchFamily="34" charset="0"/>
                <a:ea typeface="Liter" pitchFamily="34" charset="-122"/>
                <a:cs typeface="Liter" pitchFamily="34" charset="-120"/>
              </a:rPr>
              <a:t> is being underserved relative to their needs.</a:t>
            </a:r>
            <a:endParaRPr lang="en-US" sz="1600" dirty="0"/>
          </a:p>
        </p:txBody>
      </p:sp>
      <p:sp>
        <p:nvSpPr>
          <p:cNvPr id="10" name="Shape 8"/>
          <p:cNvSpPr/>
          <p:nvPr/>
        </p:nvSpPr>
        <p:spPr>
          <a:xfrm>
            <a:off x="131846" y="3676650"/>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2A4D53"/>
          </a:solidFill>
          <a:ln/>
        </p:spPr>
      </p:sp>
      <p:sp>
        <p:nvSpPr>
          <p:cNvPr id="11" name="Text 9"/>
          <p:cNvSpPr/>
          <p:nvPr/>
        </p:nvSpPr>
        <p:spPr>
          <a:xfrm>
            <a:off x="341396" y="3867150"/>
            <a:ext cx="6419850" cy="495300"/>
          </a:xfrm>
          <a:prstGeom prst="rect">
            <a:avLst/>
          </a:prstGeom>
          <a:noFill/>
          <a:ln/>
        </p:spPr>
        <p:txBody>
          <a:bodyPr wrap="square" lIns="0" tIns="0" rIns="0" bIns="0" rtlCol="0" anchor="ctr"/>
          <a:lstStyle/>
          <a:p>
            <a:pPr algn="just">
              <a:lnSpc>
                <a:spcPct val="140000"/>
              </a:lnSpc>
            </a:pPr>
            <a:r>
              <a:rPr lang="en-US" sz="1500" dirty="0">
                <a:solidFill>
                  <a:srgbClr val="2A4D53"/>
                </a:solidFill>
                <a:latin typeface="Liter" pitchFamily="34" charset="0"/>
                <a:ea typeface="Liter" pitchFamily="34" charset="-122"/>
                <a:cs typeface="Liter" pitchFamily="34" charset="-120"/>
              </a:rPr>
              <a:t>Furthermore, consistently high gap scores in Zangon Kataf wards like Zonkwa and Ungwan Gaiya indicate that </a:t>
            </a:r>
            <a:r>
              <a:rPr lang="en-US" sz="1500" b="1" dirty="0">
                <a:solidFill>
                  <a:srgbClr val="2A4D53"/>
                </a:solidFill>
                <a:latin typeface="Liter" pitchFamily="34" charset="0"/>
                <a:ea typeface="Liter" pitchFamily="34" charset="-122"/>
                <a:cs typeface="Liter" pitchFamily="34" charset="-120"/>
              </a:rPr>
              <a:t>rural women are systematically restricted</a:t>
            </a:r>
            <a:r>
              <a:rPr lang="en-US" sz="1500" dirty="0">
                <a:solidFill>
                  <a:srgbClr val="2A4D53"/>
                </a:solidFill>
                <a:latin typeface="Liter" pitchFamily="34" charset="0"/>
                <a:ea typeface="Liter" pitchFamily="34" charset="-122"/>
                <a:cs typeface="Liter" pitchFamily="34" charset="-120"/>
              </a:rPr>
              <a:t> in contraceptive choice.</a:t>
            </a:r>
            <a:endParaRPr lang="en-US" sz="1500" dirty="0"/>
          </a:p>
        </p:txBody>
      </p:sp>
      <p:sp>
        <p:nvSpPr>
          <p:cNvPr id="12" name="Shape 10"/>
          <p:cNvSpPr/>
          <p:nvPr/>
        </p:nvSpPr>
        <p:spPr>
          <a:xfrm>
            <a:off x="112796" y="4743450"/>
            <a:ext cx="6762750" cy="1123950"/>
          </a:xfrm>
          <a:custGeom>
            <a:avLst/>
            <a:gdLst/>
            <a:ahLst/>
            <a:cxnLst/>
            <a:rect l="l" t="t" r="r" b="b"/>
            <a:pathLst>
              <a:path w="6762750" h="1123950">
                <a:moveTo>
                  <a:pt x="76204" y="0"/>
                </a:moveTo>
                <a:lnTo>
                  <a:pt x="6686546" y="0"/>
                </a:lnTo>
                <a:cubicBezTo>
                  <a:pt x="6728632" y="0"/>
                  <a:pt x="6762750" y="34118"/>
                  <a:pt x="6762750" y="76204"/>
                </a:cubicBezTo>
                <a:lnTo>
                  <a:pt x="6762750" y="1047746"/>
                </a:lnTo>
                <a:cubicBezTo>
                  <a:pt x="6762750" y="1089832"/>
                  <a:pt x="6728632" y="1123950"/>
                  <a:pt x="6686546" y="1123950"/>
                </a:cubicBezTo>
                <a:lnTo>
                  <a:pt x="76204" y="1123950"/>
                </a:lnTo>
                <a:cubicBezTo>
                  <a:pt x="34118" y="1123950"/>
                  <a:pt x="0" y="1089832"/>
                  <a:pt x="0" y="1047746"/>
                </a:cubicBezTo>
                <a:lnTo>
                  <a:pt x="0" y="76204"/>
                </a:lnTo>
                <a:cubicBezTo>
                  <a:pt x="0" y="34146"/>
                  <a:pt x="34146" y="0"/>
                  <a:pt x="76204" y="0"/>
                </a:cubicBezTo>
                <a:close/>
              </a:path>
            </a:pathLst>
          </a:custGeom>
          <a:solidFill>
            <a:srgbClr val="F3F4F6"/>
          </a:solidFill>
          <a:ln/>
        </p:spPr>
      </p:sp>
      <p:sp>
        <p:nvSpPr>
          <p:cNvPr id="13" name="Shape 11"/>
          <p:cNvSpPr/>
          <p:nvPr/>
        </p:nvSpPr>
        <p:spPr>
          <a:xfrm>
            <a:off x="227096" y="493395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C87E62"/>
          </a:solidFill>
          <a:ln/>
        </p:spPr>
      </p:sp>
      <p:sp>
        <p:nvSpPr>
          <p:cNvPr id="14" name="Text 12"/>
          <p:cNvSpPr/>
          <p:nvPr/>
        </p:nvSpPr>
        <p:spPr>
          <a:xfrm>
            <a:off x="550946" y="4933950"/>
            <a:ext cx="6210300" cy="742950"/>
          </a:xfrm>
          <a:prstGeom prst="rect">
            <a:avLst/>
          </a:prstGeom>
          <a:noFill/>
          <a:ln/>
        </p:spPr>
        <p:txBody>
          <a:bodyPr wrap="square" lIns="0" tIns="0" rIns="0" bIns="0" rtlCol="0" anchor="ctr"/>
          <a:lstStyle/>
          <a:p>
            <a:pPr algn="just">
              <a:lnSpc>
                <a:spcPct val="140000"/>
              </a:lnSpc>
            </a:pPr>
            <a:r>
              <a:rPr lang="en-US" sz="1500" dirty="0">
                <a:solidFill>
                  <a:srgbClr val="2A4D53"/>
                </a:solidFill>
                <a:latin typeface="Liter" pitchFamily="34" charset="0"/>
                <a:ea typeface="Liter" pitchFamily="34" charset="-122"/>
                <a:cs typeface="Liter" pitchFamily="34" charset="-120"/>
              </a:rPr>
              <a:t>The strategic priority should be </a:t>
            </a:r>
            <a:r>
              <a:rPr lang="en-US" sz="1500" b="1" dirty="0">
                <a:solidFill>
                  <a:srgbClr val="2A4D53"/>
                </a:solidFill>
                <a:latin typeface="Liter" pitchFamily="34" charset="0"/>
                <a:ea typeface="Liter" pitchFamily="34" charset="-122"/>
                <a:cs typeface="Liter" pitchFamily="34" charset="-120"/>
              </a:rPr>
              <a:t>diversifying the methods</a:t>
            </a:r>
            <a:r>
              <a:rPr lang="en-US" sz="1500" dirty="0">
                <a:solidFill>
                  <a:srgbClr val="2A4D53"/>
                </a:solidFill>
                <a:latin typeface="Liter" pitchFamily="34" charset="0"/>
                <a:ea typeface="Liter" pitchFamily="34" charset="-122"/>
                <a:cs typeface="Liter" pitchFamily="34" charset="-120"/>
              </a:rPr>
              <a:t> available at these high-pressure facilities to ensure that population density does not dictate a woman's access to modern family planning options.</a:t>
            </a:r>
            <a:endParaRPr lang="en-US" sz="1500" dirty="0"/>
          </a:p>
        </p:txBody>
      </p:sp>
      <p:pic>
        <p:nvPicPr>
          <p:cNvPr id="17" name="Picture 16">
            <a:extLst>
              <a:ext uri="{FF2B5EF4-FFF2-40B4-BE49-F238E27FC236}">
                <a16:creationId xmlns:a16="http://schemas.microsoft.com/office/drawing/2014/main" id="{980B6BE3-D5F7-17A3-F8CC-D06ED62A7C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5545" y="192505"/>
            <a:ext cx="5428749" cy="6497053"/>
          </a:xfrm>
          <a:prstGeom prst="rect">
            <a:avLst/>
          </a:prstGeom>
        </p:spPr>
      </p:pic>
    </p:spTree>
    <p:extLst>
      <p:ext uri="{BB962C8B-B14F-4D97-AF65-F5344CB8AC3E}">
        <p14:creationId xmlns:p14="http://schemas.microsoft.com/office/powerpoint/2010/main" val="712053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17500" y="571500"/>
            <a:ext cx="508000" cy="31750"/>
          </a:xfrm>
          <a:custGeom>
            <a:avLst/>
            <a:gdLst/>
            <a:ahLst/>
            <a:cxnLst/>
            <a:rect l="l" t="t" r="r" b="b"/>
            <a:pathLst>
              <a:path w="508000" h="31750">
                <a:moveTo>
                  <a:pt x="0" y="0"/>
                </a:moveTo>
                <a:lnTo>
                  <a:pt x="508000" y="0"/>
                </a:lnTo>
                <a:lnTo>
                  <a:pt x="508000" y="31750"/>
                </a:lnTo>
                <a:lnTo>
                  <a:pt x="0" y="31750"/>
                </a:lnTo>
                <a:lnTo>
                  <a:pt x="0" y="0"/>
                </a:lnTo>
                <a:close/>
              </a:path>
            </a:pathLst>
          </a:custGeom>
          <a:solidFill>
            <a:srgbClr val="C87E62"/>
          </a:solidFill>
          <a:ln/>
        </p:spPr>
      </p:sp>
      <p:sp>
        <p:nvSpPr>
          <p:cNvPr id="3" name="Text 1"/>
          <p:cNvSpPr/>
          <p:nvPr/>
        </p:nvSpPr>
        <p:spPr>
          <a:xfrm>
            <a:off x="922735" y="148297"/>
            <a:ext cx="7389812" cy="190500"/>
          </a:xfrm>
          <a:prstGeom prst="rect">
            <a:avLst/>
          </a:prstGeom>
          <a:noFill/>
          <a:ln/>
        </p:spPr>
        <p:txBody>
          <a:bodyPr wrap="square" lIns="0" tIns="0" rIns="0" bIns="0" rtlCol="0" anchor="ctr"/>
          <a:lstStyle/>
          <a:p>
            <a:pPr>
              <a:lnSpc>
                <a:spcPct val="130000"/>
              </a:lnSpc>
            </a:pPr>
            <a:r>
              <a:rPr lang="en-US" b="1" kern="0" spc="100" dirty="0">
                <a:solidFill>
                  <a:srgbClr val="A9A299"/>
                </a:solidFill>
                <a:latin typeface="Liter" pitchFamily="34" charset="0"/>
                <a:ea typeface="Liter" pitchFamily="34" charset="-122"/>
                <a:cs typeface="Liter" pitchFamily="34" charset="-120"/>
              </a:rPr>
              <a:t>Question 4</a:t>
            </a:r>
            <a:endParaRPr lang="en-US" b="1" dirty="0"/>
          </a:p>
        </p:txBody>
      </p:sp>
      <p:sp>
        <p:nvSpPr>
          <p:cNvPr id="4" name="Text 2"/>
          <p:cNvSpPr/>
          <p:nvPr/>
        </p:nvSpPr>
        <p:spPr>
          <a:xfrm>
            <a:off x="952500" y="539750"/>
            <a:ext cx="8472854" cy="232172"/>
          </a:xfrm>
          <a:prstGeom prst="rect">
            <a:avLst/>
          </a:prstGeom>
          <a:noFill/>
          <a:ln/>
        </p:spPr>
        <p:txBody>
          <a:bodyPr wrap="square" lIns="0" tIns="0" rIns="0" bIns="0" rtlCol="0" anchor="ctr"/>
          <a:lstStyle/>
          <a:p>
            <a:pPr>
              <a:lnSpc>
                <a:spcPct val="90000"/>
              </a:lnSpc>
            </a:pPr>
            <a:r>
              <a:rPr lang="en-US" sz="2250" b="1" dirty="0">
                <a:solidFill>
                  <a:srgbClr val="2A4D53"/>
                </a:solidFill>
                <a:latin typeface="Liter" pitchFamily="34" charset="0"/>
                <a:ea typeface="Liter" pitchFamily="34" charset="-122"/>
                <a:cs typeface="Liter" pitchFamily="34" charset="-120"/>
              </a:rPr>
              <a:t>How Do HTR and Security Risks Affect Service Readiness?</a:t>
            </a:r>
            <a:endParaRPr lang="en-US" sz="1600" dirty="0"/>
          </a:p>
        </p:txBody>
      </p:sp>
      <p:sp>
        <p:nvSpPr>
          <p:cNvPr id="5" name="Shape 3"/>
          <p:cNvSpPr/>
          <p:nvPr/>
        </p:nvSpPr>
        <p:spPr>
          <a:xfrm>
            <a:off x="317500" y="1047750"/>
            <a:ext cx="4397375" cy="1976438"/>
          </a:xfrm>
          <a:custGeom>
            <a:avLst/>
            <a:gdLst/>
            <a:ahLst/>
            <a:cxnLst/>
            <a:rect l="l" t="t" r="r" b="b"/>
            <a:pathLst>
              <a:path w="4397375" h="1976438">
                <a:moveTo>
                  <a:pt x="0" y="0"/>
                </a:moveTo>
                <a:lnTo>
                  <a:pt x="4397375" y="0"/>
                </a:lnTo>
                <a:lnTo>
                  <a:pt x="4397375" y="1976438"/>
                </a:lnTo>
                <a:lnTo>
                  <a:pt x="0" y="1976438"/>
                </a:lnTo>
                <a:lnTo>
                  <a:pt x="0" y="0"/>
                </a:lnTo>
                <a:close/>
              </a:path>
            </a:pathLst>
          </a:custGeom>
          <a:solidFill>
            <a:srgbClr val="C87E62"/>
          </a:solidFill>
          <a:ln/>
        </p:spPr>
      </p:sp>
      <p:sp>
        <p:nvSpPr>
          <p:cNvPr id="6" name="Shape 4"/>
          <p:cNvSpPr/>
          <p:nvPr/>
        </p:nvSpPr>
        <p:spPr>
          <a:xfrm>
            <a:off x="539750" y="1246188"/>
            <a:ext cx="238125" cy="238125"/>
          </a:xfrm>
          <a:custGeom>
            <a:avLst/>
            <a:gdLst/>
            <a:ahLst/>
            <a:cxnLst/>
            <a:rect l="l" t="t" r="r" b="b"/>
            <a:pathLst>
              <a:path w="238125" h="238125">
                <a:moveTo>
                  <a:pt x="119062" y="0"/>
                </a:moveTo>
                <a:cubicBezTo>
                  <a:pt x="125899" y="0"/>
                  <a:pt x="132178" y="3767"/>
                  <a:pt x="135434" y="9767"/>
                </a:cubicBezTo>
                <a:lnTo>
                  <a:pt x="235893" y="195802"/>
                </a:lnTo>
                <a:cubicBezTo>
                  <a:pt x="239009" y="201569"/>
                  <a:pt x="238869" y="208545"/>
                  <a:pt x="235521" y="214173"/>
                </a:cubicBezTo>
                <a:cubicBezTo>
                  <a:pt x="232172" y="219801"/>
                  <a:pt x="226079" y="223242"/>
                  <a:pt x="219521" y="223242"/>
                </a:cubicBezTo>
                <a:lnTo>
                  <a:pt x="18604" y="223242"/>
                </a:lnTo>
                <a:cubicBezTo>
                  <a:pt x="12046" y="223242"/>
                  <a:pt x="6000" y="219801"/>
                  <a:pt x="2604" y="214173"/>
                </a:cubicBezTo>
                <a:cubicBezTo>
                  <a:pt x="-791" y="208545"/>
                  <a:pt x="-884" y="201569"/>
                  <a:pt x="2232" y="195802"/>
                </a:cubicBezTo>
                <a:lnTo>
                  <a:pt x="102691" y="9767"/>
                </a:lnTo>
                <a:cubicBezTo>
                  <a:pt x="105947" y="3767"/>
                  <a:pt x="112226" y="0"/>
                  <a:pt x="119062" y="0"/>
                </a:cubicBezTo>
                <a:close/>
                <a:moveTo>
                  <a:pt x="119062" y="78135"/>
                </a:moveTo>
                <a:cubicBezTo>
                  <a:pt x="112877" y="78135"/>
                  <a:pt x="107900" y="83111"/>
                  <a:pt x="107900" y="89297"/>
                </a:cubicBezTo>
                <a:lnTo>
                  <a:pt x="107900" y="141387"/>
                </a:lnTo>
                <a:cubicBezTo>
                  <a:pt x="107900" y="147572"/>
                  <a:pt x="112877" y="152549"/>
                  <a:pt x="119062" y="152549"/>
                </a:cubicBezTo>
                <a:cubicBezTo>
                  <a:pt x="125248" y="152549"/>
                  <a:pt x="130225" y="147572"/>
                  <a:pt x="130225" y="141387"/>
                </a:cubicBezTo>
                <a:lnTo>
                  <a:pt x="130225" y="89297"/>
                </a:lnTo>
                <a:cubicBezTo>
                  <a:pt x="130225" y="83111"/>
                  <a:pt x="125248" y="78135"/>
                  <a:pt x="119062" y="78135"/>
                </a:cubicBezTo>
                <a:close/>
                <a:moveTo>
                  <a:pt x="131480" y="178594"/>
                </a:moveTo>
                <a:cubicBezTo>
                  <a:pt x="131763" y="173984"/>
                  <a:pt x="129464" y="169599"/>
                  <a:pt x="125513" y="167209"/>
                </a:cubicBezTo>
                <a:cubicBezTo>
                  <a:pt x="121561" y="164819"/>
                  <a:pt x="116610" y="164819"/>
                  <a:pt x="112659" y="167209"/>
                </a:cubicBezTo>
                <a:cubicBezTo>
                  <a:pt x="108707" y="169599"/>
                  <a:pt x="106409" y="173984"/>
                  <a:pt x="106691" y="178594"/>
                </a:cubicBezTo>
                <a:cubicBezTo>
                  <a:pt x="106409" y="183203"/>
                  <a:pt x="108707" y="187589"/>
                  <a:pt x="112659" y="189979"/>
                </a:cubicBezTo>
                <a:cubicBezTo>
                  <a:pt x="116610" y="192369"/>
                  <a:pt x="121561" y="192369"/>
                  <a:pt x="125513" y="189979"/>
                </a:cubicBezTo>
                <a:cubicBezTo>
                  <a:pt x="129464" y="187589"/>
                  <a:pt x="131763" y="183203"/>
                  <a:pt x="131480" y="178594"/>
                </a:cubicBezTo>
                <a:close/>
              </a:path>
            </a:pathLst>
          </a:custGeom>
          <a:solidFill>
            <a:srgbClr val="F8F7F5"/>
          </a:solidFill>
          <a:ln/>
        </p:spPr>
      </p:sp>
      <p:sp>
        <p:nvSpPr>
          <p:cNvPr id="7" name="Text 5"/>
          <p:cNvSpPr/>
          <p:nvPr/>
        </p:nvSpPr>
        <p:spPr>
          <a:xfrm>
            <a:off x="900906" y="1238250"/>
            <a:ext cx="1814159" cy="285750"/>
          </a:xfrm>
          <a:prstGeom prst="rect">
            <a:avLst/>
          </a:prstGeom>
          <a:noFill/>
          <a:ln/>
        </p:spPr>
        <p:txBody>
          <a:bodyPr wrap="square" lIns="0" tIns="0" rIns="0" bIns="0" rtlCol="0" anchor="ctr"/>
          <a:lstStyle/>
          <a:p>
            <a:pPr>
              <a:lnSpc>
                <a:spcPct val="110000"/>
              </a:lnSpc>
            </a:pPr>
            <a:r>
              <a:rPr lang="en-US" b="1" dirty="0">
                <a:solidFill>
                  <a:srgbClr val="F8F7F5"/>
                </a:solidFill>
                <a:latin typeface="Liter" pitchFamily="34" charset="0"/>
                <a:ea typeface="Liter" pitchFamily="34" charset="-122"/>
                <a:cs typeface="Liter" pitchFamily="34" charset="-120"/>
              </a:rPr>
              <a:t>The Challenge</a:t>
            </a:r>
            <a:endParaRPr lang="en-US" dirty="0"/>
          </a:p>
        </p:txBody>
      </p:sp>
      <p:sp>
        <p:nvSpPr>
          <p:cNvPr id="8" name="Text 6"/>
          <p:cNvSpPr/>
          <p:nvPr/>
        </p:nvSpPr>
        <p:spPr>
          <a:xfrm>
            <a:off x="508000" y="1619250"/>
            <a:ext cx="4087812" cy="230188"/>
          </a:xfrm>
          <a:prstGeom prst="rect">
            <a:avLst/>
          </a:prstGeom>
          <a:noFill/>
          <a:ln/>
        </p:spPr>
        <p:txBody>
          <a:bodyPr wrap="square" lIns="0" tIns="0" rIns="0" bIns="0" rtlCol="0" anchor="ctr"/>
          <a:lstStyle/>
          <a:p>
            <a:pPr>
              <a:lnSpc>
                <a:spcPct val="140000"/>
              </a:lnSpc>
            </a:pPr>
            <a:r>
              <a:rPr lang="en-US" sz="1400" dirty="0">
                <a:solidFill>
                  <a:srgbClr val="F8F7F5"/>
                </a:solidFill>
                <a:latin typeface="Quattrocento Sans" pitchFamily="34" charset="0"/>
                <a:ea typeface="Quattrocento Sans" pitchFamily="34" charset="-122"/>
                <a:cs typeface="Quattrocento Sans" pitchFamily="34" charset="-120"/>
              </a:rPr>
              <a:t>Hard-to-Reach and insecure areas often receive:</a:t>
            </a:r>
            <a:endParaRPr lang="en-US" sz="1400" dirty="0"/>
          </a:p>
        </p:txBody>
      </p:sp>
      <p:sp>
        <p:nvSpPr>
          <p:cNvPr id="9" name="Shape 7"/>
          <p:cNvSpPr/>
          <p:nvPr/>
        </p:nvSpPr>
        <p:spPr>
          <a:xfrm>
            <a:off x="537766" y="2010172"/>
            <a:ext cx="138906" cy="158750"/>
          </a:xfrm>
          <a:custGeom>
            <a:avLst/>
            <a:gdLst/>
            <a:ahLst/>
            <a:cxnLst/>
            <a:rect l="l" t="t" r="r" b="b"/>
            <a:pathLst>
              <a:path w="138906" h="158750">
                <a:moveTo>
                  <a:pt x="69453" y="2480"/>
                </a:moveTo>
                <a:cubicBezTo>
                  <a:pt x="48918" y="2480"/>
                  <a:pt x="32246" y="19152"/>
                  <a:pt x="32246" y="39688"/>
                </a:cubicBezTo>
                <a:cubicBezTo>
                  <a:pt x="32246" y="60223"/>
                  <a:pt x="48918" y="76895"/>
                  <a:pt x="69453" y="76895"/>
                </a:cubicBezTo>
                <a:cubicBezTo>
                  <a:pt x="89988" y="76895"/>
                  <a:pt x="106660" y="60223"/>
                  <a:pt x="106660" y="39688"/>
                </a:cubicBezTo>
                <a:cubicBezTo>
                  <a:pt x="106660" y="19152"/>
                  <a:pt x="89988" y="2480"/>
                  <a:pt x="69453" y="2480"/>
                </a:cubicBezTo>
                <a:close/>
                <a:moveTo>
                  <a:pt x="88057" y="99467"/>
                </a:moveTo>
                <a:cubicBezTo>
                  <a:pt x="86382" y="99312"/>
                  <a:pt x="84646" y="99219"/>
                  <a:pt x="82910" y="99219"/>
                </a:cubicBezTo>
                <a:lnTo>
                  <a:pt x="55966" y="99219"/>
                </a:lnTo>
                <a:cubicBezTo>
                  <a:pt x="54229" y="99219"/>
                  <a:pt x="52524" y="99312"/>
                  <a:pt x="50819" y="99467"/>
                </a:cubicBezTo>
                <a:lnTo>
                  <a:pt x="50819" y="120396"/>
                </a:lnTo>
                <a:cubicBezTo>
                  <a:pt x="55935" y="122752"/>
                  <a:pt x="59500" y="127930"/>
                  <a:pt x="59500" y="133914"/>
                </a:cubicBezTo>
                <a:cubicBezTo>
                  <a:pt x="59500" y="142131"/>
                  <a:pt x="52834" y="148797"/>
                  <a:pt x="44617" y="148797"/>
                </a:cubicBezTo>
                <a:cubicBezTo>
                  <a:pt x="36401" y="148797"/>
                  <a:pt x="29735" y="142131"/>
                  <a:pt x="29735" y="133914"/>
                </a:cubicBezTo>
                <a:cubicBezTo>
                  <a:pt x="29735" y="127899"/>
                  <a:pt x="33300" y="122721"/>
                  <a:pt x="38416" y="120396"/>
                </a:cubicBezTo>
                <a:lnTo>
                  <a:pt x="38416" y="102288"/>
                </a:lnTo>
                <a:cubicBezTo>
                  <a:pt x="18914" y="109451"/>
                  <a:pt x="4961" y="128240"/>
                  <a:pt x="4961" y="150254"/>
                </a:cubicBezTo>
                <a:cubicBezTo>
                  <a:pt x="4961" y="154936"/>
                  <a:pt x="8775" y="158750"/>
                  <a:pt x="13457" y="158750"/>
                </a:cubicBezTo>
                <a:lnTo>
                  <a:pt x="125419" y="158750"/>
                </a:lnTo>
                <a:cubicBezTo>
                  <a:pt x="130101" y="158750"/>
                  <a:pt x="133914" y="154936"/>
                  <a:pt x="133914" y="150254"/>
                </a:cubicBezTo>
                <a:cubicBezTo>
                  <a:pt x="133914" y="128240"/>
                  <a:pt x="119962" y="109482"/>
                  <a:pt x="100428" y="102319"/>
                </a:cubicBezTo>
                <a:lnTo>
                  <a:pt x="100428" y="113916"/>
                </a:lnTo>
                <a:cubicBezTo>
                  <a:pt x="107652" y="116458"/>
                  <a:pt x="112830" y="123372"/>
                  <a:pt x="112830" y="131465"/>
                </a:cubicBezTo>
                <a:lnTo>
                  <a:pt x="112830" y="141387"/>
                </a:lnTo>
                <a:cubicBezTo>
                  <a:pt x="112830" y="144797"/>
                  <a:pt x="110040" y="147588"/>
                  <a:pt x="106629" y="147588"/>
                </a:cubicBezTo>
                <a:cubicBezTo>
                  <a:pt x="103219" y="147588"/>
                  <a:pt x="100428" y="144797"/>
                  <a:pt x="100428" y="141387"/>
                </a:cubicBezTo>
                <a:lnTo>
                  <a:pt x="100428" y="131465"/>
                </a:lnTo>
                <a:cubicBezTo>
                  <a:pt x="100428" y="128054"/>
                  <a:pt x="97637" y="125264"/>
                  <a:pt x="94227" y="125264"/>
                </a:cubicBezTo>
                <a:cubicBezTo>
                  <a:pt x="90816" y="125264"/>
                  <a:pt x="88026" y="128054"/>
                  <a:pt x="88026" y="131465"/>
                </a:cubicBezTo>
                <a:lnTo>
                  <a:pt x="88026" y="141387"/>
                </a:lnTo>
                <a:cubicBezTo>
                  <a:pt x="88026" y="144797"/>
                  <a:pt x="85235" y="147588"/>
                  <a:pt x="81824" y="147588"/>
                </a:cubicBezTo>
                <a:cubicBezTo>
                  <a:pt x="78414" y="147588"/>
                  <a:pt x="75623" y="144797"/>
                  <a:pt x="75623" y="141387"/>
                </a:cubicBezTo>
                <a:lnTo>
                  <a:pt x="75623" y="131465"/>
                </a:lnTo>
                <a:cubicBezTo>
                  <a:pt x="75623" y="123372"/>
                  <a:pt x="80801" y="116489"/>
                  <a:pt x="88026" y="113916"/>
                </a:cubicBezTo>
                <a:lnTo>
                  <a:pt x="88026" y="99467"/>
                </a:lnTo>
                <a:close/>
              </a:path>
            </a:pathLst>
          </a:custGeom>
          <a:solidFill>
            <a:srgbClr val="F8F7F5"/>
          </a:solidFill>
          <a:ln/>
        </p:spPr>
      </p:sp>
      <p:sp>
        <p:nvSpPr>
          <p:cNvPr id="10" name="Text 8"/>
          <p:cNvSpPr/>
          <p:nvPr/>
        </p:nvSpPr>
        <p:spPr>
          <a:xfrm>
            <a:off x="801688" y="1978422"/>
            <a:ext cx="1505414" cy="275828"/>
          </a:xfrm>
          <a:prstGeom prst="rect">
            <a:avLst/>
          </a:prstGeom>
          <a:noFill/>
          <a:ln/>
        </p:spPr>
        <p:txBody>
          <a:bodyPr wrap="square" lIns="0" tIns="0" rIns="0" bIns="0" rtlCol="0" anchor="ctr"/>
          <a:lstStyle/>
          <a:p>
            <a:pPr>
              <a:lnSpc>
                <a:spcPct val="130000"/>
              </a:lnSpc>
            </a:pPr>
            <a:r>
              <a:rPr lang="en-US" sz="1400" dirty="0">
                <a:solidFill>
                  <a:srgbClr val="F8F7F5"/>
                </a:solidFill>
                <a:latin typeface="Quattrocento Sans" pitchFamily="34" charset="0"/>
                <a:ea typeface="Quattrocento Sans" pitchFamily="34" charset="-122"/>
                <a:cs typeface="Quattrocento Sans" pitchFamily="34" charset="-120"/>
              </a:rPr>
              <a:t>Fewer staff</a:t>
            </a:r>
            <a:endParaRPr lang="en-US" sz="1400" dirty="0"/>
          </a:p>
        </p:txBody>
      </p:sp>
      <p:sp>
        <p:nvSpPr>
          <p:cNvPr id="11" name="Shape 9"/>
          <p:cNvSpPr/>
          <p:nvPr/>
        </p:nvSpPr>
        <p:spPr>
          <a:xfrm>
            <a:off x="527844" y="2327672"/>
            <a:ext cx="158750" cy="158750"/>
          </a:xfrm>
          <a:custGeom>
            <a:avLst/>
            <a:gdLst/>
            <a:ahLst/>
            <a:cxnLst/>
            <a:rect l="l" t="t" r="r" b="b"/>
            <a:pathLst>
              <a:path w="158750" h="158750">
                <a:moveTo>
                  <a:pt x="19844" y="34727"/>
                </a:moveTo>
                <a:cubicBezTo>
                  <a:pt x="19844" y="26510"/>
                  <a:pt x="26510" y="19844"/>
                  <a:pt x="34727" y="19844"/>
                </a:cubicBezTo>
                <a:cubicBezTo>
                  <a:pt x="42943" y="19844"/>
                  <a:pt x="49609" y="26510"/>
                  <a:pt x="49609" y="34727"/>
                </a:cubicBezTo>
                <a:lnTo>
                  <a:pt x="49609" y="69453"/>
                </a:lnTo>
                <a:lnTo>
                  <a:pt x="19844" y="69453"/>
                </a:lnTo>
                <a:lnTo>
                  <a:pt x="19844" y="34727"/>
                </a:lnTo>
                <a:close/>
                <a:moveTo>
                  <a:pt x="54570" y="114102"/>
                </a:moveTo>
                <a:cubicBezTo>
                  <a:pt x="54570" y="99002"/>
                  <a:pt x="60182" y="85204"/>
                  <a:pt x="69453" y="74724"/>
                </a:cubicBezTo>
                <a:lnTo>
                  <a:pt x="69453" y="34727"/>
                </a:lnTo>
                <a:cubicBezTo>
                  <a:pt x="69453" y="15534"/>
                  <a:pt x="53919" y="0"/>
                  <a:pt x="34727" y="0"/>
                </a:cubicBezTo>
                <a:cubicBezTo>
                  <a:pt x="15534" y="0"/>
                  <a:pt x="0" y="15534"/>
                  <a:pt x="0" y="34727"/>
                </a:cubicBezTo>
                <a:lnTo>
                  <a:pt x="0" y="124023"/>
                </a:lnTo>
                <a:cubicBezTo>
                  <a:pt x="0" y="143216"/>
                  <a:pt x="15534" y="158750"/>
                  <a:pt x="34727" y="158750"/>
                </a:cubicBezTo>
                <a:cubicBezTo>
                  <a:pt x="46292" y="158750"/>
                  <a:pt x="56524" y="153107"/>
                  <a:pt x="62849" y="144394"/>
                </a:cubicBezTo>
                <a:cubicBezTo>
                  <a:pt x="57578" y="135527"/>
                  <a:pt x="54570" y="125171"/>
                  <a:pt x="54570" y="114102"/>
                </a:cubicBezTo>
                <a:close/>
                <a:moveTo>
                  <a:pt x="74631" y="135000"/>
                </a:moveTo>
                <a:cubicBezTo>
                  <a:pt x="76057" y="137697"/>
                  <a:pt x="79685" y="138007"/>
                  <a:pt x="81855" y="135837"/>
                </a:cubicBezTo>
                <a:lnTo>
                  <a:pt x="135837" y="81855"/>
                </a:lnTo>
                <a:cubicBezTo>
                  <a:pt x="138007" y="79685"/>
                  <a:pt x="137697" y="76057"/>
                  <a:pt x="135000" y="74631"/>
                </a:cubicBezTo>
                <a:cubicBezTo>
                  <a:pt x="128767" y="71313"/>
                  <a:pt x="121667" y="69453"/>
                  <a:pt x="114102" y="69453"/>
                </a:cubicBezTo>
                <a:cubicBezTo>
                  <a:pt x="89452" y="69453"/>
                  <a:pt x="69453" y="89452"/>
                  <a:pt x="69453" y="114102"/>
                </a:cubicBezTo>
                <a:cubicBezTo>
                  <a:pt x="69453" y="121636"/>
                  <a:pt x="71313" y="128767"/>
                  <a:pt x="74631" y="135000"/>
                </a:cubicBezTo>
                <a:close/>
                <a:moveTo>
                  <a:pt x="92366" y="146348"/>
                </a:moveTo>
                <a:cubicBezTo>
                  <a:pt x="90196" y="148518"/>
                  <a:pt x="90506" y="152146"/>
                  <a:pt x="93204" y="153572"/>
                </a:cubicBezTo>
                <a:cubicBezTo>
                  <a:pt x="99436" y="156890"/>
                  <a:pt x="106536" y="158750"/>
                  <a:pt x="114102" y="158750"/>
                </a:cubicBezTo>
                <a:cubicBezTo>
                  <a:pt x="138751" y="158750"/>
                  <a:pt x="158750" y="138751"/>
                  <a:pt x="158750" y="114102"/>
                </a:cubicBezTo>
                <a:cubicBezTo>
                  <a:pt x="158750" y="106567"/>
                  <a:pt x="156890" y="99436"/>
                  <a:pt x="153572" y="93204"/>
                </a:cubicBezTo>
                <a:cubicBezTo>
                  <a:pt x="152146" y="90506"/>
                  <a:pt x="148518" y="90196"/>
                  <a:pt x="146348" y="92366"/>
                </a:cubicBezTo>
                <a:lnTo>
                  <a:pt x="92366" y="146348"/>
                </a:lnTo>
                <a:close/>
              </a:path>
            </a:pathLst>
          </a:custGeom>
          <a:solidFill>
            <a:srgbClr val="F8F7F5"/>
          </a:solidFill>
          <a:ln/>
        </p:spPr>
      </p:sp>
      <p:sp>
        <p:nvSpPr>
          <p:cNvPr id="12" name="Text 10"/>
          <p:cNvSpPr/>
          <p:nvPr/>
        </p:nvSpPr>
        <p:spPr>
          <a:xfrm>
            <a:off x="801688" y="2295922"/>
            <a:ext cx="1617955" cy="234156"/>
          </a:xfrm>
          <a:prstGeom prst="rect">
            <a:avLst/>
          </a:prstGeom>
          <a:noFill/>
          <a:ln/>
        </p:spPr>
        <p:txBody>
          <a:bodyPr wrap="square" lIns="0" tIns="0" rIns="0" bIns="0" rtlCol="0" anchor="ctr"/>
          <a:lstStyle/>
          <a:p>
            <a:pPr>
              <a:lnSpc>
                <a:spcPct val="130000"/>
              </a:lnSpc>
            </a:pPr>
            <a:r>
              <a:rPr lang="en-US" sz="1400" dirty="0">
                <a:solidFill>
                  <a:srgbClr val="F8F7F5"/>
                </a:solidFill>
                <a:latin typeface="Quattrocento Sans" pitchFamily="34" charset="0"/>
                <a:ea typeface="Quattrocento Sans" pitchFamily="34" charset="-122"/>
                <a:cs typeface="Quattrocento Sans" pitchFamily="34" charset="-120"/>
              </a:rPr>
              <a:t>Fewer commodities</a:t>
            </a:r>
            <a:endParaRPr lang="en-US" sz="1400" dirty="0"/>
          </a:p>
        </p:txBody>
      </p:sp>
      <p:sp>
        <p:nvSpPr>
          <p:cNvPr id="13" name="Shape 11"/>
          <p:cNvSpPr/>
          <p:nvPr/>
        </p:nvSpPr>
        <p:spPr>
          <a:xfrm>
            <a:off x="547688" y="2645172"/>
            <a:ext cx="119063" cy="158750"/>
          </a:xfrm>
          <a:custGeom>
            <a:avLst/>
            <a:gdLst/>
            <a:ahLst/>
            <a:cxnLst/>
            <a:rect l="l" t="t" r="r" b="b"/>
            <a:pathLst>
              <a:path w="119063" h="158750">
                <a:moveTo>
                  <a:pt x="96552" y="9922"/>
                </a:moveTo>
                <a:lnTo>
                  <a:pt x="99219" y="9922"/>
                </a:lnTo>
                <a:cubicBezTo>
                  <a:pt x="110164" y="9922"/>
                  <a:pt x="119062" y="18821"/>
                  <a:pt x="119062" y="29766"/>
                </a:cubicBezTo>
                <a:lnTo>
                  <a:pt x="119062" y="138906"/>
                </a:lnTo>
                <a:cubicBezTo>
                  <a:pt x="119062" y="149851"/>
                  <a:pt x="110164" y="158750"/>
                  <a:pt x="99219" y="158750"/>
                </a:cubicBezTo>
                <a:lnTo>
                  <a:pt x="19844" y="158750"/>
                </a:lnTo>
                <a:cubicBezTo>
                  <a:pt x="8899" y="158750"/>
                  <a:pt x="0" y="149851"/>
                  <a:pt x="0" y="138906"/>
                </a:cubicBezTo>
                <a:lnTo>
                  <a:pt x="0" y="29766"/>
                </a:lnTo>
                <a:cubicBezTo>
                  <a:pt x="0" y="18821"/>
                  <a:pt x="8899" y="9922"/>
                  <a:pt x="19844" y="9922"/>
                </a:cubicBezTo>
                <a:lnTo>
                  <a:pt x="22510" y="9922"/>
                </a:lnTo>
                <a:cubicBezTo>
                  <a:pt x="25921" y="4000"/>
                  <a:pt x="32339" y="0"/>
                  <a:pt x="39688" y="0"/>
                </a:cubicBezTo>
                <a:lnTo>
                  <a:pt x="79375" y="0"/>
                </a:lnTo>
                <a:cubicBezTo>
                  <a:pt x="86723" y="0"/>
                  <a:pt x="93142" y="4000"/>
                  <a:pt x="96552" y="9922"/>
                </a:cubicBezTo>
                <a:close/>
                <a:moveTo>
                  <a:pt x="76895" y="34727"/>
                </a:moveTo>
                <a:cubicBezTo>
                  <a:pt x="81018" y="34727"/>
                  <a:pt x="84336" y="31409"/>
                  <a:pt x="84336" y="27285"/>
                </a:cubicBezTo>
                <a:cubicBezTo>
                  <a:pt x="84336" y="23161"/>
                  <a:pt x="81018" y="19844"/>
                  <a:pt x="76895" y="19844"/>
                </a:cubicBezTo>
                <a:lnTo>
                  <a:pt x="42168" y="19844"/>
                </a:lnTo>
                <a:cubicBezTo>
                  <a:pt x="38044" y="19844"/>
                  <a:pt x="34727" y="23161"/>
                  <a:pt x="34727" y="27285"/>
                </a:cubicBezTo>
                <a:cubicBezTo>
                  <a:pt x="34727" y="31409"/>
                  <a:pt x="38044" y="34727"/>
                  <a:pt x="42168" y="34727"/>
                </a:cubicBezTo>
                <a:lnTo>
                  <a:pt x="76895" y="34727"/>
                </a:lnTo>
                <a:close/>
                <a:moveTo>
                  <a:pt x="39688" y="79375"/>
                </a:moveTo>
                <a:cubicBezTo>
                  <a:pt x="39688" y="73899"/>
                  <a:pt x="35242" y="69453"/>
                  <a:pt x="29766" y="69453"/>
                </a:cubicBezTo>
                <a:cubicBezTo>
                  <a:pt x="24290" y="69453"/>
                  <a:pt x="19844" y="73899"/>
                  <a:pt x="19844" y="79375"/>
                </a:cubicBezTo>
                <a:cubicBezTo>
                  <a:pt x="19844" y="84851"/>
                  <a:pt x="24290" y="89297"/>
                  <a:pt x="29766" y="89297"/>
                </a:cubicBezTo>
                <a:cubicBezTo>
                  <a:pt x="35242" y="89297"/>
                  <a:pt x="39688" y="84851"/>
                  <a:pt x="39688" y="79375"/>
                </a:cubicBezTo>
                <a:close/>
                <a:moveTo>
                  <a:pt x="49609" y="79375"/>
                </a:moveTo>
                <a:cubicBezTo>
                  <a:pt x="49609" y="83499"/>
                  <a:pt x="52927" y="86816"/>
                  <a:pt x="57051" y="86816"/>
                </a:cubicBezTo>
                <a:lnTo>
                  <a:pt x="91777" y="86816"/>
                </a:lnTo>
                <a:cubicBezTo>
                  <a:pt x="95901" y="86816"/>
                  <a:pt x="99219" y="83499"/>
                  <a:pt x="99219" y="79375"/>
                </a:cubicBezTo>
                <a:cubicBezTo>
                  <a:pt x="99219" y="75251"/>
                  <a:pt x="95901" y="71934"/>
                  <a:pt x="91777" y="71934"/>
                </a:cubicBezTo>
                <a:lnTo>
                  <a:pt x="57051" y="71934"/>
                </a:lnTo>
                <a:cubicBezTo>
                  <a:pt x="52927" y="71934"/>
                  <a:pt x="49609" y="75251"/>
                  <a:pt x="49609" y="79375"/>
                </a:cubicBezTo>
                <a:close/>
                <a:moveTo>
                  <a:pt x="49609" y="119062"/>
                </a:moveTo>
                <a:cubicBezTo>
                  <a:pt x="49609" y="123186"/>
                  <a:pt x="52927" y="126504"/>
                  <a:pt x="57051" y="126504"/>
                </a:cubicBezTo>
                <a:lnTo>
                  <a:pt x="91777" y="126504"/>
                </a:lnTo>
                <a:cubicBezTo>
                  <a:pt x="95901" y="126504"/>
                  <a:pt x="99219" y="123186"/>
                  <a:pt x="99219" y="119062"/>
                </a:cubicBezTo>
                <a:cubicBezTo>
                  <a:pt x="99219" y="114939"/>
                  <a:pt x="95901" y="111621"/>
                  <a:pt x="91777" y="111621"/>
                </a:cubicBezTo>
                <a:lnTo>
                  <a:pt x="57051" y="111621"/>
                </a:lnTo>
                <a:cubicBezTo>
                  <a:pt x="52927" y="111621"/>
                  <a:pt x="49609" y="114939"/>
                  <a:pt x="49609" y="119062"/>
                </a:cubicBezTo>
                <a:close/>
                <a:moveTo>
                  <a:pt x="29766" y="128984"/>
                </a:moveTo>
                <a:cubicBezTo>
                  <a:pt x="35242" y="128984"/>
                  <a:pt x="39688" y="124539"/>
                  <a:pt x="39688" y="119062"/>
                </a:cubicBezTo>
                <a:cubicBezTo>
                  <a:pt x="39688" y="113586"/>
                  <a:pt x="35242" y="109141"/>
                  <a:pt x="29766" y="109141"/>
                </a:cubicBezTo>
                <a:cubicBezTo>
                  <a:pt x="24290" y="109141"/>
                  <a:pt x="19844" y="113586"/>
                  <a:pt x="19844" y="119062"/>
                </a:cubicBezTo>
                <a:cubicBezTo>
                  <a:pt x="19844" y="124539"/>
                  <a:pt x="24290" y="128984"/>
                  <a:pt x="29766" y="128984"/>
                </a:cubicBezTo>
                <a:close/>
              </a:path>
            </a:pathLst>
          </a:custGeom>
          <a:solidFill>
            <a:srgbClr val="F8F7F5"/>
          </a:solidFill>
          <a:ln/>
        </p:spPr>
      </p:sp>
      <p:sp>
        <p:nvSpPr>
          <p:cNvPr id="14" name="Text 12"/>
          <p:cNvSpPr/>
          <p:nvPr/>
        </p:nvSpPr>
        <p:spPr>
          <a:xfrm>
            <a:off x="801688" y="2613422"/>
            <a:ext cx="2110324" cy="283766"/>
          </a:xfrm>
          <a:prstGeom prst="rect">
            <a:avLst/>
          </a:prstGeom>
          <a:noFill/>
          <a:ln/>
        </p:spPr>
        <p:txBody>
          <a:bodyPr wrap="square" lIns="0" tIns="0" rIns="0" bIns="0" rtlCol="0" anchor="ctr"/>
          <a:lstStyle/>
          <a:p>
            <a:pPr>
              <a:lnSpc>
                <a:spcPct val="130000"/>
              </a:lnSpc>
            </a:pPr>
            <a:r>
              <a:rPr lang="en-US" sz="1400" dirty="0">
                <a:solidFill>
                  <a:srgbClr val="F8F7F5"/>
                </a:solidFill>
                <a:latin typeface="Quattrocento Sans" pitchFamily="34" charset="0"/>
                <a:ea typeface="Quattrocento Sans" pitchFamily="34" charset="-122"/>
                <a:cs typeface="Quattrocento Sans" pitchFamily="34" charset="-120"/>
              </a:rPr>
              <a:t>Weaker reporting</a:t>
            </a:r>
            <a:endParaRPr lang="en-US" sz="1400" dirty="0"/>
          </a:p>
        </p:txBody>
      </p:sp>
      <p:sp>
        <p:nvSpPr>
          <p:cNvPr id="15" name="Shape 13"/>
          <p:cNvSpPr/>
          <p:nvPr/>
        </p:nvSpPr>
        <p:spPr>
          <a:xfrm>
            <a:off x="333375" y="3184922"/>
            <a:ext cx="4381500" cy="4976813"/>
          </a:xfrm>
          <a:custGeom>
            <a:avLst/>
            <a:gdLst/>
            <a:ahLst/>
            <a:cxnLst/>
            <a:rect l="l" t="t" r="r" b="b"/>
            <a:pathLst>
              <a:path w="4381500" h="4976813">
                <a:moveTo>
                  <a:pt x="0" y="0"/>
                </a:moveTo>
                <a:lnTo>
                  <a:pt x="4381500" y="0"/>
                </a:lnTo>
                <a:lnTo>
                  <a:pt x="4381500" y="4976813"/>
                </a:lnTo>
                <a:lnTo>
                  <a:pt x="0" y="4976813"/>
                </a:lnTo>
                <a:lnTo>
                  <a:pt x="0" y="0"/>
                </a:lnTo>
                <a:close/>
              </a:path>
            </a:pathLst>
          </a:custGeom>
          <a:solidFill>
            <a:srgbClr val="FFFFFF"/>
          </a:solidFill>
          <a:ln/>
          <a:effectLst>
            <a:outerShdw blurRad="23813" dist="7938" dir="5400000" algn="bl" rotWithShape="0">
              <a:srgbClr val="000000">
                <a:alpha val="10196"/>
              </a:srgbClr>
            </a:outerShdw>
          </a:effectLst>
        </p:spPr>
      </p:sp>
      <p:sp>
        <p:nvSpPr>
          <p:cNvPr id="16" name="Shape 14"/>
          <p:cNvSpPr/>
          <p:nvPr/>
        </p:nvSpPr>
        <p:spPr>
          <a:xfrm>
            <a:off x="333375" y="3184922"/>
            <a:ext cx="31750" cy="4976813"/>
          </a:xfrm>
          <a:custGeom>
            <a:avLst/>
            <a:gdLst/>
            <a:ahLst/>
            <a:cxnLst/>
            <a:rect l="l" t="t" r="r" b="b"/>
            <a:pathLst>
              <a:path w="31750" h="4976813">
                <a:moveTo>
                  <a:pt x="0" y="0"/>
                </a:moveTo>
                <a:lnTo>
                  <a:pt x="31750" y="0"/>
                </a:lnTo>
                <a:lnTo>
                  <a:pt x="31750" y="4976813"/>
                </a:lnTo>
                <a:lnTo>
                  <a:pt x="0" y="4976813"/>
                </a:lnTo>
                <a:lnTo>
                  <a:pt x="0" y="0"/>
                </a:lnTo>
                <a:close/>
              </a:path>
            </a:pathLst>
          </a:custGeom>
          <a:solidFill>
            <a:srgbClr val="2A4D53"/>
          </a:solidFill>
          <a:ln/>
        </p:spPr>
      </p:sp>
      <p:sp>
        <p:nvSpPr>
          <p:cNvPr id="17" name="Shape 15"/>
          <p:cNvSpPr/>
          <p:nvPr/>
        </p:nvSpPr>
        <p:spPr>
          <a:xfrm>
            <a:off x="563563" y="3407172"/>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65484"/>
                </a:moveTo>
                <a:cubicBezTo>
                  <a:pt x="88664" y="65484"/>
                  <a:pt x="83344" y="70805"/>
                  <a:pt x="83344" y="77391"/>
                </a:cubicBezTo>
                <a:cubicBezTo>
                  <a:pt x="83344" y="82339"/>
                  <a:pt x="79363" y="86320"/>
                  <a:pt x="74414" y="86320"/>
                </a:cubicBezTo>
                <a:cubicBezTo>
                  <a:pt x="69466" y="86320"/>
                  <a:pt x="65484" y="82339"/>
                  <a:pt x="65484" y="77391"/>
                </a:cubicBezTo>
                <a:cubicBezTo>
                  <a:pt x="65484" y="60945"/>
                  <a:pt x="78804" y="47625"/>
                  <a:pt x="95250" y="47625"/>
                </a:cubicBezTo>
                <a:cubicBezTo>
                  <a:pt x="111696" y="47625"/>
                  <a:pt x="125016" y="60945"/>
                  <a:pt x="125016" y="77391"/>
                </a:cubicBezTo>
                <a:cubicBezTo>
                  <a:pt x="125016" y="94952"/>
                  <a:pt x="111621" y="102394"/>
                  <a:pt x="104180" y="105110"/>
                </a:cubicBezTo>
                <a:lnTo>
                  <a:pt x="104180" y="106524"/>
                </a:lnTo>
                <a:cubicBezTo>
                  <a:pt x="104180" y="111472"/>
                  <a:pt x="100199" y="115453"/>
                  <a:pt x="95250" y="115453"/>
                </a:cubicBezTo>
                <a:cubicBezTo>
                  <a:pt x="90301" y="115453"/>
                  <a:pt x="86320" y="111472"/>
                  <a:pt x="86320" y="106524"/>
                </a:cubicBezTo>
                <a:lnTo>
                  <a:pt x="86320" y="103510"/>
                </a:lnTo>
                <a:cubicBezTo>
                  <a:pt x="86320" y="95883"/>
                  <a:pt x="91827" y="90413"/>
                  <a:pt x="97520" y="88553"/>
                </a:cubicBezTo>
                <a:cubicBezTo>
                  <a:pt x="99901" y="87771"/>
                  <a:pt x="102431" y="86506"/>
                  <a:pt x="104291" y="84720"/>
                </a:cubicBezTo>
                <a:cubicBezTo>
                  <a:pt x="105891" y="83158"/>
                  <a:pt x="107156" y="81000"/>
                  <a:pt x="107156" y="77428"/>
                </a:cubicBezTo>
                <a:cubicBezTo>
                  <a:pt x="107156" y="70842"/>
                  <a:pt x="101836" y="65522"/>
                  <a:pt x="95250" y="65522"/>
                </a:cubicBezTo>
                <a:close/>
                <a:moveTo>
                  <a:pt x="83344" y="136922"/>
                </a:moveTo>
                <a:cubicBezTo>
                  <a:pt x="83344" y="130351"/>
                  <a:pt x="88679" y="125016"/>
                  <a:pt x="95250" y="125016"/>
                </a:cubicBezTo>
                <a:cubicBezTo>
                  <a:pt x="101821" y="125016"/>
                  <a:pt x="107156" y="130351"/>
                  <a:pt x="107156" y="136922"/>
                </a:cubicBezTo>
                <a:cubicBezTo>
                  <a:pt x="107156" y="143493"/>
                  <a:pt x="101821" y="148828"/>
                  <a:pt x="95250" y="148828"/>
                </a:cubicBezTo>
                <a:cubicBezTo>
                  <a:pt x="88679" y="148828"/>
                  <a:pt x="83344" y="143493"/>
                  <a:pt x="83344" y="136922"/>
                </a:cubicBezTo>
                <a:close/>
              </a:path>
            </a:pathLst>
          </a:custGeom>
          <a:solidFill>
            <a:srgbClr val="2A4D53"/>
          </a:solidFill>
          <a:ln/>
        </p:spPr>
      </p:sp>
      <p:sp>
        <p:nvSpPr>
          <p:cNvPr id="18" name="Text 16"/>
          <p:cNvSpPr/>
          <p:nvPr/>
        </p:nvSpPr>
        <p:spPr>
          <a:xfrm>
            <a:off x="900906" y="3398410"/>
            <a:ext cx="2358830" cy="220266"/>
          </a:xfrm>
          <a:prstGeom prst="rect">
            <a:avLst/>
          </a:prstGeom>
          <a:noFill/>
          <a:ln/>
        </p:spPr>
        <p:txBody>
          <a:bodyPr wrap="square" lIns="0" tIns="0" rIns="0" bIns="0" rtlCol="0" anchor="ctr"/>
          <a:lstStyle/>
          <a:p>
            <a:pPr>
              <a:lnSpc>
                <a:spcPct val="110000"/>
              </a:lnSpc>
            </a:pPr>
            <a:r>
              <a:rPr lang="en-US" b="1" dirty="0">
                <a:solidFill>
                  <a:srgbClr val="2A4D53"/>
                </a:solidFill>
                <a:latin typeface="Liter" pitchFamily="34" charset="0"/>
                <a:ea typeface="Liter" pitchFamily="34" charset="-122"/>
                <a:cs typeface="Liter" pitchFamily="34" charset="-120"/>
              </a:rPr>
              <a:t>The Core Question</a:t>
            </a:r>
            <a:endParaRPr lang="en-US" dirty="0"/>
          </a:p>
        </p:txBody>
      </p:sp>
      <p:sp>
        <p:nvSpPr>
          <p:cNvPr id="19" name="Text 17"/>
          <p:cNvSpPr/>
          <p:nvPr/>
        </p:nvSpPr>
        <p:spPr>
          <a:xfrm>
            <a:off x="537766" y="3960812"/>
            <a:ext cx="4079875" cy="690563"/>
          </a:xfrm>
          <a:prstGeom prst="rect">
            <a:avLst/>
          </a:prstGeom>
          <a:noFill/>
          <a:ln/>
        </p:spPr>
        <p:txBody>
          <a:bodyPr wrap="square" lIns="0" tIns="0" rIns="0" bIns="0" rtlCol="0" anchor="ctr"/>
          <a:lstStyle/>
          <a:p>
            <a:pPr>
              <a:lnSpc>
                <a:spcPct val="140000"/>
              </a:lnSpc>
            </a:pPr>
            <a:r>
              <a:rPr lang="en-US" b="1" dirty="0">
                <a:solidFill>
                  <a:srgbClr val="2A4D53"/>
                </a:solidFill>
                <a:latin typeface="Liter" pitchFamily="34" charset="0"/>
                <a:ea typeface="Liter" pitchFamily="34" charset="-122"/>
                <a:cs typeface="Liter" pitchFamily="34" charset="-120"/>
              </a:rPr>
              <a:t>Are risky areas </a:t>
            </a:r>
            <a:r>
              <a:rPr lang="en-US" b="1" dirty="0">
                <a:solidFill>
                  <a:srgbClr val="2A4D53"/>
                </a:solidFill>
                <a:highlight>
                  <a:srgbClr val="C87E62">
                    <a:alpha val="20000"/>
                  </a:srgbClr>
                </a:highlight>
                <a:latin typeface="Liter" pitchFamily="34" charset="0"/>
                <a:ea typeface="Liter" pitchFamily="34" charset="-122"/>
                <a:cs typeface="Liter" pitchFamily="34" charset="-120"/>
              </a:rPr>
              <a:t>systematically disadvantaged </a:t>
            </a:r>
            <a:r>
              <a:rPr lang="en-US" b="1" dirty="0">
                <a:solidFill>
                  <a:srgbClr val="2A4D53"/>
                </a:solidFill>
                <a:latin typeface="Liter" pitchFamily="34" charset="0"/>
                <a:ea typeface="Liter" pitchFamily="34" charset="-122"/>
                <a:cs typeface="Liter" pitchFamily="34" charset="-120"/>
              </a:rPr>
              <a:t>?</a:t>
            </a:r>
            <a:endParaRPr lang="en-US" dirty="0"/>
          </a:p>
        </p:txBody>
      </p:sp>
      <p:sp>
        <p:nvSpPr>
          <p:cNvPr id="20" name="Shape 18"/>
          <p:cNvSpPr/>
          <p:nvPr/>
        </p:nvSpPr>
        <p:spPr>
          <a:xfrm>
            <a:off x="4902150" y="1047750"/>
            <a:ext cx="6969125" cy="7112000"/>
          </a:xfrm>
          <a:custGeom>
            <a:avLst/>
            <a:gdLst/>
            <a:ahLst/>
            <a:cxnLst/>
            <a:rect l="l" t="t" r="r" b="b"/>
            <a:pathLst>
              <a:path w="6969125" h="7112000">
                <a:moveTo>
                  <a:pt x="0" y="0"/>
                </a:moveTo>
                <a:lnTo>
                  <a:pt x="6969125" y="0"/>
                </a:lnTo>
                <a:lnTo>
                  <a:pt x="6969125" y="7112000"/>
                </a:lnTo>
                <a:lnTo>
                  <a:pt x="0" y="7112000"/>
                </a:lnTo>
                <a:lnTo>
                  <a:pt x="0" y="0"/>
                </a:lnTo>
                <a:close/>
              </a:path>
            </a:pathLst>
          </a:custGeom>
          <a:solidFill>
            <a:srgbClr val="FFFFFF"/>
          </a:solidFill>
          <a:ln/>
          <a:effectLst>
            <a:outerShdw blurRad="23813" dist="7938" dir="5400000" algn="bl" rotWithShape="0">
              <a:srgbClr val="000000">
                <a:alpha val="10196"/>
              </a:srgbClr>
            </a:outerShdw>
          </a:effectLst>
        </p:spPr>
      </p:sp>
      <p:sp>
        <p:nvSpPr>
          <p:cNvPr id="21" name="Text 19"/>
          <p:cNvSpPr/>
          <p:nvPr/>
        </p:nvSpPr>
        <p:spPr>
          <a:xfrm>
            <a:off x="5092650" y="1238250"/>
            <a:ext cx="6683375" cy="254000"/>
          </a:xfrm>
          <a:prstGeom prst="rect">
            <a:avLst/>
          </a:prstGeom>
          <a:noFill/>
          <a:ln/>
        </p:spPr>
        <p:txBody>
          <a:bodyPr wrap="square" lIns="0" tIns="0" rIns="0" bIns="0" rtlCol="0" anchor="ctr"/>
          <a:lstStyle/>
          <a:p>
            <a:pPr>
              <a:lnSpc>
                <a:spcPct val="110000"/>
              </a:lnSpc>
            </a:pPr>
            <a:r>
              <a:rPr lang="en-US" b="1" dirty="0">
                <a:solidFill>
                  <a:srgbClr val="2A4D53"/>
                </a:solidFill>
                <a:latin typeface="Liter" pitchFamily="34" charset="0"/>
                <a:ea typeface="Liter" pitchFamily="34" charset="-122"/>
                <a:cs typeface="Liter" pitchFamily="34" charset="-120"/>
              </a:rPr>
              <a:t>Risk Analysis Methodology</a:t>
            </a:r>
            <a:endParaRPr lang="en-US" dirty="0"/>
          </a:p>
        </p:txBody>
      </p:sp>
      <p:sp>
        <p:nvSpPr>
          <p:cNvPr id="22" name="Shape 20"/>
          <p:cNvSpPr/>
          <p:nvPr/>
        </p:nvSpPr>
        <p:spPr>
          <a:xfrm>
            <a:off x="5108525" y="1651000"/>
            <a:ext cx="6572250" cy="1793875"/>
          </a:xfrm>
          <a:custGeom>
            <a:avLst/>
            <a:gdLst/>
            <a:ahLst/>
            <a:cxnLst/>
            <a:rect l="l" t="t" r="r" b="b"/>
            <a:pathLst>
              <a:path w="6572250" h="1793875">
                <a:moveTo>
                  <a:pt x="0" y="0"/>
                </a:moveTo>
                <a:lnTo>
                  <a:pt x="6572250" y="0"/>
                </a:lnTo>
                <a:lnTo>
                  <a:pt x="6572250" y="1793875"/>
                </a:lnTo>
                <a:lnTo>
                  <a:pt x="0" y="1793875"/>
                </a:lnTo>
                <a:lnTo>
                  <a:pt x="0" y="0"/>
                </a:lnTo>
                <a:close/>
              </a:path>
            </a:pathLst>
          </a:custGeom>
          <a:solidFill>
            <a:srgbClr val="2A4D53">
              <a:alpha val="5098"/>
            </a:srgbClr>
          </a:solidFill>
          <a:ln/>
        </p:spPr>
      </p:sp>
      <p:sp>
        <p:nvSpPr>
          <p:cNvPr id="23" name="Shape 21"/>
          <p:cNvSpPr/>
          <p:nvPr/>
        </p:nvSpPr>
        <p:spPr>
          <a:xfrm>
            <a:off x="5108525" y="1651000"/>
            <a:ext cx="31750" cy="1793875"/>
          </a:xfrm>
          <a:custGeom>
            <a:avLst/>
            <a:gdLst/>
            <a:ahLst/>
            <a:cxnLst/>
            <a:rect l="l" t="t" r="r" b="b"/>
            <a:pathLst>
              <a:path w="31750" h="1793875">
                <a:moveTo>
                  <a:pt x="0" y="0"/>
                </a:moveTo>
                <a:lnTo>
                  <a:pt x="31750" y="0"/>
                </a:lnTo>
                <a:lnTo>
                  <a:pt x="31750" y="1793875"/>
                </a:lnTo>
                <a:lnTo>
                  <a:pt x="0" y="1793875"/>
                </a:lnTo>
                <a:lnTo>
                  <a:pt x="0" y="0"/>
                </a:lnTo>
                <a:close/>
              </a:path>
            </a:pathLst>
          </a:custGeom>
          <a:solidFill>
            <a:srgbClr val="2A4D53"/>
          </a:solidFill>
          <a:ln/>
        </p:spPr>
      </p:sp>
      <p:sp>
        <p:nvSpPr>
          <p:cNvPr id="24" name="Shape 22"/>
          <p:cNvSpPr/>
          <p:nvPr/>
        </p:nvSpPr>
        <p:spPr>
          <a:xfrm>
            <a:off x="5283150" y="1809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2A4D53"/>
          </a:solidFill>
          <a:ln/>
        </p:spPr>
      </p:sp>
      <p:sp>
        <p:nvSpPr>
          <p:cNvPr id="25" name="Text 23"/>
          <p:cNvSpPr/>
          <p:nvPr/>
        </p:nvSpPr>
        <p:spPr>
          <a:xfrm>
            <a:off x="5243463" y="1809750"/>
            <a:ext cx="396875" cy="317500"/>
          </a:xfrm>
          <a:prstGeom prst="rect">
            <a:avLst/>
          </a:prstGeom>
          <a:noFill/>
          <a:ln/>
        </p:spPr>
        <p:txBody>
          <a:bodyPr wrap="square" lIns="0" tIns="0" rIns="0" bIns="0" rtlCol="0" anchor="ctr"/>
          <a:lstStyle/>
          <a:p>
            <a:pPr algn="ctr">
              <a:lnSpc>
                <a:spcPct val="120000"/>
              </a:lnSpc>
            </a:pPr>
            <a:r>
              <a:rPr lang="en-US" sz="1250" b="1" dirty="0">
                <a:solidFill>
                  <a:srgbClr val="F8F7F5"/>
                </a:solidFill>
                <a:latin typeface="Liter" pitchFamily="34" charset="0"/>
                <a:ea typeface="Liter" pitchFamily="34" charset="-122"/>
                <a:cs typeface="Liter" pitchFamily="34" charset="-120"/>
              </a:rPr>
              <a:t>1</a:t>
            </a:r>
            <a:endParaRPr lang="en-US" sz="1600" dirty="0"/>
          </a:p>
        </p:txBody>
      </p:sp>
      <p:sp>
        <p:nvSpPr>
          <p:cNvPr id="26" name="Text 24"/>
          <p:cNvSpPr/>
          <p:nvPr/>
        </p:nvSpPr>
        <p:spPr>
          <a:xfrm>
            <a:off x="5695900" y="1857375"/>
            <a:ext cx="1563688" cy="222250"/>
          </a:xfrm>
          <a:prstGeom prst="rect">
            <a:avLst/>
          </a:prstGeom>
          <a:noFill/>
          <a:ln/>
        </p:spPr>
        <p:txBody>
          <a:bodyPr wrap="square" lIns="0" tIns="0" rIns="0" bIns="0" rtlCol="0" anchor="ctr"/>
          <a:lstStyle/>
          <a:p>
            <a:pPr>
              <a:lnSpc>
                <a:spcPct val="120000"/>
              </a:lnSpc>
            </a:pPr>
            <a:r>
              <a:rPr lang="en-US" b="1" dirty="0">
                <a:solidFill>
                  <a:srgbClr val="2A4D53"/>
                </a:solidFill>
                <a:latin typeface="Liter" pitchFamily="34" charset="0"/>
                <a:ea typeface="Liter" pitchFamily="34" charset="-122"/>
                <a:cs typeface="Liter" pitchFamily="34" charset="-120"/>
              </a:rPr>
              <a:t>The Risk Flag</a:t>
            </a:r>
            <a:endParaRPr lang="en-US" dirty="0"/>
          </a:p>
        </p:txBody>
      </p:sp>
      <p:sp>
        <p:nvSpPr>
          <p:cNvPr id="27" name="Text 25"/>
          <p:cNvSpPr/>
          <p:nvPr/>
        </p:nvSpPr>
        <p:spPr>
          <a:xfrm>
            <a:off x="5283150" y="2254250"/>
            <a:ext cx="6302375" cy="190500"/>
          </a:xfrm>
          <a:prstGeom prst="rect">
            <a:avLst/>
          </a:prstGeom>
          <a:noFill/>
          <a:ln/>
        </p:spPr>
        <p:txBody>
          <a:bodyPr wrap="square" lIns="0" tIns="0" rIns="0" bIns="0" rtlCol="0" anchor="ctr"/>
          <a:lstStyle/>
          <a:p>
            <a:pPr>
              <a:lnSpc>
                <a:spcPct val="130000"/>
              </a:lnSpc>
            </a:pPr>
            <a:r>
              <a:rPr lang="en-US" sz="1400" dirty="0">
                <a:solidFill>
                  <a:srgbClr val="3D3D3D"/>
                </a:solidFill>
                <a:latin typeface="Quattrocento Sans" pitchFamily="34" charset="0"/>
                <a:ea typeface="Quattrocento Sans" pitchFamily="34" charset="-122"/>
                <a:cs typeface="Quattrocento Sans" pitchFamily="34" charset="-120"/>
              </a:rPr>
              <a:t>Created a single </a:t>
            </a:r>
            <a:r>
              <a:rPr lang="en-US" sz="1400" b="1" dirty="0">
                <a:solidFill>
                  <a:srgbClr val="3D3D3D"/>
                </a:solidFill>
                <a:latin typeface="Quattrocento Sans" pitchFamily="34" charset="0"/>
                <a:ea typeface="Quattrocento Sans" pitchFamily="34" charset="-122"/>
                <a:cs typeface="Quattrocento Sans" pitchFamily="34" charset="-120"/>
              </a:rPr>
              <a:t>"At Risk"</a:t>
            </a:r>
            <a:r>
              <a:rPr lang="en-US" sz="1400" dirty="0">
                <a:solidFill>
                  <a:srgbClr val="3D3D3D"/>
                </a:solidFill>
                <a:latin typeface="Quattrocento Sans" pitchFamily="34" charset="0"/>
                <a:ea typeface="Quattrocento Sans" pitchFamily="34" charset="-122"/>
                <a:cs typeface="Quattrocento Sans" pitchFamily="34" charset="-120"/>
              </a:rPr>
              <a:t> category that flags any facility labeled as either:</a:t>
            </a:r>
            <a:endParaRPr lang="en-US" sz="1400" dirty="0"/>
          </a:p>
        </p:txBody>
      </p:sp>
      <p:sp>
        <p:nvSpPr>
          <p:cNvPr id="28" name="Shape 26"/>
          <p:cNvSpPr/>
          <p:nvPr/>
        </p:nvSpPr>
        <p:spPr>
          <a:xfrm>
            <a:off x="5287119" y="2543969"/>
            <a:ext cx="3063875" cy="738188"/>
          </a:xfrm>
          <a:custGeom>
            <a:avLst/>
            <a:gdLst/>
            <a:ahLst/>
            <a:cxnLst/>
            <a:rect l="l" t="t" r="r" b="b"/>
            <a:pathLst>
              <a:path w="3063875" h="738188">
                <a:moveTo>
                  <a:pt x="0" y="0"/>
                </a:moveTo>
                <a:lnTo>
                  <a:pt x="3063875" y="0"/>
                </a:lnTo>
                <a:lnTo>
                  <a:pt x="3063875" y="738188"/>
                </a:lnTo>
                <a:lnTo>
                  <a:pt x="0" y="738188"/>
                </a:lnTo>
                <a:lnTo>
                  <a:pt x="0" y="0"/>
                </a:lnTo>
                <a:close/>
              </a:path>
            </a:pathLst>
          </a:custGeom>
          <a:solidFill>
            <a:srgbClr val="FFFFFF"/>
          </a:solidFill>
          <a:ln w="12700">
            <a:solidFill>
              <a:srgbClr val="2A4D53">
                <a:alpha val="20000"/>
              </a:srgbClr>
            </a:solidFill>
            <a:prstDash val="solid"/>
          </a:ln>
        </p:spPr>
        <p:txBody>
          <a:bodyPr/>
          <a:lstStyle/>
          <a:p>
            <a:endParaRPr lang="en-US" dirty="0"/>
          </a:p>
        </p:txBody>
      </p:sp>
      <p:sp>
        <p:nvSpPr>
          <p:cNvPr id="29" name="Shape 27"/>
          <p:cNvSpPr/>
          <p:nvPr/>
        </p:nvSpPr>
        <p:spPr>
          <a:xfrm>
            <a:off x="6724551" y="2643188"/>
            <a:ext cx="190500" cy="190500"/>
          </a:xfrm>
          <a:custGeom>
            <a:avLst/>
            <a:gdLst/>
            <a:ahLst/>
            <a:cxnLst/>
            <a:rect l="l" t="t" r="r" b="b"/>
            <a:pathLst>
              <a:path w="190500" h="190500">
                <a:moveTo>
                  <a:pt x="95436" y="0"/>
                </a:moveTo>
                <a:cubicBezTo>
                  <a:pt x="100905" y="0"/>
                  <a:pt x="105928" y="3014"/>
                  <a:pt x="108533" y="7813"/>
                </a:cubicBezTo>
                <a:lnTo>
                  <a:pt x="188900" y="156642"/>
                </a:lnTo>
                <a:cubicBezTo>
                  <a:pt x="191393" y="161255"/>
                  <a:pt x="191281" y="166836"/>
                  <a:pt x="188602" y="171338"/>
                </a:cubicBezTo>
                <a:cubicBezTo>
                  <a:pt x="185924" y="175840"/>
                  <a:pt x="181049" y="178594"/>
                  <a:pt x="175840" y="178594"/>
                </a:cubicBezTo>
                <a:lnTo>
                  <a:pt x="15106" y="178594"/>
                </a:lnTo>
                <a:cubicBezTo>
                  <a:pt x="9860" y="178594"/>
                  <a:pt x="5023" y="175840"/>
                  <a:pt x="2344" y="171338"/>
                </a:cubicBezTo>
                <a:cubicBezTo>
                  <a:pt x="-335" y="166836"/>
                  <a:pt x="-446" y="161255"/>
                  <a:pt x="2046" y="156642"/>
                </a:cubicBezTo>
                <a:lnTo>
                  <a:pt x="82414" y="7813"/>
                </a:lnTo>
                <a:lnTo>
                  <a:pt x="83493" y="6102"/>
                </a:lnTo>
                <a:cubicBezTo>
                  <a:pt x="86209" y="2307"/>
                  <a:pt x="90636" y="0"/>
                  <a:pt x="95436" y="0"/>
                </a:cubicBezTo>
                <a:close/>
                <a:moveTo>
                  <a:pt x="63401" y="92980"/>
                </a:moveTo>
                <a:lnTo>
                  <a:pt x="73372" y="102952"/>
                </a:lnTo>
                <a:cubicBezTo>
                  <a:pt x="75679" y="105259"/>
                  <a:pt x="79474" y="105259"/>
                  <a:pt x="81781" y="102952"/>
                </a:cubicBezTo>
                <a:lnTo>
                  <a:pt x="97892" y="86841"/>
                </a:lnTo>
                <a:cubicBezTo>
                  <a:pt x="100124" y="84609"/>
                  <a:pt x="103138" y="83344"/>
                  <a:pt x="106300" y="83344"/>
                </a:cubicBezTo>
                <a:lnTo>
                  <a:pt x="122225" y="83344"/>
                </a:lnTo>
                <a:lnTo>
                  <a:pt x="95399" y="33672"/>
                </a:lnTo>
                <a:lnTo>
                  <a:pt x="63364" y="92980"/>
                </a:lnTo>
                <a:close/>
              </a:path>
            </a:pathLst>
          </a:custGeom>
          <a:solidFill>
            <a:srgbClr val="2A4D53"/>
          </a:solidFill>
          <a:ln/>
        </p:spPr>
      </p:sp>
      <p:sp>
        <p:nvSpPr>
          <p:cNvPr id="30" name="Text 28"/>
          <p:cNvSpPr/>
          <p:nvPr/>
        </p:nvSpPr>
        <p:spPr>
          <a:xfrm>
            <a:off x="5358557" y="2897188"/>
            <a:ext cx="2921000" cy="158750"/>
          </a:xfrm>
          <a:prstGeom prst="rect">
            <a:avLst/>
          </a:prstGeom>
          <a:noFill/>
          <a:ln/>
        </p:spPr>
        <p:txBody>
          <a:bodyPr wrap="square" lIns="0" tIns="0" rIns="0" bIns="0" rtlCol="0" anchor="ctr"/>
          <a:lstStyle/>
          <a:p>
            <a:pPr algn="ctr">
              <a:lnSpc>
                <a:spcPct val="120000"/>
              </a:lnSpc>
            </a:pPr>
            <a:r>
              <a:rPr lang="en-US" sz="1600" b="1" dirty="0">
                <a:solidFill>
                  <a:srgbClr val="2A4D53"/>
                </a:solidFill>
                <a:latin typeface="Quattrocento Sans" pitchFamily="34" charset="0"/>
                <a:ea typeface="Quattrocento Sans" pitchFamily="34" charset="-122"/>
                <a:cs typeface="Quattrocento Sans" pitchFamily="34" charset="-120"/>
              </a:rPr>
              <a:t>HTR</a:t>
            </a:r>
            <a:endParaRPr lang="en-US" sz="1600" dirty="0"/>
          </a:p>
        </p:txBody>
      </p:sp>
      <p:sp>
        <p:nvSpPr>
          <p:cNvPr id="31" name="Text 29"/>
          <p:cNvSpPr/>
          <p:nvPr/>
        </p:nvSpPr>
        <p:spPr>
          <a:xfrm>
            <a:off x="5362525" y="3055938"/>
            <a:ext cx="2913063" cy="127000"/>
          </a:xfrm>
          <a:prstGeom prst="rect">
            <a:avLst/>
          </a:prstGeom>
          <a:noFill/>
          <a:ln/>
        </p:spPr>
        <p:txBody>
          <a:bodyPr wrap="square" lIns="0" tIns="0" rIns="0" bIns="0" rtlCol="0" anchor="ctr"/>
          <a:lstStyle/>
          <a:p>
            <a:pPr algn="ctr">
              <a:lnSpc>
                <a:spcPct val="110000"/>
              </a:lnSpc>
            </a:pPr>
            <a:r>
              <a:rPr lang="en-US" sz="1600" dirty="0">
                <a:solidFill>
                  <a:srgbClr val="A9A299"/>
                </a:solidFill>
                <a:latin typeface="Quattrocento Sans" pitchFamily="34" charset="0"/>
                <a:ea typeface="Quattrocento Sans" pitchFamily="34" charset="-122"/>
                <a:cs typeface="Quattrocento Sans" pitchFamily="34" charset="-120"/>
              </a:rPr>
              <a:t>Hard-to-Reach</a:t>
            </a:r>
            <a:endParaRPr lang="en-US" sz="1600" dirty="0"/>
          </a:p>
        </p:txBody>
      </p:sp>
      <p:sp>
        <p:nvSpPr>
          <p:cNvPr id="32" name="Shape 30"/>
          <p:cNvSpPr/>
          <p:nvPr/>
        </p:nvSpPr>
        <p:spPr>
          <a:xfrm>
            <a:off x="8455794" y="2543969"/>
            <a:ext cx="3063875" cy="738188"/>
          </a:xfrm>
          <a:custGeom>
            <a:avLst/>
            <a:gdLst/>
            <a:ahLst/>
            <a:cxnLst/>
            <a:rect l="l" t="t" r="r" b="b"/>
            <a:pathLst>
              <a:path w="3063875" h="738188">
                <a:moveTo>
                  <a:pt x="0" y="0"/>
                </a:moveTo>
                <a:lnTo>
                  <a:pt x="3063875" y="0"/>
                </a:lnTo>
                <a:lnTo>
                  <a:pt x="3063875" y="738188"/>
                </a:lnTo>
                <a:lnTo>
                  <a:pt x="0" y="738188"/>
                </a:lnTo>
                <a:lnTo>
                  <a:pt x="0" y="0"/>
                </a:lnTo>
                <a:close/>
              </a:path>
            </a:pathLst>
          </a:custGeom>
          <a:solidFill>
            <a:srgbClr val="FFFFFF"/>
          </a:solidFill>
          <a:ln w="12700">
            <a:solidFill>
              <a:srgbClr val="2A4D53">
                <a:alpha val="20000"/>
              </a:srgbClr>
            </a:solidFill>
            <a:prstDash val="solid"/>
          </a:ln>
        </p:spPr>
      </p:sp>
      <p:sp>
        <p:nvSpPr>
          <p:cNvPr id="33" name="Shape 31"/>
          <p:cNvSpPr/>
          <p:nvPr/>
        </p:nvSpPr>
        <p:spPr>
          <a:xfrm>
            <a:off x="9893226" y="2643188"/>
            <a:ext cx="190500" cy="190500"/>
          </a:xfrm>
          <a:custGeom>
            <a:avLst/>
            <a:gdLst/>
            <a:ahLst/>
            <a:cxnLst/>
            <a:rect l="l" t="t" r="r" b="b"/>
            <a:pathLst>
              <a:path w="190500" h="190500">
                <a:moveTo>
                  <a:pt x="95250" y="0"/>
                </a:moveTo>
                <a:cubicBezTo>
                  <a:pt x="96962" y="0"/>
                  <a:pt x="98673" y="372"/>
                  <a:pt x="100236" y="1079"/>
                </a:cubicBezTo>
                <a:lnTo>
                  <a:pt x="170334" y="30807"/>
                </a:lnTo>
                <a:cubicBezTo>
                  <a:pt x="178519" y="34268"/>
                  <a:pt x="184621" y="42342"/>
                  <a:pt x="184584" y="52090"/>
                </a:cubicBezTo>
                <a:cubicBezTo>
                  <a:pt x="184398" y="88999"/>
                  <a:pt x="169218" y="156530"/>
                  <a:pt x="105110" y="187226"/>
                </a:cubicBezTo>
                <a:cubicBezTo>
                  <a:pt x="98896" y="190202"/>
                  <a:pt x="91678" y="190202"/>
                  <a:pt x="85465" y="187226"/>
                </a:cubicBezTo>
                <a:cubicBezTo>
                  <a:pt x="21320" y="156530"/>
                  <a:pt x="6176" y="88999"/>
                  <a:pt x="5990" y="52090"/>
                </a:cubicBezTo>
                <a:cubicBezTo>
                  <a:pt x="5953" y="42342"/>
                  <a:pt x="12055" y="34268"/>
                  <a:pt x="20241" y="30807"/>
                </a:cubicBezTo>
                <a:lnTo>
                  <a:pt x="90301" y="1079"/>
                </a:lnTo>
                <a:cubicBezTo>
                  <a:pt x="91864" y="372"/>
                  <a:pt x="93538" y="0"/>
                  <a:pt x="95250" y="0"/>
                </a:cubicBezTo>
                <a:close/>
                <a:moveTo>
                  <a:pt x="95250" y="24854"/>
                </a:moveTo>
                <a:lnTo>
                  <a:pt x="95250" y="165534"/>
                </a:lnTo>
                <a:cubicBezTo>
                  <a:pt x="146596" y="140680"/>
                  <a:pt x="160400" y="85613"/>
                  <a:pt x="160734" y="52648"/>
                </a:cubicBezTo>
                <a:lnTo>
                  <a:pt x="95250" y="24892"/>
                </a:lnTo>
                <a:lnTo>
                  <a:pt x="95250" y="24892"/>
                </a:lnTo>
                <a:close/>
              </a:path>
            </a:pathLst>
          </a:custGeom>
          <a:solidFill>
            <a:srgbClr val="2A4D53"/>
          </a:solidFill>
          <a:ln/>
        </p:spPr>
      </p:sp>
      <p:sp>
        <p:nvSpPr>
          <p:cNvPr id="34" name="Text 32"/>
          <p:cNvSpPr/>
          <p:nvPr/>
        </p:nvSpPr>
        <p:spPr>
          <a:xfrm>
            <a:off x="8527231" y="2897188"/>
            <a:ext cx="2921000" cy="158750"/>
          </a:xfrm>
          <a:prstGeom prst="rect">
            <a:avLst/>
          </a:prstGeom>
          <a:noFill/>
          <a:ln/>
        </p:spPr>
        <p:txBody>
          <a:bodyPr wrap="square" lIns="0" tIns="0" rIns="0" bIns="0" rtlCol="0" anchor="ctr"/>
          <a:lstStyle/>
          <a:p>
            <a:pPr algn="ctr">
              <a:lnSpc>
                <a:spcPct val="120000"/>
              </a:lnSpc>
            </a:pPr>
            <a:r>
              <a:rPr lang="en-US" sz="1600" b="1" dirty="0">
                <a:solidFill>
                  <a:srgbClr val="2A4D53"/>
                </a:solidFill>
                <a:latin typeface="Quattrocento Sans" pitchFamily="34" charset="0"/>
                <a:ea typeface="Quattrocento Sans" pitchFamily="34" charset="-122"/>
                <a:cs typeface="Quattrocento Sans" pitchFamily="34" charset="-120"/>
              </a:rPr>
              <a:t>Security</a:t>
            </a:r>
            <a:endParaRPr lang="en-US" sz="1600" dirty="0"/>
          </a:p>
        </p:txBody>
      </p:sp>
      <p:sp>
        <p:nvSpPr>
          <p:cNvPr id="35" name="Text 33"/>
          <p:cNvSpPr/>
          <p:nvPr/>
        </p:nvSpPr>
        <p:spPr>
          <a:xfrm>
            <a:off x="8531200" y="3055938"/>
            <a:ext cx="2913063" cy="127000"/>
          </a:xfrm>
          <a:prstGeom prst="rect">
            <a:avLst/>
          </a:prstGeom>
          <a:noFill/>
          <a:ln/>
        </p:spPr>
        <p:txBody>
          <a:bodyPr wrap="square" lIns="0" tIns="0" rIns="0" bIns="0" rtlCol="0" anchor="ctr"/>
          <a:lstStyle/>
          <a:p>
            <a:pPr algn="ctr">
              <a:lnSpc>
                <a:spcPct val="110000"/>
              </a:lnSpc>
            </a:pPr>
            <a:r>
              <a:rPr lang="en-US" sz="1600" dirty="0">
                <a:solidFill>
                  <a:srgbClr val="A9A299"/>
                </a:solidFill>
                <a:latin typeface="Quattrocento Sans" pitchFamily="34" charset="0"/>
                <a:ea typeface="Quattrocento Sans" pitchFamily="34" charset="-122"/>
                <a:cs typeface="Quattrocento Sans" pitchFamily="34" charset="-120"/>
              </a:rPr>
              <a:t>Compromised</a:t>
            </a:r>
            <a:endParaRPr lang="en-US" sz="1600" dirty="0"/>
          </a:p>
        </p:txBody>
      </p:sp>
      <p:sp>
        <p:nvSpPr>
          <p:cNvPr id="36" name="Shape 34"/>
          <p:cNvSpPr/>
          <p:nvPr/>
        </p:nvSpPr>
        <p:spPr>
          <a:xfrm>
            <a:off x="5108525" y="3571875"/>
            <a:ext cx="6572250" cy="2000250"/>
          </a:xfrm>
          <a:custGeom>
            <a:avLst/>
            <a:gdLst/>
            <a:ahLst/>
            <a:cxnLst/>
            <a:rect l="l" t="t" r="r" b="b"/>
            <a:pathLst>
              <a:path w="6572250" h="2000250">
                <a:moveTo>
                  <a:pt x="0" y="0"/>
                </a:moveTo>
                <a:lnTo>
                  <a:pt x="6572250" y="0"/>
                </a:lnTo>
                <a:lnTo>
                  <a:pt x="6572250" y="2000250"/>
                </a:lnTo>
                <a:lnTo>
                  <a:pt x="0" y="2000250"/>
                </a:lnTo>
                <a:lnTo>
                  <a:pt x="0" y="0"/>
                </a:lnTo>
                <a:close/>
              </a:path>
            </a:pathLst>
          </a:custGeom>
          <a:solidFill>
            <a:srgbClr val="C87E62">
              <a:alpha val="10196"/>
            </a:srgbClr>
          </a:solidFill>
          <a:ln/>
        </p:spPr>
      </p:sp>
      <p:sp>
        <p:nvSpPr>
          <p:cNvPr id="37" name="Shape 35"/>
          <p:cNvSpPr/>
          <p:nvPr/>
        </p:nvSpPr>
        <p:spPr>
          <a:xfrm>
            <a:off x="5108525" y="3571875"/>
            <a:ext cx="31750" cy="2000250"/>
          </a:xfrm>
          <a:custGeom>
            <a:avLst/>
            <a:gdLst/>
            <a:ahLst/>
            <a:cxnLst/>
            <a:rect l="l" t="t" r="r" b="b"/>
            <a:pathLst>
              <a:path w="31750" h="2000250">
                <a:moveTo>
                  <a:pt x="0" y="0"/>
                </a:moveTo>
                <a:lnTo>
                  <a:pt x="31750" y="0"/>
                </a:lnTo>
                <a:lnTo>
                  <a:pt x="31750" y="2000250"/>
                </a:lnTo>
                <a:lnTo>
                  <a:pt x="0" y="2000250"/>
                </a:lnTo>
                <a:lnTo>
                  <a:pt x="0" y="0"/>
                </a:lnTo>
                <a:close/>
              </a:path>
            </a:pathLst>
          </a:custGeom>
          <a:solidFill>
            <a:srgbClr val="C87E62"/>
          </a:solidFill>
          <a:ln/>
        </p:spPr>
      </p:sp>
      <p:sp>
        <p:nvSpPr>
          <p:cNvPr id="38" name="Shape 36"/>
          <p:cNvSpPr/>
          <p:nvPr/>
        </p:nvSpPr>
        <p:spPr>
          <a:xfrm>
            <a:off x="5283150" y="37306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C87E62"/>
          </a:solidFill>
          <a:ln/>
        </p:spPr>
      </p:sp>
      <p:sp>
        <p:nvSpPr>
          <p:cNvPr id="39" name="Text 37"/>
          <p:cNvSpPr/>
          <p:nvPr/>
        </p:nvSpPr>
        <p:spPr>
          <a:xfrm>
            <a:off x="5243463" y="3730625"/>
            <a:ext cx="396875" cy="317500"/>
          </a:xfrm>
          <a:prstGeom prst="rect">
            <a:avLst/>
          </a:prstGeom>
          <a:noFill/>
          <a:ln/>
        </p:spPr>
        <p:txBody>
          <a:bodyPr wrap="square" lIns="0" tIns="0" rIns="0" bIns="0" rtlCol="0" anchor="ctr"/>
          <a:lstStyle/>
          <a:p>
            <a:pPr algn="ctr">
              <a:lnSpc>
                <a:spcPct val="120000"/>
              </a:lnSpc>
            </a:pPr>
            <a:r>
              <a:rPr lang="en-US" sz="1250" b="1" dirty="0">
                <a:solidFill>
                  <a:srgbClr val="F8F7F5"/>
                </a:solidFill>
                <a:latin typeface="Liter" pitchFamily="34" charset="0"/>
                <a:ea typeface="Liter" pitchFamily="34" charset="-122"/>
                <a:cs typeface="Liter" pitchFamily="34" charset="-120"/>
              </a:rPr>
              <a:t>2</a:t>
            </a:r>
            <a:endParaRPr lang="en-US" sz="1600" dirty="0"/>
          </a:p>
        </p:txBody>
      </p:sp>
      <p:sp>
        <p:nvSpPr>
          <p:cNvPr id="40" name="Text 38"/>
          <p:cNvSpPr/>
          <p:nvPr/>
        </p:nvSpPr>
        <p:spPr>
          <a:xfrm>
            <a:off x="5695900" y="3778249"/>
            <a:ext cx="3556000" cy="269876"/>
          </a:xfrm>
          <a:prstGeom prst="rect">
            <a:avLst/>
          </a:prstGeom>
          <a:noFill/>
          <a:ln/>
        </p:spPr>
        <p:txBody>
          <a:bodyPr wrap="square" lIns="0" tIns="0" rIns="0" bIns="0" rtlCol="0" anchor="ctr"/>
          <a:lstStyle/>
          <a:p>
            <a:pPr>
              <a:lnSpc>
                <a:spcPct val="120000"/>
              </a:lnSpc>
            </a:pPr>
            <a:r>
              <a:rPr lang="en-US" sz="1600" b="1" dirty="0">
                <a:solidFill>
                  <a:srgbClr val="2A4D53"/>
                </a:solidFill>
                <a:latin typeface="Liter" pitchFamily="34" charset="0"/>
                <a:ea typeface="Liter" pitchFamily="34" charset="-122"/>
                <a:cs typeface="Liter" pitchFamily="34" charset="-120"/>
              </a:rPr>
              <a:t>Resource Aggregation</a:t>
            </a:r>
            <a:endParaRPr lang="en-US" sz="1600" dirty="0"/>
          </a:p>
        </p:txBody>
      </p:sp>
      <p:sp>
        <p:nvSpPr>
          <p:cNvPr id="41" name="Shape 39"/>
          <p:cNvSpPr/>
          <p:nvPr/>
        </p:nvSpPr>
        <p:spPr>
          <a:xfrm>
            <a:off x="5283150" y="4175125"/>
            <a:ext cx="6238875" cy="571500"/>
          </a:xfrm>
          <a:custGeom>
            <a:avLst/>
            <a:gdLst/>
            <a:ahLst/>
            <a:cxnLst/>
            <a:rect l="l" t="t" r="r" b="b"/>
            <a:pathLst>
              <a:path w="6238875" h="571500">
                <a:moveTo>
                  <a:pt x="0" y="0"/>
                </a:moveTo>
                <a:lnTo>
                  <a:pt x="6238875" y="0"/>
                </a:lnTo>
                <a:lnTo>
                  <a:pt x="6238875" y="571500"/>
                </a:lnTo>
                <a:lnTo>
                  <a:pt x="0" y="571500"/>
                </a:lnTo>
                <a:lnTo>
                  <a:pt x="0" y="0"/>
                </a:lnTo>
                <a:close/>
              </a:path>
            </a:pathLst>
          </a:custGeom>
          <a:solidFill>
            <a:srgbClr val="FFFFFF"/>
          </a:solidFill>
          <a:ln/>
        </p:spPr>
      </p:sp>
      <p:sp>
        <p:nvSpPr>
          <p:cNvPr id="42" name="Text 40"/>
          <p:cNvSpPr/>
          <p:nvPr/>
        </p:nvSpPr>
        <p:spPr>
          <a:xfrm>
            <a:off x="5378400" y="4270375"/>
            <a:ext cx="6111875" cy="190500"/>
          </a:xfrm>
          <a:prstGeom prst="rect">
            <a:avLst/>
          </a:prstGeom>
          <a:noFill/>
          <a:ln/>
        </p:spPr>
        <p:txBody>
          <a:bodyPr wrap="square" lIns="0" tIns="0" rIns="0" bIns="0" rtlCol="0" anchor="ctr"/>
          <a:lstStyle/>
          <a:p>
            <a:pP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Total Staff Metric</a:t>
            </a:r>
            <a:endParaRPr lang="en-US" sz="1600" dirty="0"/>
          </a:p>
        </p:txBody>
      </p:sp>
      <p:sp>
        <p:nvSpPr>
          <p:cNvPr id="43" name="Text 41"/>
          <p:cNvSpPr/>
          <p:nvPr/>
        </p:nvSpPr>
        <p:spPr>
          <a:xfrm>
            <a:off x="5378400" y="4492625"/>
            <a:ext cx="6103938" cy="158750"/>
          </a:xfrm>
          <a:prstGeom prst="rect">
            <a:avLst/>
          </a:prstGeom>
          <a:noFill/>
          <a:ln/>
        </p:spPr>
        <p:txBody>
          <a:bodyPr wrap="square" lIns="0" tIns="0" rIns="0" bIns="0" rtlCol="0" anchor="ctr"/>
          <a:lstStyle/>
          <a:p>
            <a:pPr>
              <a:lnSpc>
                <a:spcPct val="120000"/>
              </a:lnSpc>
            </a:pPr>
            <a:r>
              <a:rPr lang="en-US" sz="1400" dirty="0">
                <a:solidFill>
                  <a:srgbClr val="A9A299"/>
                </a:solidFill>
                <a:latin typeface="Quattrocento Sans" pitchFamily="34" charset="0"/>
                <a:ea typeface="Quattrocento Sans" pitchFamily="34" charset="-122"/>
                <a:cs typeface="Quattrocento Sans" pitchFamily="34" charset="-120"/>
              </a:rPr>
              <a:t>Nurses + Midwives + CHEWs</a:t>
            </a:r>
            <a:endParaRPr lang="en-US" sz="1400" dirty="0"/>
          </a:p>
        </p:txBody>
      </p:sp>
      <p:sp>
        <p:nvSpPr>
          <p:cNvPr id="44" name="Shape 42"/>
          <p:cNvSpPr/>
          <p:nvPr/>
        </p:nvSpPr>
        <p:spPr>
          <a:xfrm>
            <a:off x="5283150" y="4841875"/>
            <a:ext cx="6238875" cy="571500"/>
          </a:xfrm>
          <a:custGeom>
            <a:avLst/>
            <a:gdLst/>
            <a:ahLst/>
            <a:cxnLst/>
            <a:rect l="l" t="t" r="r" b="b"/>
            <a:pathLst>
              <a:path w="6238875" h="571500">
                <a:moveTo>
                  <a:pt x="0" y="0"/>
                </a:moveTo>
                <a:lnTo>
                  <a:pt x="6238875" y="0"/>
                </a:lnTo>
                <a:lnTo>
                  <a:pt x="6238875" y="571500"/>
                </a:lnTo>
                <a:lnTo>
                  <a:pt x="0" y="571500"/>
                </a:lnTo>
                <a:lnTo>
                  <a:pt x="0" y="0"/>
                </a:lnTo>
                <a:close/>
              </a:path>
            </a:pathLst>
          </a:custGeom>
          <a:solidFill>
            <a:srgbClr val="FFFFFF"/>
          </a:solidFill>
          <a:ln/>
        </p:spPr>
      </p:sp>
      <p:sp>
        <p:nvSpPr>
          <p:cNvPr id="45" name="Text 43"/>
          <p:cNvSpPr/>
          <p:nvPr/>
        </p:nvSpPr>
        <p:spPr>
          <a:xfrm>
            <a:off x="5378400" y="4937125"/>
            <a:ext cx="6111875" cy="190500"/>
          </a:xfrm>
          <a:prstGeom prst="rect">
            <a:avLst/>
          </a:prstGeom>
          <a:noFill/>
          <a:ln/>
        </p:spPr>
        <p:txBody>
          <a:bodyPr wrap="square" lIns="0" tIns="0" rIns="0" bIns="0" rtlCol="0" anchor="ctr"/>
          <a:lstStyle/>
          <a:p>
            <a:pPr>
              <a:lnSpc>
                <a:spcPct val="130000"/>
              </a:lnSpc>
            </a:pPr>
            <a:r>
              <a:rPr lang="en-US" sz="1600" b="1" dirty="0">
                <a:solidFill>
                  <a:srgbClr val="2A4D53"/>
                </a:solidFill>
                <a:latin typeface="Quattrocento Sans" pitchFamily="34" charset="0"/>
                <a:ea typeface="Quattrocento Sans" pitchFamily="34" charset="-122"/>
                <a:cs typeface="Quattrocento Sans" pitchFamily="34" charset="-120"/>
              </a:rPr>
              <a:t>Total Commodities Score</a:t>
            </a:r>
            <a:endParaRPr lang="en-US" sz="1600" dirty="0"/>
          </a:p>
        </p:txBody>
      </p:sp>
      <p:sp>
        <p:nvSpPr>
          <p:cNvPr id="46" name="Text 44"/>
          <p:cNvSpPr/>
          <p:nvPr/>
        </p:nvSpPr>
        <p:spPr>
          <a:xfrm>
            <a:off x="5378400" y="5159375"/>
            <a:ext cx="6103938" cy="158750"/>
          </a:xfrm>
          <a:prstGeom prst="rect">
            <a:avLst/>
          </a:prstGeom>
          <a:noFill/>
          <a:ln/>
        </p:spPr>
        <p:txBody>
          <a:bodyPr wrap="square" lIns="0" tIns="0" rIns="0" bIns="0" rtlCol="0" anchor="ctr"/>
          <a:lstStyle/>
          <a:p>
            <a:pPr>
              <a:lnSpc>
                <a:spcPct val="120000"/>
              </a:lnSpc>
            </a:pPr>
            <a:r>
              <a:rPr lang="en-US" sz="1600" dirty="0">
                <a:solidFill>
                  <a:srgbClr val="A9A299"/>
                </a:solidFill>
                <a:latin typeface="Quattrocento Sans" pitchFamily="34" charset="0"/>
                <a:ea typeface="Quattrocento Sans" pitchFamily="34" charset="-122"/>
                <a:cs typeface="Quattrocento Sans" pitchFamily="34" charset="-120"/>
              </a:rPr>
              <a:t>Drugs + Contraceptives combined</a:t>
            </a:r>
            <a:endParaRPr lang="en-US" sz="1600" dirty="0"/>
          </a:p>
        </p:txBody>
      </p:sp>
      <p:sp>
        <p:nvSpPr>
          <p:cNvPr id="47" name="Shape 45"/>
          <p:cNvSpPr/>
          <p:nvPr/>
        </p:nvSpPr>
        <p:spPr>
          <a:xfrm>
            <a:off x="5092650" y="5699125"/>
            <a:ext cx="6588125" cy="1174750"/>
          </a:xfrm>
          <a:custGeom>
            <a:avLst/>
            <a:gdLst/>
            <a:ahLst/>
            <a:cxnLst/>
            <a:rect l="l" t="t" r="r" b="b"/>
            <a:pathLst>
              <a:path w="6588125" h="1174750">
                <a:moveTo>
                  <a:pt x="0" y="0"/>
                </a:moveTo>
                <a:lnTo>
                  <a:pt x="6588125" y="0"/>
                </a:lnTo>
                <a:lnTo>
                  <a:pt x="6588125" y="1174750"/>
                </a:lnTo>
                <a:lnTo>
                  <a:pt x="0" y="1174750"/>
                </a:lnTo>
                <a:lnTo>
                  <a:pt x="0" y="0"/>
                </a:lnTo>
                <a:close/>
              </a:path>
            </a:pathLst>
          </a:custGeom>
          <a:solidFill>
            <a:srgbClr val="2A4D53"/>
          </a:solidFill>
          <a:ln/>
        </p:spPr>
      </p:sp>
      <p:sp>
        <p:nvSpPr>
          <p:cNvPr id="48" name="Shape 46"/>
          <p:cNvSpPr/>
          <p:nvPr/>
        </p:nvSpPr>
        <p:spPr>
          <a:xfrm>
            <a:off x="5251400" y="585787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C87E62"/>
          </a:solidFill>
          <a:ln/>
        </p:spPr>
      </p:sp>
      <p:sp>
        <p:nvSpPr>
          <p:cNvPr id="49" name="Text 47"/>
          <p:cNvSpPr/>
          <p:nvPr/>
        </p:nvSpPr>
        <p:spPr>
          <a:xfrm>
            <a:off x="5211713" y="5857875"/>
            <a:ext cx="396875" cy="317500"/>
          </a:xfrm>
          <a:prstGeom prst="rect">
            <a:avLst/>
          </a:prstGeom>
          <a:noFill/>
          <a:ln/>
        </p:spPr>
        <p:txBody>
          <a:bodyPr wrap="square" lIns="0" tIns="0" rIns="0" bIns="0" rtlCol="0" anchor="ctr"/>
          <a:lstStyle/>
          <a:p>
            <a:pPr algn="ctr">
              <a:lnSpc>
                <a:spcPct val="120000"/>
              </a:lnSpc>
            </a:pPr>
            <a:r>
              <a:rPr lang="en-US" sz="1250" b="1" dirty="0">
                <a:solidFill>
                  <a:srgbClr val="F8F7F5"/>
                </a:solidFill>
                <a:latin typeface="Liter" pitchFamily="34" charset="0"/>
                <a:ea typeface="Liter" pitchFamily="34" charset="-122"/>
                <a:cs typeface="Liter" pitchFamily="34" charset="-120"/>
              </a:rPr>
              <a:t>3</a:t>
            </a:r>
            <a:endParaRPr lang="en-US" sz="1600" dirty="0"/>
          </a:p>
        </p:txBody>
      </p:sp>
      <p:sp>
        <p:nvSpPr>
          <p:cNvPr id="50" name="Text 48"/>
          <p:cNvSpPr/>
          <p:nvPr/>
        </p:nvSpPr>
        <p:spPr>
          <a:xfrm>
            <a:off x="5648275" y="5860897"/>
            <a:ext cx="2791644" cy="269875"/>
          </a:xfrm>
          <a:prstGeom prst="rect">
            <a:avLst/>
          </a:prstGeom>
          <a:noFill/>
          <a:ln/>
        </p:spPr>
        <p:txBody>
          <a:bodyPr wrap="square" lIns="0" tIns="0" rIns="0" bIns="0" rtlCol="0" anchor="ctr"/>
          <a:lstStyle/>
          <a:p>
            <a:pPr>
              <a:lnSpc>
                <a:spcPct val="120000"/>
              </a:lnSpc>
            </a:pPr>
            <a:r>
              <a:rPr lang="en-US" sz="1600" b="1" dirty="0">
                <a:solidFill>
                  <a:srgbClr val="F8F7F5"/>
                </a:solidFill>
                <a:latin typeface="Liter" pitchFamily="34" charset="0"/>
                <a:ea typeface="Liter" pitchFamily="34" charset="-122"/>
                <a:cs typeface="Liter" pitchFamily="34" charset="-120"/>
              </a:rPr>
              <a:t>Comparative Profiling</a:t>
            </a:r>
            <a:endParaRPr lang="en-US" sz="1600" dirty="0"/>
          </a:p>
        </p:txBody>
      </p:sp>
      <p:sp>
        <p:nvSpPr>
          <p:cNvPr id="51" name="Text 49"/>
          <p:cNvSpPr/>
          <p:nvPr/>
        </p:nvSpPr>
        <p:spPr>
          <a:xfrm>
            <a:off x="5219649" y="6144617"/>
            <a:ext cx="6334125" cy="613172"/>
          </a:xfrm>
          <a:prstGeom prst="rect">
            <a:avLst/>
          </a:prstGeom>
          <a:noFill/>
          <a:ln/>
        </p:spPr>
        <p:txBody>
          <a:bodyPr wrap="square" lIns="0" tIns="0" rIns="0" bIns="0" rtlCol="0" anchor="ctr"/>
          <a:lstStyle/>
          <a:p>
            <a:pPr>
              <a:lnSpc>
                <a:spcPct val="140000"/>
              </a:lnSpc>
            </a:pPr>
            <a:r>
              <a:rPr lang="en-US" sz="1200" dirty="0">
                <a:solidFill>
                  <a:srgbClr val="F8F7F5"/>
                </a:solidFill>
                <a:latin typeface="Quattrocento Sans" pitchFamily="34" charset="0"/>
                <a:ea typeface="Quattrocento Sans" pitchFamily="34" charset="-122"/>
                <a:cs typeface="Quattrocento Sans" pitchFamily="34" charset="-120"/>
              </a:rPr>
              <a:t>Calculated the </a:t>
            </a:r>
            <a:r>
              <a:rPr lang="en-US" sz="1200" b="1" dirty="0">
                <a:solidFill>
                  <a:srgbClr val="F8F7F5"/>
                </a:solidFill>
                <a:latin typeface="Quattrocento Sans" pitchFamily="34" charset="0"/>
                <a:ea typeface="Quattrocento Sans" pitchFamily="34" charset="-122"/>
                <a:cs typeface="Quattrocento Sans" pitchFamily="34" charset="-120"/>
              </a:rPr>
              <a:t>Average (Mean)</a:t>
            </a:r>
            <a:r>
              <a:rPr lang="en-US" sz="1200" dirty="0">
                <a:solidFill>
                  <a:srgbClr val="F8F7F5"/>
                </a:solidFill>
                <a:latin typeface="Quattrocento Sans" pitchFamily="34" charset="0"/>
                <a:ea typeface="Quattrocento Sans" pitchFamily="34" charset="-122"/>
                <a:cs typeface="Quattrocento Sans" pitchFamily="34" charset="-120"/>
              </a:rPr>
              <a:t> staff and commodity levels for "Risk Areas" versus "Safe Areas" to prove if the disadvantage is a </a:t>
            </a:r>
            <a:r>
              <a:rPr lang="en-US" sz="1200" dirty="0">
                <a:solidFill>
                  <a:srgbClr val="F8F7F5"/>
                </a:solidFill>
                <a:highlight>
                  <a:srgbClr val="C87E62">
                    <a:alpha val="30000"/>
                  </a:srgbClr>
                </a:highlight>
                <a:latin typeface="Quattrocento Sans" pitchFamily="34" charset="0"/>
                <a:ea typeface="Quattrocento Sans" pitchFamily="34" charset="-122"/>
                <a:cs typeface="Quattrocento Sans" pitchFamily="34" charset="-120"/>
              </a:rPr>
              <a:t>widespread trend </a:t>
            </a:r>
            <a:r>
              <a:rPr lang="en-US" sz="1200" dirty="0">
                <a:solidFill>
                  <a:srgbClr val="F8F7F5"/>
                </a:solidFill>
                <a:latin typeface="Quattrocento Sans" pitchFamily="34" charset="0"/>
                <a:ea typeface="Quattrocento Sans" pitchFamily="34" charset="-122"/>
                <a:cs typeface="Quattrocento Sans" pitchFamily="34" charset="-120"/>
              </a:rPr>
              <a:t>rather than a one-off occurrence.</a:t>
            </a:r>
            <a:endParaRPr lang="en-US" sz="1200" dirty="0"/>
          </a:p>
        </p:txBody>
      </p:sp>
    </p:spTree>
    <p:extLst>
      <p:ext uri="{BB962C8B-B14F-4D97-AF65-F5344CB8AC3E}">
        <p14:creationId xmlns:p14="http://schemas.microsoft.com/office/powerpoint/2010/main" val="274735481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62865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87E62"/>
          </a:solidFill>
          <a:ln/>
        </p:spPr>
      </p:sp>
      <p:sp>
        <p:nvSpPr>
          <p:cNvPr id="4" name="Text 2"/>
          <p:cNvSpPr/>
          <p:nvPr/>
        </p:nvSpPr>
        <p:spPr>
          <a:xfrm>
            <a:off x="1371599" y="609600"/>
            <a:ext cx="4291263" cy="304800"/>
          </a:xfrm>
          <a:prstGeom prst="rect">
            <a:avLst/>
          </a:prstGeom>
          <a:noFill/>
          <a:ln/>
        </p:spPr>
        <p:txBody>
          <a:bodyPr wrap="square" lIns="0" tIns="0" rIns="0" bIns="0" rtlCol="0" anchor="ctr"/>
          <a:lstStyle/>
          <a:p>
            <a:pPr>
              <a:lnSpc>
                <a:spcPct val="110000"/>
              </a:lnSpc>
            </a:pPr>
            <a:r>
              <a:rPr lang="en-US" sz="2000" b="1" dirty="0">
                <a:solidFill>
                  <a:srgbClr val="2A4D53"/>
                </a:solidFill>
                <a:latin typeface="Liter" pitchFamily="34" charset="0"/>
                <a:ea typeface="Liter" pitchFamily="34" charset="-122"/>
                <a:cs typeface="Liter" pitchFamily="34" charset="-120"/>
              </a:rPr>
              <a:t>Risk Impact on Service Readiness</a:t>
            </a:r>
            <a:endParaRPr lang="en-US" sz="2000" dirty="0"/>
          </a:p>
        </p:txBody>
      </p:sp>
      <p:sp>
        <p:nvSpPr>
          <p:cNvPr id="5" name="Shape 3"/>
          <p:cNvSpPr/>
          <p:nvPr/>
        </p:nvSpPr>
        <p:spPr>
          <a:xfrm>
            <a:off x="143376" y="1554079"/>
            <a:ext cx="6743700" cy="1123950"/>
          </a:xfrm>
          <a:custGeom>
            <a:avLst/>
            <a:gdLst/>
            <a:ahLst/>
            <a:cxnLst/>
            <a:rect l="l" t="t" r="r" b="b"/>
            <a:pathLst>
              <a:path w="6743700" h="1123950">
                <a:moveTo>
                  <a:pt x="38100" y="0"/>
                </a:moveTo>
                <a:lnTo>
                  <a:pt x="6667496" y="0"/>
                </a:lnTo>
                <a:cubicBezTo>
                  <a:pt x="6709582" y="0"/>
                  <a:pt x="6743700" y="34118"/>
                  <a:pt x="6743700" y="76204"/>
                </a:cubicBezTo>
                <a:lnTo>
                  <a:pt x="6743700" y="1047746"/>
                </a:lnTo>
                <a:cubicBezTo>
                  <a:pt x="6743700" y="1089832"/>
                  <a:pt x="6709582" y="1123950"/>
                  <a:pt x="6667496" y="1123950"/>
                </a:cubicBezTo>
                <a:lnTo>
                  <a:pt x="38100" y="1123950"/>
                </a:lnTo>
                <a:cubicBezTo>
                  <a:pt x="17072" y="1123950"/>
                  <a:pt x="0" y="1106878"/>
                  <a:pt x="0" y="1085850"/>
                </a:cubicBezTo>
                <a:lnTo>
                  <a:pt x="0" y="38100"/>
                </a:lnTo>
                <a:cubicBezTo>
                  <a:pt x="0" y="17072"/>
                  <a:pt x="17072" y="0"/>
                  <a:pt x="38100" y="0"/>
                </a:cubicBezTo>
                <a:close/>
              </a:path>
            </a:pathLst>
          </a:custGeom>
          <a:solidFill>
            <a:srgbClr val="FEF2F2"/>
          </a:solidFill>
          <a:ln/>
        </p:spPr>
      </p:sp>
      <p:sp>
        <p:nvSpPr>
          <p:cNvPr id="6" name="Shape 4"/>
          <p:cNvSpPr/>
          <p:nvPr/>
        </p:nvSpPr>
        <p:spPr>
          <a:xfrm>
            <a:off x="143376" y="1554079"/>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FB2C36"/>
          </a:solidFill>
          <a:ln/>
        </p:spPr>
      </p:sp>
      <p:sp>
        <p:nvSpPr>
          <p:cNvPr id="7" name="Text 5"/>
          <p:cNvSpPr/>
          <p:nvPr/>
        </p:nvSpPr>
        <p:spPr>
          <a:xfrm>
            <a:off x="352926" y="1744579"/>
            <a:ext cx="6419850" cy="742950"/>
          </a:xfrm>
          <a:prstGeom prst="rect">
            <a:avLst/>
          </a:prstGeom>
          <a:noFill/>
          <a:ln/>
        </p:spPr>
        <p:txBody>
          <a:bodyPr wrap="square" lIns="0" tIns="0" rIns="0" bIns="0" rtlCol="0" anchor="ctr"/>
          <a:lstStyle/>
          <a:p>
            <a:pPr algn="just">
              <a:lnSpc>
                <a:spcPct val="140000"/>
              </a:lnSpc>
            </a:pPr>
            <a:r>
              <a:rPr lang="en-US" sz="1400" dirty="0">
                <a:solidFill>
                  <a:srgbClr val="2A4D53"/>
                </a:solidFill>
                <a:latin typeface="Liter" pitchFamily="34" charset="0"/>
                <a:ea typeface="Liter" pitchFamily="34" charset="-122"/>
                <a:cs typeface="Liter" pitchFamily="34" charset="-120"/>
              </a:rPr>
              <a:t>Our analysis proves that </a:t>
            </a:r>
            <a:r>
              <a:rPr lang="en-US" sz="1400" b="1" dirty="0">
                <a:solidFill>
                  <a:srgbClr val="2A4D53"/>
                </a:solidFill>
                <a:latin typeface="Liter" pitchFamily="34" charset="0"/>
                <a:ea typeface="Liter" pitchFamily="34" charset="-122"/>
                <a:cs typeface="Liter" pitchFamily="34" charset="-120"/>
              </a:rPr>
              <a:t>environmental risks create structural inequality</a:t>
            </a:r>
            <a:r>
              <a:rPr lang="en-US" sz="1400" dirty="0">
                <a:solidFill>
                  <a:srgbClr val="2A4D53"/>
                </a:solidFill>
                <a:latin typeface="Liter" pitchFamily="34" charset="0"/>
                <a:ea typeface="Liter" pitchFamily="34" charset="-122"/>
                <a:cs typeface="Liter" pitchFamily="34" charset="-120"/>
              </a:rPr>
              <a:t> in healthcare access. Facilities in HTR and insecure areas are systematically disadvantaged, operating with </a:t>
            </a:r>
            <a:r>
              <a:rPr lang="en-US" sz="1400" b="1" dirty="0">
                <a:solidFill>
                  <a:srgbClr val="E7000B"/>
                </a:solidFill>
                <a:latin typeface="Liter" pitchFamily="34" charset="0"/>
                <a:ea typeface="Liter" pitchFamily="34" charset="-122"/>
                <a:cs typeface="Liter" pitchFamily="34" charset="-120"/>
              </a:rPr>
              <a:t>44% less staff</a:t>
            </a:r>
            <a:r>
              <a:rPr lang="en-US" sz="1400" dirty="0">
                <a:solidFill>
                  <a:srgbClr val="2A4D53"/>
                </a:solidFill>
                <a:latin typeface="Liter" pitchFamily="34" charset="0"/>
                <a:ea typeface="Liter" pitchFamily="34" charset="-122"/>
                <a:cs typeface="Liter" pitchFamily="34" charset="-120"/>
              </a:rPr>
              <a:t> and </a:t>
            </a:r>
            <a:r>
              <a:rPr lang="en-US" sz="1400" b="1" dirty="0">
                <a:solidFill>
                  <a:srgbClr val="E7000B"/>
                </a:solidFill>
                <a:latin typeface="Liter" pitchFamily="34" charset="0"/>
                <a:ea typeface="Liter" pitchFamily="34" charset="-122"/>
                <a:cs typeface="Liter" pitchFamily="34" charset="-120"/>
              </a:rPr>
              <a:t>40% fewer essential commodities</a:t>
            </a:r>
            <a:r>
              <a:rPr lang="en-US" sz="1400" dirty="0">
                <a:solidFill>
                  <a:srgbClr val="2A4D53"/>
                </a:solidFill>
                <a:latin typeface="Liter" pitchFamily="34" charset="0"/>
                <a:ea typeface="Liter" pitchFamily="34" charset="-122"/>
                <a:cs typeface="Liter" pitchFamily="34" charset="-120"/>
              </a:rPr>
              <a:t> than safe areas.</a:t>
            </a:r>
            <a:endParaRPr lang="en-US" sz="1400" dirty="0"/>
          </a:p>
        </p:txBody>
      </p:sp>
      <p:sp>
        <p:nvSpPr>
          <p:cNvPr id="8" name="Shape 6"/>
          <p:cNvSpPr/>
          <p:nvPr/>
        </p:nvSpPr>
        <p:spPr>
          <a:xfrm>
            <a:off x="143376" y="2868529"/>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2A4D53"/>
          </a:solidFill>
          <a:ln/>
        </p:spPr>
      </p:sp>
      <p:sp>
        <p:nvSpPr>
          <p:cNvPr id="9" name="Text 7"/>
          <p:cNvSpPr/>
          <p:nvPr/>
        </p:nvSpPr>
        <p:spPr>
          <a:xfrm>
            <a:off x="352926" y="3059029"/>
            <a:ext cx="6419850" cy="495300"/>
          </a:xfrm>
          <a:prstGeom prst="rect">
            <a:avLst/>
          </a:prstGeom>
          <a:noFill/>
          <a:ln/>
        </p:spPr>
        <p:txBody>
          <a:bodyPr wrap="square" lIns="0" tIns="0" rIns="0" bIns="0" rtlCol="0" anchor="ctr"/>
          <a:lstStyle/>
          <a:p>
            <a:pPr algn="just">
              <a:lnSpc>
                <a:spcPct val="140000"/>
              </a:lnSpc>
            </a:pPr>
            <a:r>
              <a:rPr lang="en-US" sz="1500" dirty="0">
                <a:solidFill>
                  <a:srgbClr val="2A4D53"/>
                </a:solidFill>
                <a:latin typeface="Liter" pitchFamily="34" charset="0"/>
                <a:ea typeface="Liter" pitchFamily="34" charset="-122"/>
                <a:cs typeface="Liter" pitchFamily="34" charset="-120"/>
              </a:rPr>
              <a:t>Furthermore, the increased travel distance in these zones (</a:t>
            </a:r>
            <a:r>
              <a:rPr lang="en-US" sz="1500" b="1" dirty="0">
                <a:solidFill>
                  <a:srgbClr val="2A4D53"/>
                </a:solidFill>
                <a:latin typeface="Liter" pitchFamily="34" charset="0"/>
                <a:ea typeface="Liter" pitchFamily="34" charset="-122"/>
                <a:cs typeface="Liter" pitchFamily="34" charset="-120"/>
              </a:rPr>
              <a:t>3.63 km</a:t>
            </a:r>
            <a:r>
              <a:rPr lang="en-US" sz="1500" dirty="0">
                <a:solidFill>
                  <a:srgbClr val="2A4D53"/>
                </a:solidFill>
                <a:latin typeface="Liter" pitchFamily="34" charset="0"/>
                <a:ea typeface="Liter" pitchFamily="34" charset="-122"/>
                <a:cs typeface="Liter" pitchFamily="34" charset="-120"/>
              </a:rPr>
              <a:t>) compounds the risk for patients seeking care at under-resourced centers.</a:t>
            </a:r>
            <a:endParaRPr lang="en-US" sz="1500" dirty="0"/>
          </a:p>
        </p:txBody>
      </p:sp>
      <p:sp>
        <p:nvSpPr>
          <p:cNvPr id="10" name="Shape 8"/>
          <p:cNvSpPr/>
          <p:nvPr/>
        </p:nvSpPr>
        <p:spPr>
          <a:xfrm>
            <a:off x="143376" y="3935329"/>
            <a:ext cx="38100" cy="1123950"/>
          </a:xfrm>
          <a:custGeom>
            <a:avLst/>
            <a:gdLst/>
            <a:ahLst/>
            <a:cxnLst/>
            <a:rect l="l" t="t" r="r" b="b"/>
            <a:pathLst>
              <a:path w="38100" h="1123950">
                <a:moveTo>
                  <a:pt x="38100" y="0"/>
                </a:moveTo>
                <a:lnTo>
                  <a:pt x="38100" y="0"/>
                </a:lnTo>
                <a:lnTo>
                  <a:pt x="38100" y="1123950"/>
                </a:lnTo>
                <a:lnTo>
                  <a:pt x="38100" y="1123950"/>
                </a:lnTo>
                <a:cubicBezTo>
                  <a:pt x="17072" y="1123950"/>
                  <a:pt x="0" y="1106878"/>
                  <a:pt x="0" y="1085850"/>
                </a:cubicBezTo>
                <a:lnTo>
                  <a:pt x="0" y="38100"/>
                </a:lnTo>
                <a:cubicBezTo>
                  <a:pt x="0" y="17072"/>
                  <a:pt x="17072" y="0"/>
                  <a:pt x="38100" y="0"/>
                </a:cubicBezTo>
                <a:close/>
              </a:path>
            </a:pathLst>
          </a:custGeom>
          <a:solidFill>
            <a:srgbClr val="C87E62"/>
          </a:solidFill>
          <a:ln/>
        </p:spPr>
      </p:sp>
      <p:sp>
        <p:nvSpPr>
          <p:cNvPr id="11" name="Shape 9"/>
          <p:cNvSpPr/>
          <p:nvPr/>
        </p:nvSpPr>
        <p:spPr>
          <a:xfrm>
            <a:off x="238626" y="4125829"/>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C87E62"/>
          </a:solidFill>
          <a:ln/>
        </p:spPr>
      </p:sp>
      <p:sp>
        <p:nvSpPr>
          <p:cNvPr id="12" name="Text 10"/>
          <p:cNvSpPr/>
          <p:nvPr/>
        </p:nvSpPr>
        <p:spPr>
          <a:xfrm>
            <a:off x="476751" y="4112795"/>
            <a:ext cx="6172200" cy="742950"/>
          </a:xfrm>
          <a:prstGeom prst="rect">
            <a:avLst/>
          </a:prstGeom>
          <a:noFill/>
          <a:ln/>
        </p:spPr>
        <p:txBody>
          <a:bodyPr wrap="square" lIns="0" tIns="0" rIns="0" bIns="0" rtlCol="0" anchor="ctr"/>
          <a:lstStyle/>
          <a:p>
            <a:pPr algn="just">
              <a:lnSpc>
                <a:spcPct val="140000"/>
              </a:lnSpc>
            </a:pPr>
            <a:r>
              <a:rPr lang="en-US" sz="1600" dirty="0">
                <a:solidFill>
                  <a:srgbClr val="2A4D53"/>
                </a:solidFill>
                <a:latin typeface="Liter" pitchFamily="34" charset="0"/>
                <a:ea typeface="Liter" pitchFamily="34" charset="-122"/>
                <a:cs typeface="Liter" pitchFamily="34" charset="-120"/>
              </a:rPr>
              <a:t>To achieve health equity, we recommend implementing </a:t>
            </a:r>
            <a:r>
              <a:rPr lang="en-US" sz="1600" b="1" dirty="0">
                <a:solidFill>
                  <a:srgbClr val="2A4D53"/>
                </a:solidFill>
                <a:latin typeface="Liter" pitchFamily="34" charset="0"/>
                <a:ea typeface="Liter" pitchFamily="34" charset="-122"/>
                <a:cs typeface="Liter" pitchFamily="34" charset="-120"/>
              </a:rPr>
              <a:t>specialized 'Hard-to-Reach' supply routes</a:t>
            </a:r>
            <a:r>
              <a:rPr lang="en-US" sz="1600" dirty="0">
                <a:solidFill>
                  <a:srgbClr val="2A4D53"/>
                </a:solidFill>
                <a:latin typeface="Liter" pitchFamily="34" charset="0"/>
                <a:ea typeface="Liter" pitchFamily="34" charset="-122"/>
                <a:cs typeface="Liter" pitchFamily="34" charset="-120"/>
              </a:rPr>
              <a:t> and </a:t>
            </a:r>
            <a:r>
              <a:rPr lang="en-US" sz="1600" b="1" dirty="0">
                <a:solidFill>
                  <a:srgbClr val="2A4D53"/>
                </a:solidFill>
                <a:latin typeface="Liter" pitchFamily="34" charset="0"/>
                <a:ea typeface="Liter" pitchFamily="34" charset="-122"/>
                <a:cs typeface="Liter" pitchFamily="34" charset="-120"/>
              </a:rPr>
              <a:t>risk-based staffing incentives</a:t>
            </a:r>
            <a:r>
              <a:rPr lang="en-US" sz="1600" dirty="0">
                <a:solidFill>
                  <a:srgbClr val="2A4D53"/>
                </a:solidFill>
                <a:latin typeface="Liter" pitchFamily="34" charset="0"/>
                <a:ea typeface="Liter" pitchFamily="34" charset="-122"/>
                <a:cs typeface="Liter" pitchFamily="34" charset="-120"/>
              </a:rPr>
              <a:t> to ensure that safety and geography do not dictate the quality of care provided to our citizens.</a:t>
            </a:r>
            <a:endParaRPr lang="en-US" sz="1600" dirty="0"/>
          </a:p>
        </p:txBody>
      </p:sp>
      <p:pic>
        <p:nvPicPr>
          <p:cNvPr id="15" name="Picture 14">
            <a:extLst>
              <a:ext uri="{FF2B5EF4-FFF2-40B4-BE49-F238E27FC236}">
                <a16:creationId xmlns:a16="http://schemas.microsoft.com/office/drawing/2014/main" id="{EB29EA8D-5182-AF46-C898-977FB46512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49000" y="609600"/>
            <a:ext cx="4999623" cy="6047874"/>
          </a:xfrm>
          <a:prstGeom prst="rect">
            <a:avLst/>
          </a:prstGeom>
        </p:spPr>
      </p:pic>
    </p:spTree>
    <p:extLst>
      <p:ext uri="{BB962C8B-B14F-4D97-AF65-F5344CB8AC3E}">
        <p14:creationId xmlns:p14="http://schemas.microsoft.com/office/powerpoint/2010/main" val="239185725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64770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87E62"/>
          </a:solidFill>
          <a:ln/>
        </p:spPr>
      </p:sp>
      <p:sp>
        <p:nvSpPr>
          <p:cNvPr id="3" name="Text 1"/>
          <p:cNvSpPr/>
          <p:nvPr/>
        </p:nvSpPr>
        <p:spPr>
          <a:xfrm>
            <a:off x="1371600" y="127836"/>
            <a:ext cx="7191375" cy="190500"/>
          </a:xfrm>
          <a:prstGeom prst="rect">
            <a:avLst/>
          </a:prstGeom>
          <a:noFill/>
          <a:ln/>
        </p:spPr>
        <p:txBody>
          <a:bodyPr wrap="square" lIns="0" tIns="0" rIns="0" bIns="0" rtlCol="0" anchor="ctr"/>
          <a:lstStyle/>
          <a:p>
            <a:pPr>
              <a:lnSpc>
                <a:spcPct val="120000"/>
              </a:lnSpc>
            </a:pPr>
            <a:r>
              <a:rPr lang="en-US" sz="2000" b="1" kern="0" spc="53" dirty="0">
                <a:solidFill>
                  <a:srgbClr val="A9A299"/>
                </a:solidFill>
                <a:latin typeface="Liter" pitchFamily="34" charset="0"/>
                <a:ea typeface="Liter" pitchFamily="34" charset="-122"/>
                <a:cs typeface="Liter" pitchFamily="34" charset="-120"/>
              </a:rPr>
              <a:t>Question 5</a:t>
            </a:r>
            <a:endParaRPr lang="en-US" sz="2000" dirty="0"/>
          </a:p>
        </p:txBody>
      </p:sp>
      <p:sp>
        <p:nvSpPr>
          <p:cNvPr id="4" name="Text 2"/>
          <p:cNvSpPr/>
          <p:nvPr/>
        </p:nvSpPr>
        <p:spPr>
          <a:xfrm>
            <a:off x="1371600" y="609600"/>
            <a:ext cx="8050857" cy="285750"/>
          </a:xfrm>
          <a:prstGeom prst="rect">
            <a:avLst/>
          </a:prstGeom>
          <a:noFill/>
          <a:ln/>
        </p:spPr>
        <p:txBody>
          <a:bodyPr wrap="square" lIns="0" tIns="0" rIns="0" bIns="0" rtlCol="0" anchor="ctr"/>
          <a:lstStyle/>
          <a:p>
            <a:pPr>
              <a:lnSpc>
                <a:spcPct val="100000"/>
              </a:lnSpc>
            </a:pPr>
            <a:r>
              <a:rPr lang="en-US" sz="2250" b="1" dirty="0">
                <a:solidFill>
                  <a:srgbClr val="2A4D53"/>
                </a:solidFill>
                <a:latin typeface="Liter" pitchFamily="34" charset="0"/>
                <a:ea typeface="Liter" pitchFamily="34" charset="-122"/>
                <a:cs typeface="Liter" pitchFamily="34" charset="-120"/>
              </a:rPr>
              <a:t>Which 20% of Wards Contribute to 80% of Unmet Need?</a:t>
            </a:r>
            <a:endParaRPr lang="en-US" sz="1600" dirty="0"/>
          </a:p>
        </p:txBody>
      </p:sp>
      <p:sp>
        <p:nvSpPr>
          <p:cNvPr id="5" name="Shape 3"/>
          <p:cNvSpPr/>
          <p:nvPr/>
        </p:nvSpPr>
        <p:spPr>
          <a:xfrm>
            <a:off x="381000" y="1181100"/>
            <a:ext cx="5562600" cy="1333500"/>
          </a:xfrm>
          <a:custGeom>
            <a:avLst/>
            <a:gdLst/>
            <a:ahLst/>
            <a:cxnLst/>
            <a:rect l="l" t="t" r="r" b="b"/>
            <a:pathLst>
              <a:path w="5562600" h="1333500">
                <a:moveTo>
                  <a:pt x="76196" y="0"/>
                </a:moveTo>
                <a:lnTo>
                  <a:pt x="5486404" y="0"/>
                </a:lnTo>
                <a:cubicBezTo>
                  <a:pt x="5528486" y="0"/>
                  <a:pt x="5562600" y="34114"/>
                  <a:pt x="5562600" y="76196"/>
                </a:cubicBezTo>
                <a:lnTo>
                  <a:pt x="5562600" y="1257304"/>
                </a:lnTo>
                <a:cubicBezTo>
                  <a:pt x="5562600" y="1299386"/>
                  <a:pt x="5528486" y="1333500"/>
                  <a:pt x="5486404" y="1333500"/>
                </a:cubicBezTo>
                <a:lnTo>
                  <a:pt x="76196" y="1333500"/>
                </a:lnTo>
                <a:cubicBezTo>
                  <a:pt x="34114" y="1333500"/>
                  <a:pt x="0" y="1299386"/>
                  <a:pt x="0" y="1257304"/>
                </a:cubicBezTo>
                <a:lnTo>
                  <a:pt x="0" y="76196"/>
                </a:lnTo>
                <a:cubicBezTo>
                  <a:pt x="0" y="34142"/>
                  <a:pt x="34142" y="0"/>
                  <a:pt x="76196" y="0"/>
                </a:cubicBezTo>
                <a:close/>
              </a:path>
            </a:pathLst>
          </a:custGeom>
          <a:solidFill>
            <a:srgbClr val="F9FAFB"/>
          </a:solidFill>
          <a:ln/>
        </p:spPr>
      </p:sp>
      <p:sp>
        <p:nvSpPr>
          <p:cNvPr id="6" name="Shape 4"/>
          <p:cNvSpPr/>
          <p:nvPr/>
        </p:nvSpPr>
        <p:spPr>
          <a:xfrm>
            <a:off x="621506" y="1447800"/>
            <a:ext cx="214313" cy="190500"/>
          </a:xfrm>
          <a:custGeom>
            <a:avLst/>
            <a:gdLst/>
            <a:ahLst/>
            <a:cxnLst/>
            <a:rect l="l" t="t" r="r" b="b"/>
            <a:pathLst>
              <a:path w="214313" h="190500">
                <a:moveTo>
                  <a:pt x="190649" y="89297"/>
                </a:moveTo>
                <a:lnTo>
                  <a:pt x="125164" y="89297"/>
                </a:lnTo>
                <a:cubicBezTo>
                  <a:pt x="118579" y="89297"/>
                  <a:pt x="113258" y="83976"/>
                  <a:pt x="113258" y="77391"/>
                </a:cubicBezTo>
                <a:lnTo>
                  <a:pt x="113258" y="11906"/>
                </a:lnTo>
                <a:cubicBezTo>
                  <a:pt x="113258" y="5321"/>
                  <a:pt x="118616" y="-74"/>
                  <a:pt x="125127" y="781"/>
                </a:cubicBezTo>
                <a:cubicBezTo>
                  <a:pt x="164939" y="6065"/>
                  <a:pt x="196490" y="37616"/>
                  <a:pt x="201774" y="77428"/>
                </a:cubicBezTo>
                <a:cubicBezTo>
                  <a:pt x="202629" y="83939"/>
                  <a:pt x="197234" y="89297"/>
                  <a:pt x="190649" y="89297"/>
                </a:cubicBezTo>
                <a:close/>
                <a:moveTo>
                  <a:pt x="82823" y="13841"/>
                </a:moveTo>
                <a:cubicBezTo>
                  <a:pt x="89557" y="12427"/>
                  <a:pt x="95399" y="17934"/>
                  <a:pt x="95399" y="24817"/>
                </a:cubicBezTo>
                <a:lnTo>
                  <a:pt x="95399" y="98227"/>
                </a:lnTo>
                <a:cubicBezTo>
                  <a:pt x="95399" y="100310"/>
                  <a:pt x="96143" y="102319"/>
                  <a:pt x="97445" y="103919"/>
                </a:cubicBezTo>
                <a:lnTo>
                  <a:pt x="146596" y="163227"/>
                </a:lnTo>
                <a:cubicBezTo>
                  <a:pt x="150949" y="168473"/>
                  <a:pt x="150019" y="176399"/>
                  <a:pt x="144028" y="179636"/>
                </a:cubicBezTo>
                <a:cubicBezTo>
                  <a:pt x="131341" y="186556"/>
                  <a:pt x="116793" y="190500"/>
                  <a:pt x="101352" y="190500"/>
                </a:cubicBezTo>
                <a:cubicBezTo>
                  <a:pt x="52053" y="190500"/>
                  <a:pt x="12055" y="150502"/>
                  <a:pt x="12055" y="101203"/>
                </a:cubicBezTo>
                <a:cubicBezTo>
                  <a:pt x="12055" y="58229"/>
                  <a:pt x="42379" y="22361"/>
                  <a:pt x="82823" y="13841"/>
                </a:cubicBezTo>
                <a:close/>
                <a:moveTo>
                  <a:pt x="177775" y="107156"/>
                </a:moveTo>
                <a:lnTo>
                  <a:pt x="201588" y="107156"/>
                </a:lnTo>
                <a:cubicBezTo>
                  <a:pt x="208471" y="107156"/>
                  <a:pt x="213978" y="112998"/>
                  <a:pt x="212564" y="119732"/>
                </a:cubicBezTo>
                <a:cubicBezTo>
                  <a:pt x="208769" y="137740"/>
                  <a:pt x="199541" y="153739"/>
                  <a:pt x="186668" y="165943"/>
                </a:cubicBezTo>
                <a:cubicBezTo>
                  <a:pt x="182091" y="170297"/>
                  <a:pt x="174910" y="169366"/>
                  <a:pt x="170892" y="164492"/>
                </a:cubicBezTo>
                <a:lnTo>
                  <a:pt x="139489" y="126653"/>
                </a:lnTo>
                <a:cubicBezTo>
                  <a:pt x="133052" y="118876"/>
                  <a:pt x="138596" y="107156"/>
                  <a:pt x="148642" y="107156"/>
                </a:cubicBezTo>
                <a:lnTo>
                  <a:pt x="177738" y="107156"/>
                </a:lnTo>
                <a:close/>
              </a:path>
            </a:pathLst>
          </a:custGeom>
          <a:solidFill>
            <a:srgbClr val="C87E62"/>
          </a:solidFill>
          <a:ln/>
        </p:spPr>
      </p:sp>
      <p:sp>
        <p:nvSpPr>
          <p:cNvPr id="7" name="Text 5"/>
          <p:cNvSpPr/>
          <p:nvPr/>
        </p:nvSpPr>
        <p:spPr>
          <a:xfrm>
            <a:off x="847725" y="1409700"/>
            <a:ext cx="4962525" cy="266700"/>
          </a:xfrm>
          <a:prstGeom prst="rect">
            <a:avLst/>
          </a:prstGeom>
          <a:noFill/>
          <a:ln/>
        </p:spPr>
        <p:txBody>
          <a:bodyPr wrap="square" lIns="0" tIns="0" rIns="0" bIns="0" rtlCol="0" anchor="ctr"/>
          <a:lstStyle/>
          <a:p>
            <a:pPr>
              <a:lnSpc>
                <a:spcPct val="120000"/>
              </a:lnSpc>
            </a:pPr>
            <a:r>
              <a:rPr lang="en-US" b="1" dirty="0">
                <a:solidFill>
                  <a:srgbClr val="2A4D53"/>
                </a:solidFill>
                <a:latin typeface="Liter" pitchFamily="34" charset="0"/>
                <a:ea typeface="Liter" pitchFamily="34" charset="-122"/>
                <a:cs typeface="Liter" pitchFamily="34" charset="-120"/>
              </a:rPr>
              <a:t>The Pareto Principle (80/20 Rule)</a:t>
            </a:r>
            <a:endParaRPr lang="en-US" dirty="0"/>
          </a:p>
        </p:txBody>
      </p:sp>
      <p:sp>
        <p:nvSpPr>
          <p:cNvPr id="8" name="Text 6"/>
          <p:cNvSpPr/>
          <p:nvPr/>
        </p:nvSpPr>
        <p:spPr>
          <a:xfrm>
            <a:off x="609600" y="1790700"/>
            <a:ext cx="5181600" cy="495300"/>
          </a:xfrm>
          <a:prstGeom prst="rect">
            <a:avLst/>
          </a:prstGeom>
          <a:noFill/>
          <a:ln/>
        </p:spPr>
        <p:txBody>
          <a:bodyPr wrap="square" lIns="0" tIns="0" rIns="0" bIns="0" rtlCol="0" anchor="ctr"/>
          <a:lstStyle/>
          <a:p>
            <a:pPr>
              <a:lnSpc>
                <a:spcPct val="140000"/>
              </a:lnSpc>
            </a:pPr>
            <a:r>
              <a:rPr lang="en-US" sz="1600" dirty="0">
                <a:solidFill>
                  <a:srgbClr val="2A4D53"/>
                </a:solidFill>
                <a:latin typeface="Liter" pitchFamily="34" charset="0"/>
                <a:ea typeface="Liter" pitchFamily="34" charset="-122"/>
                <a:cs typeface="Liter" pitchFamily="34" charset="-120"/>
              </a:rPr>
              <a:t>States that a small number of causes often account for a large share of outcomes.</a:t>
            </a:r>
            <a:endParaRPr lang="en-US" sz="1600" dirty="0"/>
          </a:p>
        </p:txBody>
      </p:sp>
      <p:sp>
        <p:nvSpPr>
          <p:cNvPr id="9" name="Shape 7"/>
          <p:cNvSpPr/>
          <p:nvPr/>
        </p:nvSpPr>
        <p:spPr>
          <a:xfrm>
            <a:off x="381000" y="2743200"/>
            <a:ext cx="5562600" cy="1752600"/>
          </a:xfrm>
          <a:custGeom>
            <a:avLst/>
            <a:gdLst/>
            <a:ahLst/>
            <a:cxnLst/>
            <a:rect l="l" t="t" r="r" b="b"/>
            <a:pathLst>
              <a:path w="5562600" h="1752600">
                <a:moveTo>
                  <a:pt x="76203" y="0"/>
                </a:moveTo>
                <a:lnTo>
                  <a:pt x="5486397" y="0"/>
                </a:lnTo>
                <a:cubicBezTo>
                  <a:pt x="5528483" y="0"/>
                  <a:pt x="5562600" y="34117"/>
                  <a:pt x="5562600" y="76203"/>
                </a:cubicBezTo>
                <a:lnTo>
                  <a:pt x="5562600" y="1676397"/>
                </a:lnTo>
                <a:cubicBezTo>
                  <a:pt x="5562600" y="1718483"/>
                  <a:pt x="5528483" y="1752600"/>
                  <a:pt x="5486397" y="1752600"/>
                </a:cubicBezTo>
                <a:lnTo>
                  <a:pt x="76203" y="1752600"/>
                </a:lnTo>
                <a:cubicBezTo>
                  <a:pt x="34117" y="1752600"/>
                  <a:pt x="0" y="1718483"/>
                  <a:pt x="0" y="1676397"/>
                </a:cubicBezTo>
                <a:lnTo>
                  <a:pt x="0" y="76203"/>
                </a:lnTo>
                <a:cubicBezTo>
                  <a:pt x="0" y="34145"/>
                  <a:pt x="34145" y="0"/>
                  <a:pt x="76203" y="0"/>
                </a:cubicBezTo>
                <a:close/>
              </a:path>
            </a:pathLst>
          </a:custGeom>
          <a:solidFill>
            <a:srgbClr val="F9FAFB"/>
          </a:solidFill>
          <a:ln/>
        </p:spPr>
      </p:sp>
      <p:sp>
        <p:nvSpPr>
          <p:cNvPr id="10" name="Text 8"/>
          <p:cNvSpPr/>
          <p:nvPr/>
        </p:nvSpPr>
        <p:spPr>
          <a:xfrm>
            <a:off x="609600" y="2971800"/>
            <a:ext cx="5191125" cy="266700"/>
          </a:xfrm>
          <a:prstGeom prst="rect">
            <a:avLst/>
          </a:prstGeom>
          <a:noFill/>
          <a:ln/>
        </p:spPr>
        <p:txBody>
          <a:bodyPr wrap="square" lIns="0" tIns="0" rIns="0" bIns="0" rtlCol="0" anchor="ctr"/>
          <a:lstStyle/>
          <a:p>
            <a:pPr>
              <a:lnSpc>
                <a:spcPct val="130000"/>
              </a:lnSpc>
            </a:pPr>
            <a:r>
              <a:rPr lang="en-US" sz="1600" b="1" dirty="0">
                <a:solidFill>
                  <a:srgbClr val="2A4D53"/>
                </a:solidFill>
                <a:latin typeface="Liter" pitchFamily="34" charset="0"/>
                <a:ea typeface="Liter" pitchFamily="34" charset="-122"/>
                <a:cs typeface="Liter" pitchFamily="34" charset="-120"/>
              </a:rPr>
              <a:t>Purpose:</a:t>
            </a:r>
            <a:endParaRPr lang="en-US" sz="1600" dirty="0"/>
          </a:p>
        </p:txBody>
      </p:sp>
      <p:sp>
        <p:nvSpPr>
          <p:cNvPr id="11" name="Shape 9"/>
          <p:cNvSpPr/>
          <p:nvPr/>
        </p:nvSpPr>
        <p:spPr>
          <a:xfrm>
            <a:off x="628650" y="3390900"/>
            <a:ext cx="152400" cy="152400"/>
          </a:xfrm>
          <a:custGeom>
            <a:avLst/>
            <a:gdLst/>
            <a:ahLst/>
            <a:cxnLst/>
            <a:rect l="l" t="t" r="r" b="b"/>
            <a:pathLst>
              <a:path w="152400" h="152400">
                <a:moveTo>
                  <a:pt x="133350" y="76200"/>
                </a:moveTo>
                <a:cubicBezTo>
                  <a:pt x="133350" y="44658"/>
                  <a:pt x="107742" y="19050"/>
                  <a:pt x="76200" y="19050"/>
                </a:cubicBezTo>
                <a:cubicBezTo>
                  <a:pt x="44658" y="19050"/>
                  <a:pt x="19050" y="44658"/>
                  <a:pt x="19050" y="76200"/>
                </a:cubicBezTo>
                <a:cubicBezTo>
                  <a:pt x="19050" y="107742"/>
                  <a:pt x="44658" y="133350"/>
                  <a:pt x="76200" y="133350"/>
                </a:cubicBezTo>
                <a:cubicBezTo>
                  <a:pt x="107742" y="133350"/>
                  <a:pt x="133350" y="107742"/>
                  <a:pt x="133350" y="76200"/>
                </a:cubicBezTo>
                <a:close/>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moveTo>
                  <a:pt x="76200" y="100013"/>
                </a:moveTo>
                <a:cubicBezTo>
                  <a:pt x="89342" y="100013"/>
                  <a:pt x="100013" y="89342"/>
                  <a:pt x="100013" y="76200"/>
                </a:cubicBezTo>
                <a:cubicBezTo>
                  <a:pt x="100013" y="63058"/>
                  <a:pt x="89342" y="52388"/>
                  <a:pt x="76200" y="52388"/>
                </a:cubicBezTo>
                <a:cubicBezTo>
                  <a:pt x="63058" y="52388"/>
                  <a:pt x="52388" y="63058"/>
                  <a:pt x="52388" y="76200"/>
                </a:cubicBezTo>
                <a:cubicBezTo>
                  <a:pt x="52388" y="89342"/>
                  <a:pt x="63058" y="100013"/>
                  <a:pt x="76200" y="100013"/>
                </a:cubicBezTo>
                <a:close/>
                <a:moveTo>
                  <a:pt x="76200" y="33338"/>
                </a:moveTo>
                <a:cubicBezTo>
                  <a:pt x="99856" y="33338"/>
                  <a:pt x="119062" y="52544"/>
                  <a:pt x="119062" y="76200"/>
                </a:cubicBezTo>
                <a:cubicBezTo>
                  <a:pt x="119062" y="99856"/>
                  <a:pt x="99856" y="119062"/>
                  <a:pt x="76200" y="119062"/>
                </a:cubicBezTo>
                <a:cubicBezTo>
                  <a:pt x="52544" y="119062"/>
                  <a:pt x="33338" y="99856"/>
                  <a:pt x="33338" y="76200"/>
                </a:cubicBezTo>
                <a:cubicBezTo>
                  <a:pt x="33338" y="52544"/>
                  <a:pt x="52544" y="33338"/>
                  <a:pt x="76200" y="33338"/>
                </a:cubicBezTo>
                <a:close/>
                <a:moveTo>
                  <a:pt x="66675" y="76200"/>
                </a:moveTo>
                <a:cubicBezTo>
                  <a:pt x="66675" y="70943"/>
                  <a:pt x="70943" y="66675"/>
                  <a:pt x="76200" y="66675"/>
                </a:cubicBezTo>
                <a:cubicBezTo>
                  <a:pt x="81457" y="66675"/>
                  <a:pt x="85725" y="70943"/>
                  <a:pt x="85725" y="76200"/>
                </a:cubicBezTo>
                <a:cubicBezTo>
                  <a:pt x="85725" y="81457"/>
                  <a:pt x="81457" y="85725"/>
                  <a:pt x="76200" y="85725"/>
                </a:cubicBezTo>
                <a:cubicBezTo>
                  <a:pt x="70943" y="85725"/>
                  <a:pt x="66675" y="81457"/>
                  <a:pt x="66675" y="76200"/>
                </a:cubicBezTo>
                <a:close/>
              </a:path>
            </a:pathLst>
          </a:custGeom>
          <a:solidFill>
            <a:srgbClr val="C87E62"/>
          </a:solidFill>
          <a:ln/>
        </p:spPr>
      </p:sp>
      <p:sp>
        <p:nvSpPr>
          <p:cNvPr id="12" name="Text 10"/>
          <p:cNvSpPr/>
          <p:nvPr/>
        </p:nvSpPr>
        <p:spPr>
          <a:xfrm>
            <a:off x="914399" y="3352800"/>
            <a:ext cx="4379495" cy="304800"/>
          </a:xfrm>
          <a:prstGeom prst="rect">
            <a:avLst/>
          </a:prstGeom>
          <a:noFill/>
          <a:ln/>
        </p:spPr>
        <p:txBody>
          <a:bodyPr wrap="square" lIns="0" tIns="0" rIns="0" bIns="0" rtlCol="0" anchor="ctr"/>
          <a:lstStyle/>
          <a:p>
            <a:pPr>
              <a:lnSpc>
                <a:spcPct val="130000"/>
              </a:lnSpc>
            </a:pPr>
            <a:r>
              <a:rPr lang="en-US" sz="1400" dirty="0">
                <a:solidFill>
                  <a:srgbClr val="2A4D53"/>
                </a:solidFill>
                <a:latin typeface="Liter" pitchFamily="34" charset="0"/>
                <a:ea typeface="Liter" pitchFamily="34" charset="-122"/>
                <a:cs typeface="Liter" pitchFamily="34" charset="-120"/>
              </a:rPr>
              <a:t>Focus on where problems are most concentrated</a:t>
            </a:r>
            <a:endParaRPr lang="en-US" sz="1400" dirty="0"/>
          </a:p>
        </p:txBody>
      </p:sp>
      <p:sp>
        <p:nvSpPr>
          <p:cNvPr id="13" name="Shape 11"/>
          <p:cNvSpPr/>
          <p:nvPr/>
        </p:nvSpPr>
        <p:spPr>
          <a:xfrm>
            <a:off x="619125" y="3733800"/>
            <a:ext cx="171450" cy="152400"/>
          </a:xfrm>
          <a:custGeom>
            <a:avLst/>
            <a:gdLst/>
            <a:ahLst/>
            <a:cxnLst/>
            <a:rect l="l" t="t" r="r" b="b"/>
            <a:pathLst>
              <a:path w="171450" h="152400">
                <a:moveTo>
                  <a:pt x="85725" y="-4762"/>
                </a:moveTo>
                <a:cubicBezTo>
                  <a:pt x="90994" y="-4762"/>
                  <a:pt x="95250" y="-506"/>
                  <a:pt x="95250" y="4763"/>
                </a:cubicBezTo>
                <a:lnTo>
                  <a:pt x="95250" y="10210"/>
                </a:lnTo>
                <a:cubicBezTo>
                  <a:pt x="124450" y="14377"/>
                  <a:pt x="147548" y="37475"/>
                  <a:pt x="151715" y="66675"/>
                </a:cubicBezTo>
                <a:lnTo>
                  <a:pt x="157163" y="66675"/>
                </a:lnTo>
                <a:cubicBezTo>
                  <a:pt x="162431" y="66675"/>
                  <a:pt x="166688" y="70931"/>
                  <a:pt x="166688" y="76200"/>
                </a:cubicBezTo>
                <a:cubicBezTo>
                  <a:pt x="166688" y="81469"/>
                  <a:pt x="162431" y="85725"/>
                  <a:pt x="157163" y="85725"/>
                </a:cubicBezTo>
                <a:lnTo>
                  <a:pt x="151715" y="85725"/>
                </a:lnTo>
                <a:cubicBezTo>
                  <a:pt x="147548" y="114925"/>
                  <a:pt x="124450" y="138023"/>
                  <a:pt x="95250" y="142190"/>
                </a:cubicBezTo>
                <a:lnTo>
                  <a:pt x="95250" y="147638"/>
                </a:lnTo>
                <a:cubicBezTo>
                  <a:pt x="95250" y="152906"/>
                  <a:pt x="90994" y="157163"/>
                  <a:pt x="85725" y="157163"/>
                </a:cubicBezTo>
                <a:cubicBezTo>
                  <a:pt x="80456" y="157163"/>
                  <a:pt x="76200" y="152906"/>
                  <a:pt x="76200" y="147638"/>
                </a:cubicBezTo>
                <a:lnTo>
                  <a:pt x="76200" y="142190"/>
                </a:lnTo>
                <a:cubicBezTo>
                  <a:pt x="47000" y="138023"/>
                  <a:pt x="23902" y="114925"/>
                  <a:pt x="19735" y="85725"/>
                </a:cubicBezTo>
                <a:lnTo>
                  <a:pt x="14288" y="85725"/>
                </a:lnTo>
                <a:cubicBezTo>
                  <a:pt x="9019" y="85725"/>
                  <a:pt x="4763" y="81469"/>
                  <a:pt x="4763" y="76200"/>
                </a:cubicBezTo>
                <a:cubicBezTo>
                  <a:pt x="4763" y="70931"/>
                  <a:pt x="9019" y="66675"/>
                  <a:pt x="14288" y="66675"/>
                </a:cubicBezTo>
                <a:lnTo>
                  <a:pt x="19735" y="66675"/>
                </a:lnTo>
                <a:cubicBezTo>
                  <a:pt x="23902" y="37475"/>
                  <a:pt x="47000" y="14377"/>
                  <a:pt x="76200" y="10210"/>
                </a:cubicBezTo>
                <a:lnTo>
                  <a:pt x="76200" y="4763"/>
                </a:lnTo>
                <a:cubicBezTo>
                  <a:pt x="76200" y="-506"/>
                  <a:pt x="80456" y="-4762"/>
                  <a:pt x="85725" y="-4762"/>
                </a:cubicBezTo>
                <a:close/>
                <a:moveTo>
                  <a:pt x="39052" y="85725"/>
                </a:moveTo>
                <a:cubicBezTo>
                  <a:pt x="42833" y="104388"/>
                  <a:pt x="57537" y="119092"/>
                  <a:pt x="76200" y="122873"/>
                </a:cubicBezTo>
                <a:lnTo>
                  <a:pt x="76200" y="119062"/>
                </a:lnTo>
                <a:cubicBezTo>
                  <a:pt x="76200" y="113794"/>
                  <a:pt x="80456" y="109537"/>
                  <a:pt x="85725" y="109537"/>
                </a:cubicBezTo>
                <a:cubicBezTo>
                  <a:pt x="90994" y="109537"/>
                  <a:pt x="95250" y="113794"/>
                  <a:pt x="95250" y="119062"/>
                </a:cubicBezTo>
                <a:lnTo>
                  <a:pt x="95250" y="122873"/>
                </a:lnTo>
                <a:cubicBezTo>
                  <a:pt x="113913" y="119092"/>
                  <a:pt x="128617" y="104388"/>
                  <a:pt x="132398" y="85725"/>
                </a:cubicBezTo>
                <a:lnTo>
                  <a:pt x="128588" y="85725"/>
                </a:lnTo>
                <a:cubicBezTo>
                  <a:pt x="123319" y="85725"/>
                  <a:pt x="119062" y="81469"/>
                  <a:pt x="119062" y="76200"/>
                </a:cubicBezTo>
                <a:cubicBezTo>
                  <a:pt x="119062" y="70931"/>
                  <a:pt x="123319" y="66675"/>
                  <a:pt x="128588" y="66675"/>
                </a:cubicBezTo>
                <a:lnTo>
                  <a:pt x="132398" y="66675"/>
                </a:lnTo>
                <a:cubicBezTo>
                  <a:pt x="128617" y="48012"/>
                  <a:pt x="113913" y="33308"/>
                  <a:pt x="95250" y="29527"/>
                </a:cubicBezTo>
                <a:lnTo>
                  <a:pt x="95250" y="33338"/>
                </a:lnTo>
                <a:cubicBezTo>
                  <a:pt x="95250" y="38606"/>
                  <a:pt x="90994" y="42863"/>
                  <a:pt x="85725" y="42863"/>
                </a:cubicBezTo>
                <a:cubicBezTo>
                  <a:pt x="80456" y="42863"/>
                  <a:pt x="76200" y="38606"/>
                  <a:pt x="76200" y="33338"/>
                </a:cubicBezTo>
                <a:lnTo>
                  <a:pt x="76200" y="29527"/>
                </a:lnTo>
                <a:cubicBezTo>
                  <a:pt x="57537" y="33308"/>
                  <a:pt x="42833" y="48012"/>
                  <a:pt x="39052" y="66675"/>
                </a:cubicBezTo>
                <a:lnTo>
                  <a:pt x="42863" y="66675"/>
                </a:lnTo>
                <a:cubicBezTo>
                  <a:pt x="48131" y="66675"/>
                  <a:pt x="52388" y="70931"/>
                  <a:pt x="52388" y="76200"/>
                </a:cubicBezTo>
                <a:cubicBezTo>
                  <a:pt x="52388" y="81469"/>
                  <a:pt x="48131" y="85725"/>
                  <a:pt x="42863" y="85725"/>
                </a:cubicBezTo>
                <a:lnTo>
                  <a:pt x="39052" y="85725"/>
                </a:lnTo>
                <a:close/>
                <a:moveTo>
                  <a:pt x="85725" y="61912"/>
                </a:moveTo>
                <a:cubicBezTo>
                  <a:pt x="93610" y="61912"/>
                  <a:pt x="100013" y="68315"/>
                  <a:pt x="100013" y="76200"/>
                </a:cubicBezTo>
                <a:cubicBezTo>
                  <a:pt x="100013" y="84085"/>
                  <a:pt x="93610" y="90488"/>
                  <a:pt x="85725" y="90488"/>
                </a:cubicBezTo>
                <a:cubicBezTo>
                  <a:pt x="77840" y="90488"/>
                  <a:pt x="71438" y="84085"/>
                  <a:pt x="71438" y="76200"/>
                </a:cubicBezTo>
                <a:cubicBezTo>
                  <a:pt x="71438" y="68315"/>
                  <a:pt x="77840" y="61912"/>
                  <a:pt x="85725" y="61912"/>
                </a:cubicBezTo>
                <a:close/>
              </a:path>
            </a:pathLst>
          </a:custGeom>
          <a:solidFill>
            <a:srgbClr val="C87E62"/>
          </a:solidFill>
          <a:ln/>
        </p:spPr>
      </p:sp>
      <p:sp>
        <p:nvSpPr>
          <p:cNvPr id="14" name="Text 12"/>
          <p:cNvSpPr/>
          <p:nvPr/>
        </p:nvSpPr>
        <p:spPr>
          <a:xfrm>
            <a:off x="914400" y="3695700"/>
            <a:ext cx="4203032" cy="266700"/>
          </a:xfrm>
          <a:prstGeom prst="rect">
            <a:avLst/>
          </a:prstGeom>
          <a:noFill/>
          <a:ln/>
        </p:spPr>
        <p:txBody>
          <a:bodyPr wrap="square" lIns="0" tIns="0" rIns="0" bIns="0" rtlCol="0" anchor="ctr"/>
          <a:lstStyle/>
          <a:p>
            <a:pPr>
              <a:lnSpc>
                <a:spcPct val="130000"/>
              </a:lnSpc>
            </a:pPr>
            <a:r>
              <a:rPr lang="en-US" sz="1400" dirty="0">
                <a:solidFill>
                  <a:srgbClr val="2A4D53"/>
                </a:solidFill>
                <a:latin typeface="Liter" pitchFamily="34" charset="0"/>
                <a:ea typeface="Liter" pitchFamily="34" charset="-122"/>
                <a:cs typeface="Liter" pitchFamily="34" charset="-120"/>
              </a:rPr>
              <a:t>Direct efforts to areas with the biggest impact</a:t>
            </a:r>
            <a:endParaRPr lang="en-US" sz="1400" dirty="0"/>
          </a:p>
        </p:txBody>
      </p:sp>
      <p:sp>
        <p:nvSpPr>
          <p:cNvPr id="15" name="Shape 13"/>
          <p:cNvSpPr/>
          <p:nvPr/>
        </p:nvSpPr>
        <p:spPr>
          <a:xfrm>
            <a:off x="628650" y="4076700"/>
            <a:ext cx="152400" cy="152400"/>
          </a:xfrm>
          <a:custGeom>
            <a:avLst/>
            <a:gdLst/>
            <a:ahLst/>
            <a:cxnLst/>
            <a:rect l="l" t="t" r="r" b="b"/>
            <a:pathLst>
              <a:path w="152400" h="152400">
                <a:moveTo>
                  <a:pt x="109299" y="122783"/>
                </a:moveTo>
                <a:lnTo>
                  <a:pt x="29617" y="43101"/>
                </a:lnTo>
                <a:cubicBezTo>
                  <a:pt x="22949" y="52447"/>
                  <a:pt x="19050" y="63877"/>
                  <a:pt x="19050" y="76200"/>
                </a:cubicBezTo>
                <a:cubicBezTo>
                  <a:pt x="19050" y="107752"/>
                  <a:pt x="44648" y="133350"/>
                  <a:pt x="76200" y="133350"/>
                </a:cubicBezTo>
                <a:cubicBezTo>
                  <a:pt x="88553" y="133350"/>
                  <a:pt x="99983" y="129451"/>
                  <a:pt x="109299" y="122783"/>
                </a:cubicBezTo>
                <a:close/>
                <a:moveTo>
                  <a:pt x="122783" y="109299"/>
                </a:moveTo>
                <a:cubicBezTo>
                  <a:pt x="129451" y="99953"/>
                  <a:pt x="133350" y="88523"/>
                  <a:pt x="133350" y="76200"/>
                </a:cubicBezTo>
                <a:cubicBezTo>
                  <a:pt x="133350" y="44648"/>
                  <a:pt x="107752" y="19050"/>
                  <a:pt x="76200" y="19050"/>
                </a:cubicBezTo>
                <a:cubicBezTo>
                  <a:pt x="63847" y="19050"/>
                  <a:pt x="52417" y="22949"/>
                  <a:pt x="43101" y="29617"/>
                </a:cubicBezTo>
                <a:lnTo>
                  <a:pt x="122783" y="109299"/>
                </a:lnTo>
                <a:close/>
                <a:moveTo>
                  <a:pt x="0" y="76200"/>
                </a:moveTo>
                <a:cubicBezTo>
                  <a:pt x="0" y="34144"/>
                  <a:pt x="34144" y="0"/>
                  <a:pt x="76200" y="0"/>
                </a:cubicBezTo>
                <a:cubicBezTo>
                  <a:pt x="118256" y="0"/>
                  <a:pt x="152400" y="34144"/>
                  <a:pt x="152400" y="76200"/>
                </a:cubicBezTo>
                <a:cubicBezTo>
                  <a:pt x="152400" y="118256"/>
                  <a:pt x="118256" y="152400"/>
                  <a:pt x="76200" y="152400"/>
                </a:cubicBezTo>
                <a:cubicBezTo>
                  <a:pt x="34144" y="152400"/>
                  <a:pt x="0" y="118256"/>
                  <a:pt x="0" y="76200"/>
                </a:cubicBezTo>
                <a:close/>
              </a:path>
            </a:pathLst>
          </a:custGeom>
          <a:solidFill>
            <a:srgbClr val="C87E62"/>
          </a:solidFill>
          <a:ln/>
        </p:spPr>
      </p:sp>
      <p:sp>
        <p:nvSpPr>
          <p:cNvPr id="16" name="Text 14"/>
          <p:cNvSpPr/>
          <p:nvPr/>
        </p:nvSpPr>
        <p:spPr>
          <a:xfrm>
            <a:off x="914399" y="4038600"/>
            <a:ext cx="3577389" cy="304800"/>
          </a:xfrm>
          <a:prstGeom prst="rect">
            <a:avLst/>
          </a:prstGeom>
          <a:noFill/>
          <a:ln/>
        </p:spPr>
        <p:txBody>
          <a:bodyPr wrap="square" lIns="0" tIns="0" rIns="0" bIns="0" rtlCol="0" anchor="ctr"/>
          <a:lstStyle/>
          <a:p>
            <a:pPr>
              <a:lnSpc>
                <a:spcPct val="130000"/>
              </a:lnSpc>
            </a:pPr>
            <a:r>
              <a:rPr lang="en-US" sz="1400" dirty="0">
                <a:solidFill>
                  <a:srgbClr val="2A4D53"/>
                </a:solidFill>
                <a:latin typeface="Liter" pitchFamily="34" charset="0"/>
                <a:ea typeface="Liter" pitchFamily="34" charset="-122"/>
                <a:cs typeface="Liter" pitchFamily="34" charset="-120"/>
              </a:rPr>
              <a:t>Avoid spreading resources too thin</a:t>
            </a:r>
            <a:endParaRPr lang="en-US" sz="1400" dirty="0"/>
          </a:p>
        </p:txBody>
      </p:sp>
      <p:sp>
        <p:nvSpPr>
          <p:cNvPr id="17" name="Shape 15"/>
          <p:cNvSpPr/>
          <p:nvPr/>
        </p:nvSpPr>
        <p:spPr>
          <a:xfrm>
            <a:off x="6248400" y="1181100"/>
            <a:ext cx="5562600" cy="5295900"/>
          </a:xfrm>
          <a:custGeom>
            <a:avLst/>
            <a:gdLst/>
            <a:ahLst/>
            <a:cxnLst/>
            <a:rect l="l" t="t" r="r" b="b"/>
            <a:pathLst>
              <a:path w="5562600" h="5295900">
                <a:moveTo>
                  <a:pt x="76208" y="0"/>
                </a:moveTo>
                <a:lnTo>
                  <a:pt x="5486392" y="0"/>
                </a:lnTo>
                <a:cubicBezTo>
                  <a:pt x="5528452" y="0"/>
                  <a:pt x="5562600" y="34148"/>
                  <a:pt x="5562600" y="76208"/>
                </a:cubicBezTo>
                <a:lnTo>
                  <a:pt x="5562600" y="5219692"/>
                </a:lnTo>
                <a:cubicBezTo>
                  <a:pt x="5562600" y="5261781"/>
                  <a:pt x="5528481" y="5295900"/>
                  <a:pt x="5486392" y="5295900"/>
                </a:cubicBezTo>
                <a:lnTo>
                  <a:pt x="76208" y="5295900"/>
                </a:lnTo>
                <a:cubicBezTo>
                  <a:pt x="34119" y="5295900"/>
                  <a:pt x="0" y="5261781"/>
                  <a:pt x="0" y="5219692"/>
                </a:cubicBezTo>
                <a:lnTo>
                  <a:pt x="0" y="76208"/>
                </a:lnTo>
                <a:cubicBezTo>
                  <a:pt x="0" y="34148"/>
                  <a:pt x="34148" y="0"/>
                  <a:pt x="76208" y="0"/>
                </a:cubicBezTo>
                <a:close/>
              </a:path>
            </a:pathLst>
          </a:custGeom>
          <a:solidFill>
            <a:srgbClr val="F9FAFB"/>
          </a:solidFill>
          <a:ln/>
        </p:spPr>
      </p:sp>
      <p:sp>
        <p:nvSpPr>
          <p:cNvPr id="18" name="Text 16"/>
          <p:cNvSpPr/>
          <p:nvPr/>
        </p:nvSpPr>
        <p:spPr>
          <a:xfrm>
            <a:off x="6429375" y="1409700"/>
            <a:ext cx="5200650" cy="266700"/>
          </a:xfrm>
          <a:prstGeom prst="rect">
            <a:avLst/>
          </a:prstGeom>
          <a:noFill/>
          <a:ln/>
        </p:spPr>
        <p:txBody>
          <a:bodyPr wrap="square" lIns="0" tIns="0" rIns="0" bIns="0" rtlCol="0" anchor="ctr"/>
          <a:lstStyle/>
          <a:p>
            <a:pPr algn="ctr">
              <a:lnSpc>
                <a:spcPct val="120000"/>
              </a:lnSpc>
            </a:pPr>
            <a:r>
              <a:rPr lang="en-US" sz="1600" b="1" dirty="0">
                <a:solidFill>
                  <a:srgbClr val="2A4D53"/>
                </a:solidFill>
                <a:latin typeface="Liter" pitchFamily="34" charset="0"/>
                <a:ea typeface="Liter" pitchFamily="34" charset="-122"/>
                <a:cs typeface="Liter" pitchFamily="34" charset="-120"/>
              </a:rPr>
              <a:t>Pareto Analysis Framework</a:t>
            </a:r>
            <a:endParaRPr lang="en-US" sz="1600" dirty="0"/>
          </a:p>
        </p:txBody>
      </p:sp>
      <p:sp>
        <p:nvSpPr>
          <p:cNvPr id="19" name="Shape 17"/>
          <p:cNvSpPr/>
          <p:nvPr/>
        </p:nvSpPr>
        <p:spPr>
          <a:xfrm>
            <a:off x="6477000" y="20383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A4D53"/>
          </a:solidFill>
          <a:ln/>
        </p:spPr>
      </p:sp>
      <p:sp>
        <p:nvSpPr>
          <p:cNvPr id="20" name="Text 18"/>
          <p:cNvSpPr/>
          <p:nvPr/>
        </p:nvSpPr>
        <p:spPr>
          <a:xfrm>
            <a:off x="6429375" y="20383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1</a:t>
            </a:r>
            <a:endParaRPr lang="en-US" sz="1600" dirty="0"/>
          </a:p>
        </p:txBody>
      </p:sp>
      <p:sp>
        <p:nvSpPr>
          <p:cNvPr id="21" name="Shape 19"/>
          <p:cNvSpPr/>
          <p:nvPr/>
        </p:nvSpPr>
        <p:spPr>
          <a:xfrm>
            <a:off x="7086600" y="1905000"/>
            <a:ext cx="4495800" cy="723900"/>
          </a:xfrm>
          <a:custGeom>
            <a:avLst/>
            <a:gdLst/>
            <a:ahLst/>
            <a:cxnLst/>
            <a:rect l="l" t="t" r="r" b="b"/>
            <a:pathLst>
              <a:path w="4495800" h="723900">
                <a:moveTo>
                  <a:pt x="76198" y="0"/>
                </a:moveTo>
                <a:lnTo>
                  <a:pt x="4419602" y="0"/>
                </a:lnTo>
                <a:cubicBezTo>
                  <a:pt x="4461657" y="0"/>
                  <a:pt x="4495800" y="34143"/>
                  <a:pt x="4495800" y="76198"/>
                </a:cubicBezTo>
                <a:lnTo>
                  <a:pt x="4495800" y="647702"/>
                </a:lnTo>
                <a:cubicBezTo>
                  <a:pt x="4495800" y="689757"/>
                  <a:pt x="4461657" y="723900"/>
                  <a:pt x="4419602" y="723900"/>
                </a:cubicBezTo>
                <a:lnTo>
                  <a:pt x="76198" y="723900"/>
                </a:lnTo>
                <a:cubicBezTo>
                  <a:pt x="34143" y="723900"/>
                  <a:pt x="0" y="689757"/>
                  <a:pt x="0" y="647702"/>
                </a:cubicBezTo>
                <a:lnTo>
                  <a:pt x="0" y="76198"/>
                </a:lnTo>
                <a:cubicBezTo>
                  <a:pt x="0" y="34143"/>
                  <a:pt x="34143" y="0"/>
                  <a:pt x="76198" y="0"/>
                </a:cubicBezTo>
                <a:close/>
              </a:path>
            </a:pathLst>
          </a:custGeom>
          <a:solidFill>
            <a:srgbClr val="FFFFFF"/>
          </a:solidFill>
          <a:ln/>
          <a:effectLst>
            <a:outerShdw blurRad="28575" dist="9525" dir="5400000" algn="bl" rotWithShape="0">
              <a:srgbClr val="000000">
                <a:alpha val="10196"/>
              </a:srgbClr>
            </a:outerShdw>
          </a:effectLst>
        </p:spPr>
      </p:sp>
      <p:sp>
        <p:nvSpPr>
          <p:cNvPr id="22" name="Text 20"/>
          <p:cNvSpPr/>
          <p:nvPr/>
        </p:nvSpPr>
        <p:spPr>
          <a:xfrm>
            <a:off x="7239000" y="1749592"/>
            <a:ext cx="4267200" cy="650708"/>
          </a:xfrm>
          <a:prstGeom prst="rect">
            <a:avLst/>
          </a:prstGeom>
          <a:noFill/>
          <a:ln/>
        </p:spPr>
        <p:txBody>
          <a:bodyPr wrap="square" lIns="0" tIns="0" rIns="0" bIns="0" rtlCol="0" anchor="ctr"/>
          <a:lstStyle/>
          <a:p>
            <a:pPr>
              <a:lnSpc>
                <a:spcPct val="130000"/>
              </a:lnSpc>
            </a:pPr>
            <a:r>
              <a:rPr lang="en-US" sz="1400" b="1" dirty="0">
                <a:solidFill>
                  <a:srgbClr val="2A4D53"/>
                </a:solidFill>
                <a:latin typeface="Liter" pitchFamily="34" charset="0"/>
                <a:ea typeface="Liter" pitchFamily="34" charset="-122"/>
                <a:cs typeface="Liter" pitchFamily="34" charset="-120"/>
              </a:rPr>
              <a:t>To prioritize interventions, we dev. Composite Score</a:t>
            </a:r>
            <a:endParaRPr lang="en-US" sz="1400" dirty="0"/>
          </a:p>
        </p:txBody>
      </p:sp>
      <p:sp>
        <p:nvSpPr>
          <p:cNvPr id="23" name="Text 21"/>
          <p:cNvSpPr/>
          <p:nvPr/>
        </p:nvSpPr>
        <p:spPr>
          <a:xfrm>
            <a:off x="7239000" y="2286000"/>
            <a:ext cx="4257675" cy="190500"/>
          </a:xfrm>
          <a:prstGeom prst="rect">
            <a:avLst/>
          </a:prstGeom>
          <a:noFill/>
          <a:ln/>
        </p:spPr>
        <p:txBody>
          <a:bodyPr wrap="square" lIns="0" tIns="0" rIns="0" bIns="0" rtlCol="0" anchor="ctr"/>
          <a:lstStyle/>
          <a:p>
            <a:pPr>
              <a:lnSpc>
                <a:spcPct val="120000"/>
              </a:lnSpc>
            </a:pPr>
            <a:r>
              <a:rPr lang="en-US" sz="1200" b="1" dirty="0">
                <a:solidFill>
                  <a:srgbClr val="A9A299"/>
                </a:solidFill>
                <a:latin typeface="Liter" pitchFamily="34" charset="0"/>
                <a:ea typeface="Liter" pitchFamily="34" charset="-122"/>
                <a:cs typeface="Liter" pitchFamily="34" charset="-120"/>
              </a:rPr>
              <a:t>Normalize and aggregate three key gap indicators</a:t>
            </a:r>
            <a:endParaRPr lang="en-US" sz="1200" b="1" dirty="0"/>
          </a:p>
        </p:txBody>
      </p:sp>
      <p:sp>
        <p:nvSpPr>
          <p:cNvPr id="24" name="Shape 22"/>
          <p:cNvSpPr/>
          <p:nvPr/>
        </p:nvSpPr>
        <p:spPr>
          <a:xfrm>
            <a:off x="7735788" y="2914650"/>
            <a:ext cx="128588" cy="171450"/>
          </a:xfrm>
          <a:custGeom>
            <a:avLst/>
            <a:gdLst/>
            <a:ahLst/>
            <a:cxnLst/>
            <a:rect l="l" t="t" r="r" b="b"/>
            <a:pathLst>
              <a:path w="128588" h="171450">
                <a:moveTo>
                  <a:pt x="45541" y="8037"/>
                </a:moveTo>
                <a:cubicBezTo>
                  <a:pt x="45541" y="-2313"/>
                  <a:pt x="53944" y="-10716"/>
                  <a:pt x="64294" y="-10716"/>
                </a:cubicBezTo>
                <a:cubicBezTo>
                  <a:pt x="74643" y="-10716"/>
                  <a:pt x="83046" y="-2313"/>
                  <a:pt x="83046" y="8037"/>
                </a:cubicBezTo>
                <a:cubicBezTo>
                  <a:pt x="83046" y="18386"/>
                  <a:pt x="74643" y="26789"/>
                  <a:pt x="64294" y="26789"/>
                </a:cubicBezTo>
                <a:cubicBezTo>
                  <a:pt x="53944" y="26789"/>
                  <a:pt x="45541" y="18386"/>
                  <a:pt x="45541" y="8037"/>
                </a:cubicBezTo>
                <a:close/>
                <a:moveTo>
                  <a:pt x="37505" y="128588"/>
                </a:moveTo>
                <a:lnTo>
                  <a:pt x="28865" y="128588"/>
                </a:lnTo>
                <a:cubicBezTo>
                  <a:pt x="25215" y="128588"/>
                  <a:pt x="22637" y="125004"/>
                  <a:pt x="23775" y="121522"/>
                </a:cubicBezTo>
                <a:lnTo>
                  <a:pt x="38174" y="78325"/>
                </a:lnTo>
                <a:lnTo>
                  <a:pt x="22001" y="100124"/>
                </a:lnTo>
                <a:cubicBezTo>
                  <a:pt x="18484" y="104879"/>
                  <a:pt x="11754" y="105884"/>
                  <a:pt x="6999" y="102334"/>
                </a:cubicBezTo>
                <a:cubicBezTo>
                  <a:pt x="2244" y="98785"/>
                  <a:pt x="1239" y="92087"/>
                  <a:pt x="4789" y="87332"/>
                </a:cubicBezTo>
                <a:lnTo>
                  <a:pt x="28396" y="55520"/>
                </a:lnTo>
                <a:cubicBezTo>
                  <a:pt x="36835" y="44202"/>
                  <a:pt x="50129" y="37505"/>
                  <a:pt x="64294" y="37505"/>
                </a:cubicBezTo>
                <a:cubicBezTo>
                  <a:pt x="78458" y="37505"/>
                  <a:pt x="91753" y="44202"/>
                  <a:pt x="100191" y="55554"/>
                </a:cubicBezTo>
                <a:lnTo>
                  <a:pt x="123799" y="87366"/>
                </a:lnTo>
                <a:cubicBezTo>
                  <a:pt x="127315" y="92121"/>
                  <a:pt x="126344" y="98818"/>
                  <a:pt x="121589" y="102368"/>
                </a:cubicBezTo>
                <a:cubicBezTo>
                  <a:pt x="116834" y="105917"/>
                  <a:pt x="110137" y="104913"/>
                  <a:pt x="106587" y="100158"/>
                </a:cubicBezTo>
                <a:lnTo>
                  <a:pt x="90413" y="78358"/>
                </a:lnTo>
                <a:lnTo>
                  <a:pt x="104812" y="121522"/>
                </a:lnTo>
                <a:cubicBezTo>
                  <a:pt x="105984" y="125004"/>
                  <a:pt x="103372" y="128588"/>
                  <a:pt x="99722" y="128588"/>
                </a:cubicBezTo>
                <a:lnTo>
                  <a:pt x="91083" y="128588"/>
                </a:lnTo>
                <a:lnTo>
                  <a:pt x="91083" y="171450"/>
                </a:lnTo>
                <a:cubicBezTo>
                  <a:pt x="91083" y="177377"/>
                  <a:pt x="86294" y="182166"/>
                  <a:pt x="80367" y="182166"/>
                </a:cubicBezTo>
                <a:cubicBezTo>
                  <a:pt x="74440" y="182166"/>
                  <a:pt x="69652" y="177377"/>
                  <a:pt x="69652" y="171450"/>
                </a:cubicBezTo>
                <a:lnTo>
                  <a:pt x="69652" y="128588"/>
                </a:lnTo>
                <a:lnTo>
                  <a:pt x="58936" y="128588"/>
                </a:lnTo>
                <a:lnTo>
                  <a:pt x="58936" y="171450"/>
                </a:lnTo>
                <a:cubicBezTo>
                  <a:pt x="58936" y="177377"/>
                  <a:pt x="54147" y="182166"/>
                  <a:pt x="48220" y="182166"/>
                </a:cubicBezTo>
                <a:cubicBezTo>
                  <a:pt x="42293" y="182166"/>
                  <a:pt x="37505" y="177377"/>
                  <a:pt x="37505" y="171450"/>
                </a:cubicBezTo>
                <a:lnTo>
                  <a:pt x="37505" y="128588"/>
                </a:lnTo>
                <a:close/>
              </a:path>
            </a:pathLst>
          </a:custGeom>
          <a:solidFill>
            <a:srgbClr val="2A4D53"/>
          </a:solidFill>
          <a:ln/>
        </p:spPr>
      </p:sp>
      <p:sp>
        <p:nvSpPr>
          <p:cNvPr id="25" name="Text 23"/>
          <p:cNvSpPr/>
          <p:nvPr/>
        </p:nvSpPr>
        <p:spPr>
          <a:xfrm>
            <a:off x="7167563" y="3124200"/>
            <a:ext cx="1536650" cy="190500"/>
          </a:xfrm>
          <a:prstGeom prst="rect">
            <a:avLst/>
          </a:prstGeom>
          <a:noFill/>
          <a:ln/>
        </p:spPr>
        <p:txBody>
          <a:bodyPr wrap="square" lIns="0" tIns="0" rIns="0" bIns="0" rtlCol="0" anchor="ctr"/>
          <a:lstStyle/>
          <a:p>
            <a:pPr algn="ctr">
              <a:lnSpc>
                <a:spcPct val="120000"/>
              </a:lnSpc>
            </a:pPr>
            <a:r>
              <a:rPr lang="en-US" sz="1200" b="1" dirty="0">
                <a:solidFill>
                  <a:srgbClr val="2A4D53"/>
                </a:solidFill>
                <a:latin typeface="Liter" pitchFamily="34" charset="0"/>
                <a:ea typeface="Liter" pitchFamily="34" charset="-122"/>
                <a:cs typeface="Liter" pitchFamily="34" charset="-120"/>
              </a:rPr>
              <a:t>Maternal Gap Score</a:t>
            </a:r>
            <a:endParaRPr lang="en-US" sz="1200" dirty="0"/>
          </a:p>
        </p:txBody>
      </p:sp>
      <p:sp>
        <p:nvSpPr>
          <p:cNvPr id="26" name="Shape 24"/>
          <p:cNvSpPr/>
          <p:nvPr/>
        </p:nvSpPr>
        <p:spPr>
          <a:xfrm>
            <a:off x="9251007" y="2914650"/>
            <a:ext cx="171450" cy="171450"/>
          </a:xfrm>
          <a:custGeom>
            <a:avLst/>
            <a:gdLst/>
            <a:ahLst/>
            <a:cxnLst/>
            <a:rect l="l" t="t" r="r" b="b"/>
            <a:pathLst>
              <a:path w="171450" h="171450">
                <a:moveTo>
                  <a:pt x="21431" y="37505"/>
                </a:moveTo>
                <a:cubicBezTo>
                  <a:pt x="21431" y="28631"/>
                  <a:pt x="28631" y="21431"/>
                  <a:pt x="37505" y="21431"/>
                </a:cubicBezTo>
                <a:cubicBezTo>
                  <a:pt x="46379" y="21431"/>
                  <a:pt x="53578" y="28631"/>
                  <a:pt x="53578" y="37505"/>
                </a:cubicBezTo>
                <a:lnTo>
                  <a:pt x="53578" y="75009"/>
                </a:lnTo>
                <a:lnTo>
                  <a:pt x="21431" y="75009"/>
                </a:lnTo>
                <a:lnTo>
                  <a:pt x="21431" y="37505"/>
                </a:lnTo>
                <a:close/>
                <a:moveTo>
                  <a:pt x="58936" y="123230"/>
                </a:moveTo>
                <a:cubicBezTo>
                  <a:pt x="58936" y="106922"/>
                  <a:pt x="64997" y="92020"/>
                  <a:pt x="75009" y="80702"/>
                </a:cubicBezTo>
                <a:lnTo>
                  <a:pt x="75009" y="37505"/>
                </a:lnTo>
                <a:cubicBezTo>
                  <a:pt x="75009" y="16777"/>
                  <a:pt x="58233" y="0"/>
                  <a:pt x="37505" y="0"/>
                </a:cubicBezTo>
                <a:cubicBezTo>
                  <a:pt x="16777" y="0"/>
                  <a:pt x="0" y="16777"/>
                  <a:pt x="0" y="37505"/>
                </a:cubicBezTo>
                <a:lnTo>
                  <a:pt x="0" y="133945"/>
                </a:lnTo>
                <a:cubicBezTo>
                  <a:pt x="0" y="154673"/>
                  <a:pt x="16777" y="171450"/>
                  <a:pt x="37505" y="171450"/>
                </a:cubicBezTo>
                <a:cubicBezTo>
                  <a:pt x="49995" y="171450"/>
                  <a:pt x="61046" y="165355"/>
                  <a:pt x="67877" y="155946"/>
                </a:cubicBezTo>
                <a:cubicBezTo>
                  <a:pt x="62184" y="146369"/>
                  <a:pt x="58936" y="135184"/>
                  <a:pt x="58936" y="123230"/>
                </a:cubicBezTo>
                <a:close/>
                <a:moveTo>
                  <a:pt x="80602" y="145799"/>
                </a:moveTo>
                <a:cubicBezTo>
                  <a:pt x="82142" y="148713"/>
                  <a:pt x="86060" y="149048"/>
                  <a:pt x="88404" y="146704"/>
                </a:cubicBezTo>
                <a:lnTo>
                  <a:pt x="146704" y="88404"/>
                </a:lnTo>
                <a:cubicBezTo>
                  <a:pt x="149048" y="86060"/>
                  <a:pt x="148713" y="82142"/>
                  <a:pt x="145799" y="80602"/>
                </a:cubicBezTo>
                <a:cubicBezTo>
                  <a:pt x="139069" y="77019"/>
                  <a:pt x="131400" y="75009"/>
                  <a:pt x="123230" y="75009"/>
                </a:cubicBezTo>
                <a:cubicBezTo>
                  <a:pt x="96608" y="75009"/>
                  <a:pt x="75009" y="96608"/>
                  <a:pt x="75009" y="123230"/>
                </a:cubicBezTo>
                <a:cubicBezTo>
                  <a:pt x="75009" y="131367"/>
                  <a:pt x="77019" y="139069"/>
                  <a:pt x="80602" y="145799"/>
                </a:cubicBezTo>
                <a:close/>
                <a:moveTo>
                  <a:pt x="99756" y="158055"/>
                </a:moveTo>
                <a:cubicBezTo>
                  <a:pt x="97412" y="160400"/>
                  <a:pt x="97747" y="164317"/>
                  <a:pt x="100660" y="165858"/>
                </a:cubicBezTo>
                <a:cubicBezTo>
                  <a:pt x="107391" y="169441"/>
                  <a:pt x="115059" y="171450"/>
                  <a:pt x="123230" y="171450"/>
                </a:cubicBezTo>
                <a:cubicBezTo>
                  <a:pt x="149851" y="171450"/>
                  <a:pt x="171450" y="149851"/>
                  <a:pt x="171450" y="123230"/>
                </a:cubicBezTo>
                <a:cubicBezTo>
                  <a:pt x="171450" y="115093"/>
                  <a:pt x="169441" y="107391"/>
                  <a:pt x="165858" y="100660"/>
                </a:cubicBezTo>
                <a:cubicBezTo>
                  <a:pt x="164317" y="97747"/>
                  <a:pt x="160400" y="97412"/>
                  <a:pt x="158055" y="99756"/>
                </a:cubicBezTo>
                <a:lnTo>
                  <a:pt x="99756" y="158055"/>
                </a:lnTo>
                <a:close/>
              </a:path>
            </a:pathLst>
          </a:custGeom>
          <a:solidFill>
            <a:srgbClr val="C87E62"/>
          </a:solidFill>
          <a:ln/>
        </p:spPr>
      </p:sp>
      <p:sp>
        <p:nvSpPr>
          <p:cNvPr id="27" name="Text 25"/>
          <p:cNvSpPr/>
          <p:nvPr/>
        </p:nvSpPr>
        <p:spPr>
          <a:xfrm>
            <a:off x="8704212" y="3124200"/>
            <a:ext cx="1536649" cy="609600"/>
          </a:xfrm>
          <a:prstGeom prst="rect">
            <a:avLst/>
          </a:prstGeom>
          <a:noFill/>
          <a:ln/>
        </p:spPr>
        <p:txBody>
          <a:bodyPr wrap="square" lIns="0" tIns="0" rIns="0" bIns="0" rtlCol="0" anchor="ctr"/>
          <a:lstStyle/>
          <a:p>
            <a:pPr algn="ctr">
              <a:lnSpc>
                <a:spcPct val="120000"/>
              </a:lnSpc>
            </a:pPr>
            <a:r>
              <a:rPr lang="en-US" sz="1200" b="1" dirty="0">
                <a:solidFill>
                  <a:srgbClr val="2A4D53"/>
                </a:solidFill>
                <a:latin typeface="Liter" pitchFamily="34" charset="0"/>
                <a:ea typeface="Liter" pitchFamily="34" charset="-122"/>
                <a:cs typeface="Liter" pitchFamily="34" charset="-120"/>
              </a:rPr>
              <a:t>Family Planning (FP) Gap Score</a:t>
            </a:r>
            <a:endParaRPr lang="en-US" sz="1200" dirty="0"/>
          </a:p>
        </p:txBody>
      </p:sp>
      <p:sp>
        <p:nvSpPr>
          <p:cNvPr id="28" name="Shape 26"/>
          <p:cNvSpPr/>
          <p:nvPr/>
        </p:nvSpPr>
        <p:spPr>
          <a:xfrm>
            <a:off x="10787658" y="2914650"/>
            <a:ext cx="171450" cy="171450"/>
          </a:xfrm>
          <a:custGeom>
            <a:avLst/>
            <a:gdLst/>
            <a:ahLst/>
            <a:cxnLst/>
            <a:rect l="l" t="t" r="r" b="b"/>
            <a:pathLst>
              <a:path w="171450" h="171450">
                <a:moveTo>
                  <a:pt x="74976" y="10716"/>
                </a:moveTo>
                <a:lnTo>
                  <a:pt x="49459" y="10716"/>
                </a:lnTo>
                <a:cubicBezTo>
                  <a:pt x="39614" y="10716"/>
                  <a:pt x="31008" y="17446"/>
                  <a:pt x="28664" y="26990"/>
                </a:cubicBezTo>
                <a:lnTo>
                  <a:pt x="469" y="140810"/>
                </a:lnTo>
                <a:cubicBezTo>
                  <a:pt x="-2043" y="150923"/>
                  <a:pt x="5626" y="160734"/>
                  <a:pt x="16073" y="160734"/>
                </a:cubicBezTo>
                <a:lnTo>
                  <a:pt x="74976" y="160734"/>
                </a:lnTo>
                <a:lnTo>
                  <a:pt x="74976" y="139303"/>
                </a:lnTo>
                <a:cubicBezTo>
                  <a:pt x="74976" y="133376"/>
                  <a:pt x="79764" y="128588"/>
                  <a:pt x="85692" y="128588"/>
                </a:cubicBezTo>
                <a:cubicBezTo>
                  <a:pt x="91619" y="128588"/>
                  <a:pt x="96407" y="133376"/>
                  <a:pt x="96407" y="139303"/>
                </a:cubicBezTo>
                <a:lnTo>
                  <a:pt x="96407" y="160734"/>
                </a:lnTo>
                <a:lnTo>
                  <a:pt x="155377" y="160734"/>
                </a:lnTo>
                <a:cubicBezTo>
                  <a:pt x="165824" y="160734"/>
                  <a:pt x="173493" y="150923"/>
                  <a:pt x="170981" y="140810"/>
                </a:cubicBezTo>
                <a:lnTo>
                  <a:pt x="142819" y="26990"/>
                </a:lnTo>
                <a:cubicBezTo>
                  <a:pt x="140442" y="17446"/>
                  <a:pt x="131869" y="10716"/>
                  <a:pt x="121991" y="10716"/>
                </a:cubicBezTo>
                <a:lnTo>
                  <a:pt x="96407" y="10716"/>
                </a:lnTo>
                <a:lnTo>
                  <a:pt x="96407" y="32147"/>
                </a:lnTo>
                <a:cubicBezTo>
                  <a:pt x="96407" y="38074"/>
                  <a:pt x="91619" y="42863"/>
                  <a:pt x="85692" y="42863"/>
                </a:cubicBezTo>
                <a:cubicBezTo>
                  <a:pt x="79764" y="42863"/>
                  <a:pt x="74976" y="38074"/>
                  <a:pt x="74976" y="32147"/>
                </a:cubicBezTo>
                <a:lnTo>
                  <a:pt x="74976" y="10716"/>
                </a:lnTo>
                <a:close/>
                <a:moveTo>
                  <a:pt x="96407" y="75009"/>
                </a:moveTo>
                <a:lnTo>
                  <a:pt x="96407" y="96441"/>
                </a:lnTo>
                <a:cubicBezTo>
                  <a:pt x="96407" y="102368"/>
                  <a:pt x="91619" y="107156"/>
                  <a:pt x="85692" y="107156"/>
                </a:cubicBezTo>
                <a:cubicBezTo>
                  <a:pt x="79764" y="107156"/>
                  <a:pt x="74976" y="102368"/>
                  <a:pt x="74976" y="96441"/>
                </a:cubicBezTo>
                <a:lnTo>
                  <a:pt x="74976" y="75009"/>
                </a:lnTo>
                <a:cubicBezTo>
                  <a:pt x="74976" y="69082"/>
                  <a:pt x="79764" y="64294"/>
                  <a:pt x="85692" y="64294"/>
                </a:cubicBezTo>
                <a:cubicBezTo>
                  <a:pt x="91619" y="64294"/>
                  <a:pt x="96407" y="69082"/>
                  <a:pt x="96407" y="75009"/>
                </a:cubicBezTo>
                <a:close/>
              </a:path>
            </a:pathLst>
          </a:custGeom>
          <a:solidFill>
            <a:srgbClr val="2A4D53"/>
          </a:solidFill>
          <a:ln/>
        </p:spPr>
      </p:sp>
      <p:sp>
        <p:nvSpPr>
          <p:cNvPr id="29" name="Text 27"/>
          <p:cNvSpPr/>
          <p:nvPr/>
        </p:nvSpPr>
        <p:spPr>
          <a:xfrm>
            <a:off x="10240863" y="3124200"/>
            <a:ext cx="1389162" cy="457200"/>
          </a:xfrm>
          <a:prstGeom prst="rect">
            <a:avLst/>
          </a:prstGeom>
          <a:noFill/>
          <a:ln/>
        </p:spPr>
        <p:txBody>
          <a:bodyPr wrap="square" lIns="0" tIns="0" rIns="0" bIns="0" rtlCol="0" anchor="ctr"/>
          <a:lstStyle/>
          <a:p>
            <a:pPr algn="ctr">
              <a:lnSpc>
                <a:spcPct val="120000"/>
              </a:lnSpc>
            </a:pPr>
            <a:r>
              <a:rPr lang="en-US" sz="1400" b="1" dirty="0">
                <a:solidFill>
                  <a:srgbClr val="2A4D53"/>
                </a:solidFill>
                <a:latin typeface="Liter" pitchFamily="34" charset="0"/>
                <a:ea typeface="Liter" pitchFamily="34" charset="-122"/>
                <a:cs typeface="Liter" pitchFamily="34" charset="-120"/>
              </a:rPr>
              <a:t>Geographic Distance</a:t>
            </a:r>
            <a:endParaRPr lang="en-US" sz="1400" dirty="0"/>
          </a:p>
        </p:txBody>
      </p:sp>
      <p:sp>
        <p:nvSpPr>
          <p:cNvPr id="30" name="Shape 28"/>
          <p:cNvSpPr/>
          <p:nvPr/>
        </p:nvSpPr>
        <p:spPr>
          <a:xfrm>
            <a:off x="8958263" y="3771900"/>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C87E62"/>
          </a:solidFill>
          <a:ln/>
        </p:spPr>
      </p:sp>
      <p:sp>
        <p:nvSpPr>
          <p:cNvPr id="31" name="Shape 29"/>
          <p:cNvSpPr/>
          <p:nvPr/>
        </p:nvSpPr>
        <p:spPr>
          <a:xfrm>
            <a:off x="6477000" y="42481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87E62"/>
          </a:solidFill>
          <a:ln/>
        </p:spPr>
      </p:sp>
      <p:sp>
        <p:nvSpPr>
          <p:cNvPr id="32" name="Text 30"/>
          <p:cNvSpPr/>
          <p:nvPr/>
        </p:nvSpPr>
        <p:spPr>
          <a:xfrm>
            <a:off x="6429375" y="42481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2</a:t>
            </a:r>
            <a:endParaRPr lang="en-US" sz="1600" dirty="0"/>
          </a:p>
        </p:txBody>
      </p:sp>
      <p:sp>
        <p:nvSpPr>
          <p:cNvPr id="33" name="Shape 31"/>
          <p:cNvSpPr/>
          <p:nvPr/>
        </p:nvSpPr>
        <p:spPr>
          <a:xfrm>
            <a:off x="7086600" y="4114800"/>
            <a:ext cx="4495800" cy="723900"/>
          </a:xfrm>
          <a:custGeom>
            <a:avLst/>
            <a:gdLst/>
            <a:ahLst/>
            <a:cxnLst/>
            <a:rect l="l" t="t" r="r" b="b"/>
            <a:pathLst>
              <a:path w="4495800" h="723900">
                <a:moveTo>
                  <a:pt x="76198" y="0"/>
                </a:moveTo>
                <a:lnTo>
                  <a:pt x="4419602" y="0"/>
                </a:lnTo>
                <a:cubicBezTo>
                  <a:pt x="4461657" y="0"/>
                  <a:pt x="4495800" y="34143"/>
                  <a:pt x="4495800" y="76198"/>
                </a:cubicBezTo>
                <a:lnTo>
                  <a:pt x="4495800" y="647702"/>
                </a:lnTo>
                <a:cubicBezTo>
                  <a:pt x="4495800" y="689757"/>
                  <a:pt x="4461657" y="723900"/>
                  <a:pt x="4419602" y="723900"/>
                </a:cubicBezTo>
                <a:lnTo>
                  <a:pt x="76198" y="723900"/>
                </a:lnTo>
                <a:cubicBezTo>
                  <a:pt x="34143" y="723900"/>
                  <a:pt x="0" y="689757"/>
                  <a:pt x="0" y="647702"/>
                </a:cubicBezTo>
                <a:lnTo>
                  <a:pt x="0" y="76198"/>
                </a:lnTo>
                <a:cubicBezTo>
                  <a:pt x="0" y="34143"/>
                  <a:pt x="34143" y="0"/>
                  <a:pt x="76198" y="0"/>
                </a:cubicBezTo>
                <a:close/>
              </a:path>
            </a:pathLst>
          </a:custGeom>
          <a:solidFill>
            <a:srgbClr val="FFFFFF"/>
          </a:solidFill>
          <a:ln/>
          <a:effectLst>
            <a:outerShdw blurRad="28575" dist="9525" dir="5400000" algn="bl" rotWithShape="0">
              <a:srgbClr val="000000">
                <a:alpha val="10196"/>
              </a:srgbClr>
            </a:outerShdw>
          </a:effectLst>
        </p:spPr>
      </p:sp>
      <p:sp>
        <p:nvSpPr>
          <p:cNvPr id="34" name="Text 32"/>
          <p:cNvSpPr/>
          <p:nvPr/>
        </p:nvSpPr>
        <p:spPr>
          <a:xfrm>
            <a:off x="7239000" y="4267200"/>
            <a:ext cx="4267200" cy="228600"/>
          </a:xfrm>
          <a:prstGeom prst="rect">
            <a:avLst/>
          </a:prstGeom>
          <a:noFill/>
          <a:ln/>
        </p:spPr>
        <p:txBody>
          <a:bodyPr wrap="square" lIns="0" tIns="0" rIns="0" bIns="0" rtlCol="0" anchor="ctr"/>
          <a:lstStyle/>
          <a:p>
            <a:pPr>
              <a:lnSpc>
                <a:spcPct val="130000"/>
              </a:lnSpc>
            </a:pPr>
            <a:r>
              <a:rPr lang="en-US" sz="1600" b="1" dirty="0">
                <a:solidFill>
                  <a:srgbClr val="2A4D53"/>
                </a:solidFill>
                <a:latin typeface="Liter" pitchFamily="34" charset="0"/>
                <a:ea typeface="Liter" pitchFamily="34" charset="-122"/>
                <a:cs typeface="Liter" pitchFamily="34" charset="-120"/>
              </a:rPr>
              <a:t>Cumulative Analysis</a:t>
            </a:r>
            <a:endParaRPr lang="en-US" sz="1600" dirty="0"/>
          </a:p>
        </p:txBody>
      </p:sp>
      <p:sp>
        <p:nvSpPr>
          <p:cNvPr id="35" name="Text 33"/>
          <p:cNvSpPr/>
          <p:nvPr/>
        </p:nvSpPr>
        <p:spPr>
          <a:xfrm>
            <a:off x="7239000" y="4495800"/>
            <a:ext cx="4619625" cy="342900"/>
          </a:xfrm>
          <a:prstGeom prst="rect">
            <a:avLst/>
          </a:prstGeom>
          <a:noFill/>
          <a:ln/>
        </p:spPr>
        <p:txBody>
          <a:bodyPr wrap="square" lIns="0" tIns="0" rIns="0" bIns="0" rtlCol="0" anchor="ctr"/>
          <a:lstStyle/>
          <a:p>
            <a:pPr>
              <a:lnSpc>
                <a:spcPct val="120000"/>
              </a:lnSpc>
            </a:pPr>
            <a:r>
              <a:rPr lang="en-US" sz="1200" b="1" dirty="0">
                <a:solidFill>
                  <a:srgbClr val="A9A299"/>
                </a:solidFill>
                <a:latin typeface="Liter" pitchFamily="34" charset="0"/>
                <a:ea typeface="Liter" pitchFamily="34" charset="-122"/>
                <a:cs typeface="Liter" pitchFamily="34" charset="-120"/>
              </a:rPr>
              <a:t>Rank wards by composite score and calculate cumulative contribution</a:t>
            </a:r>
            <a:endParaRPr lang="en-US" sz="1200" b="1" dirty="0"/>
          </a:p>
        </p:txBody>
      </p:sp>
      <p:sp>
        <p:nvSpPr>
          <p:cNvPr id="36" name="Shape 34"/>
          <p:cNvSpPr/>
          <p:nvPr/>
        </p:nvSpPr>
        <p:spPr>
          <a:xfrm>
            <a:off x="8958263" y="4991100"/>
            <a:ext cx="142875" cy="190500"/>
          </a:xfrm>
          <a:custGeom>
            <a:avLst/>
            <a:gdLst/>
            <a:ahLst/>
            <a:cxnLst/>
            <a:rect l="l" t="t" r="r" b="b"/>
            <a:pathLst>
              <a:path w="142875" h="190500">
                <a:moveTo>
                  <a:pt x="63029" y="187003"/>
                </a:moveTo>
                <a:cubicBezTo>
                  <a:pt x="67680" y="191653"/>
                  <a:pt x="75233" y="191653"/>
                  <a:pt x="79883" y="187003"/>
                </a:cubicBezTo>
                <a:lnTo>
                  <a:pt x="139415" y="127471"/>
                </a:lnTo>
                <a:cubicBezTo>
                  <a:pt x="144066" y="122820"/>
                  <a:pt x="144066" y="115267"/>
                  <a:pt x="139415" y="110617"/>
                </a:cubicBezTo>
                <a:cubicBezTo>
                  <a:pt x="134764" y="105966"/>
                  <a:pt x="127211" y="105966"/>
                  <a:pt x="122560" y="110617"/>
                </a:cubicBezTo>
                <a:lnTo>
                  <a:pt x="83344" y="149833"/>
                </a:lnTo>
                <a:lnTo>
                  <a:pt x="83344" y="11906"/>
                </a:lnTo>
                <a:cubicBezTo>
                  <a:pt x="83344" y="5321"/>
                  <a:pt x="78023" y="0"/>
                  <a:pt x="71438" y="0"/>
                </a:cubicBezTo>
                <a:cubicBezTo>
                  <a:pt x="64852" y="0"/>
                  <a:pt x="59531" y="5321"/>
                  <a:pt x="59531" y="11906"/>
                </a:cubicBezTo>
                <a:lnTo>
                  <a:pt x="59531" y="149833"/>
                </a:lnTo>
                <a:lnTo>
                  <a:pt x="20315" y="110617"/>
                </a:lnTo>
                <a:cubicBezTo>
                  <a:pt x="15664" y="105966"/>
                  <a:pt x="8111" y="105966"/>
                  <a:pt x="3460" y="110617"/>
                </a:cubicBezTo>
                <a:cubicBezTo>
                  <a:pt x="-1191" y="115267"/>
                  <a:pt x="-1191" y="122820"/>
                  <a:pt x="3460" y="127471"/>
                </a:cubicBezTo>
                <a:lnTo>
                  <a:pt x="62992" y="187003"/>
                </a:lnTo>
                <a:close/>
              </a:path>
            </a:pathLst>
          </a:custGeom>
          <a:solidFill>
            <a:srgbClr val="C87E62"/>
          </a:solidFill>
          <a:ln/>
        </p:spPr>
      </p:sp>
      <p:sp>
        <p:nvSpPr>
          <p:cNvPr id="37" name="Shape 35"/>
          <p:cNvSpPr/>
          <p:nvPr/>
        </p:nvSpPr>
        <p:spPr>
          <a:xfrm>
            <a:off x="6477000" y="54673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A4D53"/>
          </a:solidFill>
          <a:ln/>
        </p:spPr>
      </p:sp>
      <p:sp>
        <p:nvSpPr>
          <p:cNvPr id="38" name="Text 36"/>
          <p:cNvSpPr/>
          <p:nvPr/>
        </p:nvSpPr>
        <p:spPr>
          <a:xfrm>
            <a:off x="6429375" y="54673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Liter" pitchFamily="34" charset="0"/>
                <a:ea typeface="Liter" pitchFamily="34" charset="-122"/>
                <a:cs typeface="Liter" pitchFamily="34" charset="-120"/>
              </a:rPr>
              <a:t>3</a:t>
            </a:r>
            <a:endParaRPr lang="en-US" sz="1600" dirty="0"/>
          </a:p>
        </p:txBody>
      </p:sp>
      <p:sp>
        <p:nvSpPr>
          <p:cNvPr id="39" name="Shape 37"/>
          <p:cNvSpPr/>
          <p:nvPr/>
        </p:nvSpPr>
        <p:spPr>
          <a:xfrm>
            <a:off x="7086600" y="5276850"/>
            <a:ext cx="4495800" cy="723900"/>
          </a:xfrm>
          <a:custGeom>
            <a:avLst/>
            <a:gdLst/>
            <a:ahLst/>
            <a:cxnLst/>
            <a:rect l="l" t="t" r="r" b="b"/>
            <a:pathLst>
              <a:path w="4495800" h="723900">
                <a:moveTo>
                  <a:pt x="76198" y="0"/>
                </a:moveTo>
                <a:lnTo>
                  <a:pt x="4419602" y="0"/>
                </a:lnTo>
                <a:cubicBezTo>
                  <a:pt x="4461657" y="0"/>
                  <a:pt x="4495800" y="34143"/>
                  <a:pt x="4495800" y="76198"/>
                </a:cubicBezTo>
                <a:lnTo>
                  <a:pt x="4495800" y="647702"/>
                </a:lnTo>
                <a:cubicBezTo>
                  <a:pt x="4495800" y="689757"/>
                  <a:pt x="4461657" y="723900"/>
                  <a:pt x="4419602" y="723900"/>
                </a:cubicBezTo>
                <a:lnTo>
                  <a:pt x="76198" y="723900"/>
                </a:lnTo>
                <a:cubicBezTo>
                  <a:pt x="34143" y="723900"/>
                  <a:pt x="0" y="689757"/>
                  <a:pt x="0" y="647702"/>
                </a:cubicBezTo>
                <a:lnTo>
                  <a:pt x="0" y="76198"/>
                </a:lnTo>
                <a:cubicBezTo>
                  <a:pt x="0" y="34143"/>
                  <a:pt x="34143" y="0"/>
                  <a:pt x="76198" y="0"/>
                </a:cubicBezTo>
                <a:close/>
              </a:path>
            </a:pathLst>
          </a:custGeom>
          <a:solidFill>
            <a:srgbClr val="FFFFFF"/>
          </a:solidFill>
          <a:ln/>
          <a:effectLst>
            <a:outerShdw blurRad="28575" dist="9525" dir="5400000" algn="bl" rotWithShape="0">
              <a:srgbClr val="000000">
                <a:alpha val="10196"/>
              </a:srgbClr>
            </a:outerShdw>
          </a:effectLst>
        </p:spPr>
      </p:sp>
      <p:sp>
        <p:nvSpPr>
          <p:cNvPr id="40" name="Text 38"/>
          <p:cNvSpPr/>
          <p:nvPr/>
        </p:nvSpPr>
        <p:spPr>
          <a:xfrm>
            <a:off x="7239000" y="5486400"/>
            <a:ext cx="4267200" cy="228600"/>
          </a:xfrm>
          <a:prstGeom prst="rect">
            <a:avLst/>
          </a:prstGeom>
          <a:noFill/>
          <a:ln/>
        </p:spPr>
        <p:txBody>
          <a:bodyPr wrap="square" lIns="0" tIns="0" rIns="0" bIns="0" rtlCol="0" anchor="ctr"/>
          <a:lstStyle/>
          <a:p>
            <a:pPr>
              <a:lnSpc>
                <a:spcPct val="130000"/>
              </a:lnSpc>
            </a:pPr>
            <a:r>
              <a:rPr lang="en-US" sz="1600" b="1" dirty="0">
                <a:solidFill>
                  <a:srgbClr val="2A4D53"/>
                </a:solidFill>
                <a:latin typeface="Liter" pitchFamily="34" charset="0"/>
                <a:ea typeface="Liter" pitchFamily="34" charset="-122"/>
                <a:cs typeface="Liter" pitchFamily="34" charset="-120"/>
              </a:rPr>
              <a:t>80/20 Threshold Identification</a:t>
            </a:r>
            <a:endParaRPr lang="en-US" sz="1600" dirty="0"/>
          </a:p>
        </p:txBody>
      </p:sp>
      <p:sp>
        <p:nvSpPr>
          <p:cNvPr id="41" name="Text 39"/>
          <p:cNvSpPr/>
          <p:nvPr/>
        </p:nvSpPr>
        <p:spPr>
          <a:xfrm>
            <a:off x="7239000" y="5715000"/>
            <a:ext cx="4676775" cy="285750"/>
          </a:xfrm>
          <a:prstGeom prst="rect">
            <a:avLst/>
          </a:prstGeom>
          <a:noFill/>
          <a:ln/>
        </p:spPr>
        <p:txBody>
          <a:bodyPr wrap="square" lIns="0" tIns="0" rIns="0" bIns="0" rtlCol="0" anchor="ctr"/>
          <a:lstStyle/>
          <a:p>
            <a:pPr>
              <a:lnSpc>
                <a:spcPct val="120000"/>
              </a:lnSpc>
            </a:pPr>
            <a:r>
              <a:rPr lang="en-US" sz="1200" b="1" dirty="0">
                <a:solidFill>
                  <a:srgbClr val="A9A299"/>
                </a:solidFill>
                <a:latin typeface="Liter" pitchFamily="34" charset="0"/>
                <a:ea typeface="Liter" pitchFamily="34" charset="-122"/>
                <a:cs typeface="Liter" pitchFamily="34" charset="-120"/>
              </a:rPr>
              <a:t>Identify the point where 80% of unmet need is concentrated</a:t>
            </a:r>
            <a:endParaRPr lang="en-US" sz="1200" b="1" dirty="0"/>
          </a:p>
        </p:txBody>
      </p:sp>
    </p:spTree>
    <p:extLst>
      <p:ext uri="{BB962C8B-B14F-4D97-AF65-F5344CB8AC3E}">
        <p14:creationId xmlns:p14="http://schemas.microsoft.com/office/powerpoint/2010/main" val="266710345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62865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87E62"/>
          </a:solidFill>
          <a:ln/>
        </p:spPr>
      </p:sp>
      <p:sp>
        <p:nvSpPr>
          <p:cNvPr id="4" name="Text 2"/>
          <p:cNvSpPr/>
          <p:nvPr/>
        </p:nvSpPr>
        <p:spPr>
          <a:xfrm>
            <a:off x="1403685" y="458390"/>
            <a:ext cx="3649579" cy="416719"/>
          </a:xfrm>
          <a:prstGeom prst="rect">
            <a:avLst/>
          </a:prstGeom>
          <a:noFill/>
          <a:ln/>
        </p:spPr>
        <p:txBody>
          <a:bodyPr wrap="square" lIns="0" tIns="0" rIns="0" bIns="0" rtlCol="0" anchor="ctr"/>
          <a:lstStyle/>
          <a:p>
            <a:pPr>
              <a:lnSpc>
                <a:spcPct val="110000"/>
              </a:lnSpc>
            </a:pPr>
            <a:r>
              <a:rPr lang="en-US" sz="2400" b="1" dirty="0">
                <a:solidFill>
                  <a:srgbClr val="2A4D53"/>
                </a:solidFill>
                <a:latin typeface="Liter" pitchFamily="34" charset="0"/>
                <a:ea typeface="Liter" pitchFamily="34" charset="-122"/>
                <a:cs typeface="Liter" pitchFamily="34" charset="-120"/>
              </a:rPr>
              <a:t>Pareto Analysis Findings</a:t>
            </a:r>
            <a:endParaRPr lang="en-US" sz="2400" dirty="0"/>
          </a:p>
        </p:txBody>
      </p:sp>
      <p:sp>
        <p:nvSpPr>
          <p:cNvPr id="5" name="Shape 3"/>
          <p:cNvSpPr/>
          <p:nvPr/>
        </p:nvSpPr>
        <p:spPr>
          <a:xfrm>
            <a:off x="66894" y="1346910"/>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2A4D53"/>
          </a:solidFill>
          <a:ln/>
        </p:spPr>
      </p:sp>
      <p:sp>
        <p:nvSpPr>
          <p:cNvPr id="6" name="Text 4"/>
          <p:cNvSpPr/>
          <p:nvPr/>
        </p:nvSpPr>
        <p:spPr>
          <a:xfrm>
            <a:off x="314544" y="1459832"/>
            <a:ext cx="6353175" cy="953878"/>
          </a:xfrm>
          <a:prstGeom prst="rect">
            <a:avLst/>
          </a:prstGeom>
          <a:noFill/>
          <a:ln/>
        </p:spPr>
        <p:txBody>
          <a:bodyPr wrap="square" lIns="0" tIns="0" rIns="0" bIns="0" rtlCol="0" anchor="ctr"/>
          <a:lstStyle/>
          <a:p>
            <a:pPr algn="just">
              <a:lnSpc>
                <a:spcPct val="140000"/>
              </a:lnSpc>
            </a:pPr>
            <a:r>
              <a:rPr lang="en-US" sz="1600" dirty="0">
                <a:solidFill>
                  <a:srgbClr val="2A4D53"/>
                </a:solidFill>
                <a:latin typeface="Liter" pitchFamily="34" charset="0"/>
                <a:ea typeface="Liter" pitchFamily="34" charset="-122"/>
                <a:cs typeface="Liter" pitchFamily="34" charset="-120"/>
              </a:rPr>
              <a:t>The Pareto analysis shows that </a:t>
            </a:r>
            <a:r>
              <a:rPr lang="en-US" sz="1600" b="1" dirty="0">
                <a:solidFill>
                  <a:srgbClr val="2A4D53"/>
                </a:solidFill>
                <a:latin typeface="Liter" pitchFamily="34" charset="0"/>
                <a:ea typeface="Liter" pitchFamily="34" charset="-122"/>
                <a:cs typeface="Liter" pitchFamily="34" charset="-120"/>
              </a:rPr>
              <a:t>unmet healthcare needs are broadly distributed</a:t>
            </a:r>
            <a:r>
              <a:rPr lang="en-US" sz="1600" dirty="0">
                <a:solidFill>
                  <a:srgbClr val="2A4D53"/>
                </a:solidFill>
                <a:latin typeface="Liter" pitchFamily="34" charset="0"/>
                <a:ea typeface="Liter" pitchFamily="34" charset="-122"/>
                <a:cs typeface="Liter" pitchFamily="34" charset="-120"/>
              </a:rPr>
              <a:t> across wards, with </a:t>
            </a:r>
            <a:r>
              <a:rPr lang="en-US" sz="1600" b="1" dirty="0">
                <a:solidFill>
                  <a:srgbClr val="C87E62"/>
                </a:solidFill>
                <a:latin typeface="Liter" pitchFamily="34" charset="0"/>
                <a:ea typeface="Liter" pitchFamily="34" charset="-122"/>
                <a:cs typeface="Liter" pitchFamily="34" charset="-120"/>
              </a:rPr>
              <a:t>no small subset accounting for a disproportionate share</a:t>
            </a:r>
            <a:r>
              <a:rPr lang="en-US" sz="1600" dirty="0">
                <a:solidFill>
                  <a:srgbClr val="2A4D53"/>
                </a:solidFill>
                <a:latin typeface="Liter" pitchFamily="34" charset="0"/>
                <a:ea typeface="Liter" pitchFamily="34" charset="-122"/>
                <a:cs typeface="Liter" pitchFamily="34" charset="-120"/>
              </a:rPr>
              <a:t> of the total burden.</a:t>
            </a:r>
            <a:endParaRPr lang="en-US" sz="1600" dirty="0"/>
          </a:p>
        </p:txBody>
      </p:sp>
      <p:sp>
        <p:nvSpPr>
          <p:cNvPr id="7" name="Shape 5"/>
          <p:cNvSpPr/>
          <p:nvPr/>
        </p:nvSpPr>
        <p:spPr>
          <a:xfrm>
            <a:off x="66894" y="2868529"/>
            <a:ext cx="38100" cy="1295400"/>
          </a:xfrm>
          <a:custGeom>
            <a:avLst/>
            <a:gdLst/>
            <a:ahLst/>
            <a:cxnLst/>
            <a:rect l="l" t="t" r="r" b="b"/>
            <a:pathLst>
              <a:path w="38100" h="1295400">
                <a:moveTo>
                  <a:pt x="38100" y="0"/>
                </a:moveTo>
                <a:lnTo>
                  <a:pt x="38100" y="0"/>
                </a:lnTo>
                <a:lnTo>
                  <a:pt x="38100" y="1295400"/>
                </a:lnTo>
                <a:lnTo>
                  <a:pt x="38100" y="1295400"/>
                </a:lnTo>
                <a:cubicBezTo>
                  <a:pt x="17072" y="1295400"/>
                  <a:pt x="0" y="1278328"/>
                  <a:pt x="0" y="1257300"/>
                </a:cubicBezTo>
                <a:lnTo>
                  <a:pt x="0" y="38100"/>
                </a:lnTo>
                <a:cubicBezTo>
                  <a:pt x="0" y="17072"/>
                  <a:pt x="17072" y="0"/>
                  <a:pt x="38100" y="0"/>
                </a:cubicBezTo>
                <a:close/>
              </a:path>
            </a:pathLst>
          </a:custGeom>
          <a:solidFill>
            <a:srgbClr val="C87E62"/>
          </a:solidFill>
          <a:ln/>
        </p:spPr>
      </p:sp>
      <p:sp>
        <p:nvSpPr>
          <p:cNvPr id="8" name="Text 6"/>
          <p:cNvSpPr/>
          <p:nvPr/>
        </p:nvSpPr>
        <p:spPr>
          <a:xfrm>
            <a:off x="314544" y="3097129"/>
            <a:ext cx="6353175" cy="838200"/>
          </a:xfrm>
          <a:prstGeom prst="rect">
            <a:avLst/>
          </a:prstGeom>
          <a:noFill/>
          <a:ln/>
        </p:spPr>
        <p:txBody>
          <a:bodyPr wrap="square" lIns="0" tIns="0" rIns="0" bIns="0" rtlCol="0" anchor="ctr"/>
          <a:lstStyle/>
          <a:p>
            <a:pPr algn="just">
              <a:lnSpc>
                <a:spcPct val="140000"/>
              </a:lnSpc>
            </a:pPr>
            <a:r>
              <a:rPr lang="en-US" sz="1600" dirty="0">
                <a:solidFill>
                  <a:srgbClr val="2A4D53"/>
                </a:solidFill>
                <a:latin typeface="Liter" pitchFamily="34" charset="0"/>
                <a:ea typeface="Liter" pitchFamily="34" charset="-122"/>
                <a:cs typeface="Liter" pitchFamily="34" charset="-120"/>
              </a:rPr>
              <a:t>This indicates that </a:t>
            </a:r>
            <a:r>
              <a:rPr lang="en-US" sz="1600" b="1" dirty="0">
                <a:solidFill>
                  <a:srgbClr val="2A4D53"/>
                </a:solidFill>
                <a:latin typeface="Liter" pitchFamily="34" charset="0"/>
                <a:ea typeface="Liter" pitchFamily="34" charset="-122"/>
                <a:cs typeface="Liter" pitchFamily="34" charset="-120"/>
              </a:rPr>
              <a:t>targeted interventions in a few wards alone would be insufficient</a:t>
            </a:r>
            <a:r>
              <a:rPr lang="en-US" sz="1600" dirty="0">
                <a:solidFill>
                  <a:srgbClr val="2A4D53"/>
                </a:solidFill>
                <a:latin typeface="Liter" pitchFamily="34" charset="0"/>
                <a:ea typeface="Liter" pitchFamily="34" charset="-122"/>
                <a:cs typeface="Liter" pitchFamily="34" charset="-120"/>
              </a:rPr>
              <a:t>, and a more </a:t>
            </a:r>
            <a:r>
              <a:rPr lang="en-US" sz="1600" b="1" dirty="0">
                <a:solidFill>
                  <a:srgbClr val="C87E62"/>
                </a:solidFill>
                <a:latin typeface="Liter" pitchFamily="34" charset="0"/>
                <a:ea typeface="Liter" pitchFamily="34" charset="-122"/>
                <a:cs typeface="Liter" pitchFamily="34" charset="-120"/>
              </a:rPr>
              <a:t>comprehensive, system-wide approach</a:t>
            </a:r>
            <a:r>
              <a:rPr lang="en-US" sz="1600" dirty="0">
                <a:solidFill>
                  <a:srgbClr val="2A4D53"/>
                </a:solidFill>
                <a:latin typeface="Liter" pitchFamily="34" charset="0"/>
                <a:ea typeface="Liter" pitchFamily="34" charset="-122"/>
                <a:cs typeface="Liter" pitchFamily="34" charset="-120"/>
              </a:rPr>
              <a:t> is required to effectively address unmet healthcare needs.</a:t>
            </a:r>
            <a:endParaRPr lang="en-US" sz="1600" dirty="0"/>
          </a:p>
        </p:txBody>
      </p:sp>
      <p:sp>
        <p:nvSpPr>
          <p:cNvPr id="9" name="Shape 7"/>
          <p:cNvSpPr/>
          <p:nvPr/>
        </p:nvSpPr>
        <p:spPr>
          <a:xfrm>
            <a:off x="47844" y="4390148"/>
            <a:ext cx="6762750" cy="876300"/>
          </a:xfrm>
          <a:custGeom>
            <a:avLst/>
            <a:gdLst/>
            <a:ahLst/>
            <a:cxnLst/>
            <a:rect l="l" t="t" r="r" b="b"/>
            <a:pathLst>
              <a:path w="6762750" h="876300">
                <a:moveTo>
                  <a:pt x="76203" y="0"/>
                </a:moveTo>
                <a:lnTo>
                  <a:pt x="6686547" y="0"/>
                </a:lnTo>
                <a:cubicBezTo>
                  <a:pt x="6728633" y="0"/>
                  <a:pt x="6762750" y="34117"/>
                  <a:pt x="6762750" y="76203"/>
                </a:cubicBezTo>
                <a:lnTo>
                  <a:pt x="6762750" y="800097"/>
                </a:lnTo>
                <a:cubicBezTo>
                  <a:pt x="6762750" y="842183"/>
                  <a:pt x="6728633" y="876300"/>
                  <a:pt x="6686547" y="876300"/>
                </a:cubicBezTo>
                <a:lnTo>
                  <a:pt x="76203" y="876300"/>
                </a:lnTo>
                <a:cubicBezTo>
                  <a:pt x="34117" y="876300"/>
                  <a:pt x="0" y="842183"/>
                  <a:pt x="0" y="800097"/>
                </a:cubicBezTo>
                <a:lnTo>
                  <a:pt x="0" y="76203"/>
                </a:lnTo>
                <a:cubicBezTo>
                  <a:pt x="0" y="34145"/>
                  <a:pt x="34145" y="0"/>
                  <a:pt x="76203" y="0"/>
                </a:cubicBezTo>
                <a:close/>
              </a:path>
            </a:pathLst>
          </a:custGeom>
          <a:solidFill>
            <a:srgbClr val="F3F4F6"/>
          </a:solidFill>
          <a:ln/>
        </p:spPr>
      </p:sp>
      <p:sp>
        <p:nvSpPr>
          <p:cNvPr id="10" name="Shape 8"/>
          <p:cNvSpPr/>
          <p:nvPr/>
        </p:nvSpPr>
        <p:spPr>
          <a:xfrm>
            <a:off x="205007" y="4685423"/>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25016" y="89297"/>
                </a:moveTo>
                <a:cubicBezTo>
                  <a:pt x="125016" y="79440"/>
                  <a:pt x="133018" y="71438"/>
                  <a:pt x="142875" y="71438"/>
                </a:cubicBezTo>
                <a:cubicBezTo>
                  <a:pt x="152732" y="71438"/>
                  <a:pt x="160734" y="79440"/>
                  <a:pt x="160734" y="89297"/>
                </a:cubicBezTo>
                <a:cubicBezTo>
                  <a:pt x="160734" y="99154"/>
                  <a:pt x="152732" y="107156"/>
                  <a:pt x="142875" y="107156"/>
                </a:cubicBezTo>
                <a:cubicBezTo>
                  <a:pt x="133018" y="107156"/>
                  <a:pt x="125016" y="99154"/>
                  <a:pt x="125016" y="89297"/>
                </a:cubicBezTo>
                <a:close/>
                <a:moveTo>
                  <a:pt x="120551" y="125016"/>
                </a:moveTo>
                <a:lnTo>
                  <a:pt x="147340" y="125016"/>
                </a:lnTo>
                <a:cubicBezTo>
                  <a:pt x="154763" y="125016"/>
                  <a:pt x="160734" y="130987"/>
                  <a:pt x="160734" y="138410"/>
                </a:cubicBezTo>
                <a:lnTo>
                  <a:pt x="160734" y="187523"/>
                </a:lnTo>
                <a:lnTo>
                  <a:pt x="165199" y="187523"/>
                </a:lnTo>
                <a:cubicBezTo>
                  <a:pt x="172622" y="187523"/>
                  <a:pt x="178594" y="193495"/>
                  <a:pt x="178594" y="200918"/>
                </a:cubicBezTo>
                <a:cubicBezTo>
                  <a:pt x="178594" y="208341"/>
                  <a:pt x="172622" y="214313"/>
                  <a:pt x="165199" y="214313"/>
                </a:cubicBezTo>
                <a:lnTo>
                  <a:pt x="120551" y="214313"/>
                </a:lnTo>
                <a:cubicBezTo>
                  <a:pt x="113128" y="214313"/>
                  <a:pt x="107156" y="208341"/>
                  <a:pt x="107156" y="200918"/>
                </a:cubicBezTo>
                <a:cubicBezTo>
                  <a:pt x="107156" y="193495"/>
                  <a:pt x="113128" y="187523"/>
                  <a:pt x="120551" y="187523"/>
                </a:cubicBezTo>
                <a:lnTo>
                  <a:pt x="133945" y="187523"/>
                </a:lnTo>
                <a:lnTo>
                  <a:pt x="133945" y="151805"/>
                </a:lnTo>
                <a:lnTo>
                  <a:pt x="120551" y="151805"/>
                </a:lnTo>
                <a:cubicBezTo>
                  <a:pt x="113128" y="151805"/>
                  <a:pt x="107156" y="145833"/>
                  <a:pt x="107156" y="138410"/>
                </a:cubicBezTo>
                <a:cubicBezTo>
                  <a:pt x="107156" y="130987"/>
                  <a:pt x="113128" y="125016"/>
                  <a:pt x="120551" y="125016"/>
                </a:cubicBezTo>
                <a:close/>
              </a:path>
            </a:pathLst>
          </a:custGeom>
          <a:solidFill>
            <a:srgbClr val="C87E62"/>
          </a:solidFill>
          <a:ln/>
        </p:spPr>
      </p:sp>
      <p:sp>
        <p:nvSpPr>
          <p:cNvPr id="11" name="Text 9"/>
          <p:cNvSpPr/>
          <p:nvPr/>
        </p:nvSpPr>
        <p:spPr>
          <a:xfrm>
            <a:off x="613093" y="4580648"/>
            <a:ext cx="6086475" cy="495300"/>
          </a:xfrm>
          <a:prstGeom prst="rect">
            <a:avLst/>
          </a:prstGeom>
          <a:noFill/>
          <a:ln/>
        </p:spPr>
        <p:txBody>
          <a:bodyPr wrap="square" lIns="0" tIns="0" rIns="0" bIns="0" rtlCol="0" anchor="ctr"/>
          <a:lstStyle/>
          <a:p>
            <a:pPr>
              <a:lnSpc>
                <a:spcPct val="140000"/>
              </a:lnSpc>
            </a:pPr>
            <a:r>
              <a:rPr lang="en-US" sz="1500" dirty="0">
                <a:solidFill>
                  <a:srgbClr val="2A4D53"/>
                </a:solidFill>
                <a:latin typeface="Liter" pitchFamily="34" charset="0"/>
                <a:ea typeface="Liter" pitchFamily="34" charset="-122"/>
                <a:cs typeface="Liter" pitchFamily="34" charset="-120"/>
              </a:rPr>
              <a:t>The absence of a clear 80/20 pattern suggests that healthcare challenges in Kaduna State require broad-based interventions rather than concentrated efforts in select areas.</a:t>
            </a:r>
            <a:endParaRPr lang="en-US" sz="1500" dirty="0"/>
          </a:p>
        </p:txBody>
      </p:sp>
      <p:pic>
        <p:nvPicPr>
          <p:cNvPr id="14" name="Picture 13">
            <a:extLst>
              <a:ext uri="{FF2B5EF4-FFF2-40B4-BE49-F238E27FC236}">
                <a16:creationId xmlns:a16="http://schemas.microsoft.com/office/drawing/2014/main" id="{3F49FAC6-4EC2-4901-9728-0919B30478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0054" y="128337"/>
            <a:ext cx="5363845" cy="6729663"/>
          </a:xfrm>
          <a:prstGeom prst="rect">
            <a:avLst/>
          </a:prstGeom>
        </p:spPr>
      </p:pic>
    </p:spTree>
    <p:extLst>
      <p:ext uri="{BB962C8B-B14F-4D97-AF65-F5344CB8AC3E}">
        <p14:creationId xmlns:p14="http://schemas.microsoft.com/office/powerpoint/2010/main" val="98413322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81000" y="552450"/>
            <a:ext cx="762000" cy="38100"/>
          </a:xfrm>
          <a:custGeom>
            <a:avLst/>
            <a:gdLst/>
            <a:ahLst/>
            <a:cxnLst/>
            <a:rect l="l" t="t" r="r" b="b"/>
            <a:pathLst>
              <a:path w="762000" h="38100">
                <a:moveTo>
                  <a:pt x="0" y="0"/>
                </a:moveTo>
                <a:lnTo>
                  <a:pt x="762000" y="0"/>
                </a:lnTo>
                <a:lnTo>
                  <a:pt x="762000" y="38100"/>
                </a:lnTo>
                <a:lnTo>
                  <a:pt x="0" y="38100"/>
                </a:lnTo>
                <a:lnTo>
                  <a:pt x="0" y="0"/>
                </a:lnTo>
                <a:close/>
              </a:path>
            </a:pathLst>
          </a:custGeom>
          <a:solidFill>
            <a:srgbClr val="C87E62"/>
          </a:solidFill>
          <a:ln/>
        </p:spPr>
      </p:sp>
      <p:sp>
        <p:nvSpPr>
          <p:cNvPr id="3" name="Text 1"/>
          <p:cNvSpPr/>
          <p:nvPr/>
        </p:nvSpPr>
        <p:spPr>
          <a:xfrm>
            <a:off x="1371600" y="381000"/>
            <a:ext cx="6970295" cy="457200"/>
          </a:xfrm>
          <a:prstGeom prst="rect">
            <a:avLst/>
          </a:prstGeom>
          <a:noFill/>
          <a:ln/>
        </p:spPr>
        <p:txBody>
          <a:bodyPr wrap="square" lIns="0" tIns="0" rIns="0" bIns="0" rtlCol="0" anchor="ctr"/>
          <a:lstStyle/>
          <a:p>
            <a:pPr>
              <a:lnSpc>
                <a:spcPct val="90000"/>
              </a:lnSpc>
            </a:pPr>
            <a:r>
              <a:rPr lang="en-US" sz="2800" b="1" dirty="0">
                <a:solidFill>
                  <a:srgbClr val="2A4D53"/>
                </a:solidFill>
                <a:latin typeface="Liter" pitchFamily="34" charset="0"/>
                <a:ea typeface="Liter" pitchFamily="34" charset="-122"/>
                <a:cs typeface="Liter" pitchFamily="34" charset="-120"/>
              </a:rPr>
              <a:t>Conclusion &amp; Recommendations</a:t>
            </a:r>
            <a:endParaRPr lang="en-US" sz="2800" dirty="0"/>
          </a:p>
        </p:txBody>
      </p:sp>
      <p:sp>
        <p:nvSpPr>
          <p:cNvPr id="4" name="Shape 2"/>
          <p:cNvSpPr/>
          <p:nvPr/>
        </p:nvSpPr>
        <p:spPr>
          <a:xfrm>
            <a:off x="428625" y="1028700"/>
            <a:ext cx="142875" cy="190500"/>
          </a:xfrm>
          <a:custGeom>
            <a:avLst/>
            <a:gdLst/>
            <a:ahLst/>
            <a:cxnLst/>
            <a:rect l="l" t="t" r="r" b="b"/>
            <a:pathLst>
              <a:path w="142875" h="190500">
                <a:moveTo>
                  <a:pt x="115863" y="11906"/>
                </a:moveTo>
                <a:lnTo>
                  <a:pt x="119063" y="11906"/>
                </a:lnTo>
                <a:cubicBezTo>
                  <a:pt x="132197" y="11906"/>
                  <a:pt x="142875" y="22585"/>
                  <a:pt x="142875" y="35719"/>
                </a:cubicBezTo>
                <a:lnTo>
                  <a:pt x="142875" y="166688"/>
                </a:lnTo>
                <a:cubicBezTo>
                  <a:pt x="142875" y="179822"/>
                  <a:pt x="132197" y="190500"/>
                  <a:pt x="119063" y="190500"/>
                </a:cubicBezTo>
                <a:lnTo>
                  <a:pt x="23812" y="190500"/>
                </a:lnTo>
                <a:cubicBezTo>
                  <a:pt x="10678" y="190500"/>
                  <a:pt x="0" y="179822"/>
                  <a:pt x="0" y="166688"/>
                </a:cubicBezTo>
                <a:lnTo>
                  <a:pt x="0" y="35719"/>
                </a:lnTo>
                <a:cubicBezTo>
                  <a:pt x="0" y="22585"/>
                  <a:pt x="10678" y="11906"/>
                  <a:pt x="23812" y="11906"/>
                </a:cubicBezTo>
                <a:lnTo>
                  <a:pt x="27012" y="11906"/>
                </a:lnTo>
                <a:cubicBezTo>
                  <a:pt x="31105" y="4800"/>
                  <a:pt x="38807" y="0"/>
                  <a:pt x="47625" y="0"/>
                </a:cubicBezTo>
                <a:lnTo>
                  <a:pt x="95250" y="0"/>
                </a:lnTo>
                <a:cubicBezTo>
                  <a:pt x="104068" y="0"/>
                  <a:pt x="111770" y="4800"/>
                  <a:pt x="115863" y="11906"/>
                </a:cubicBezTo>
                <a:close/>
                <a:moveTo>
                  <a:pt x="92273" y="41672"/>
                </a:moveTo>
                <a:cubicBezTo>
                  <a:pt x="97222" y="41672"/>
                  <a:pt x="101203" y="37691"/>
                  <a:pt x="101203" y="32742"/>
                </a:cubicBezTo>
                <a:cubicBezTo>
                  <a:pt x="101203" y="27794"/>
                  <a:pt x="97222" y="23812"/>
                  <a:pt x="92273" y="23812"/>
                </a:cubicBezTo>
                <a:lnTo>
                  <a:pt x="50602" y="23812"/>
                </a:lnTo>
                <a:cubicBezTo>
                  <a:pt x="45653" y="23812"/>
                  <a:pt x="41672" y="27794"/>
                  <a:pt x="41672" y="32742"/>
                </a:cubicBezTo>
                <a:cubicBezTo>
                  <a:pt x="41672" y="37691"/>
                  <a:pt x="45653" y="41672"/>
                  <a:pt x="50602" y="41672"/>
                </a:cubicBezTo>
                <a:lnTo>
                  <a:pt x="92273" y="41672"/>
                </a:lnTo>
                <a:close/>
                <a:moveTo>
                  <a:pt x="102840" y="96999"/>
                </a:moveTo>
                <a:cubicBezTo>
                  <a:pt x="105445" y="92832"/>
                  <a:pt x="104180" y="87325"/>
                  <a:pt x="100012" y="84683"/>
                </a:cubicBezTo>
                <a:cubicBezTo>
                  <a:pt x="95845" y="82042"/>
                  <a:pt x="90339" y="83344"/>
                  <a:pt x="87697" y="87511"/>
                </a:cubicBezTo>
                <a:lnTo>
                  <a:pt x="64852" y="124085"/>
                </a:lnTo>
                <a:lnTo>
                  <a:pt x="54806" y="110691"/>
                </a:lnTo>
                <a:cubicBezTo>
                  <a:pt x="51829" y="106747"/>
                  <a:pt x="46248" y="105928"/>
                  <a:pt x="42304" y="108905"/>
                </a:cubicBezTo>
                <a:cubicBezTo>
                  <a:pt x="38360" y="111882"/>
                  <a:pt x="37542" y="117463"/>
                  <a:pt x="40518" y="121407"/>
                </a:cubicBezTo>
                <a:lnTo>
                  <a:pt x="58378" y="145219"/>
                </a:lnTo>
                <a:cubicBezTo>
                  <a:pt x="60127" y="147563"/>
                  <a:pt x="62954" y="148903"/>
                  <a:pt x="65894" y="148791"/>
                </a:cubicBezTo>
                <a:cubicBezTo>
                  <a:pt x="68833" y="148679"/>
                  <a:pt x="71512" y="147117"/>
                  <a:pt x="73075" y="144587"/>
                </a:cubicBezTo>
                <a:lnTo>
                  <a:pt x="102840" y="96962"/>
                </a:lnTo>
                <a:close/>
              </a:path>
            </a:pathLst>
          </a:custGeom>
          <a:solidFill>
            <a:srgbClr val="C87E62"/>
          </a:solidFill>
          <a:ln/>
        </p:spPr>
      </p:sp>
      <p:sp>
        <p:nvSpPr>
          <p:cNvPr id="5" name="Text 3"/>
          <p:cNvSpPr/>
          <p:nvPr/>
        </p:nvSpPr>
        <p:spPr>
          <a:xfrm>
            <a:off x="619125" y="990600"/>
            <a:ext cx="5419725" cy="266700"/>
          </a:xfrm>
          <a:prstGeom prst="rect">
            <a:avLst/>
          </a:prstGeom>
          <a:noFill/>
          <a:ln/>
        </p:spPr>
        <p:txBody>
          <a:bodyPr wrap="square" lIns="0" tIns="0" rIns="0" bIns="0" rtlCol="0" anchor="ctr"/>
          <a:lstStyle/>
          <a:p>
            <a:pPr>
              <a:lnSpc>
                <a:spcPct val="120000"/>
              </a:lnSpc>
            </a:pPr>
            <a:r>
              <a:rPr lang="en-US" sz="2000" b="1" dirty="0">
                <a:solidFill>
                  <a:srgbClr val="2A4D53"/>
                </a:solidFill>
                <a:latin typeface="Liter" pitchFamily="34" charset="0"/>
                <a:ea typeface="Liter" pitchFamily="34" charset="-122"/>
                <a:cs typeface="Liter" pitchFamily="34" charset="-120"/>
              </a:rPr>
              <a:t>Key Findings Summary</a:t>
            </a:r>
            <a:endParaRPr lang="en-US" sz="2000" dirty="0"/>
          </a:p>
        </p:txBody>
      </p:sp>
      <p:sp>
        <p:nvSpPr>
          <p:cNvPr id="6" name="Shape 4"/>
          <p:cNvSpPr/>
          <p:nvPr/>
        </p:nvSpPr>
        <p:spPr>
          <a:xfrm>
            <a:off x="381000" y="1636294"/>
            <a:ext cx="5543550" cy="685800"/>
          </a:xfrm>
          <a:custGeom>
            <a:avLst/>
            <a:gdLst/>
            <a:ahLst/>
            <a:cxnLst/>
            <a:rect l="l" t="t" r="r" b="b"/>
            <a:pathLst>
              <a:path w="5543550" h="685800">
                <a:moveTo>
                  <a:pt x="38100" y="0"/>
                </a:moveTo>
                <a:lnTo>
                  <a:pt x="5467351" y="0"/>
                </a:lnTo>
                <a:cubicBezTo>
                  <a:pt x="5509434" y="0"/>
                  <a:pt x="5543550" y="34116"/>
                  <a:pt x="5543550" y="76199"/>
                </a:cubicBezTo>
                <a:lnTo>
                  <a:pt x="5543550" y="609601"/>
                </a:lnTo>
                <a:cubicBezTo>
                  <a:pt x="5543550" y="651684"/>
                  <a:pt x="5509434" y="685800"/>
                  <a:pt x="5467351" y="685800"/>
                </a:cubicBezTo>
                <a:lnTo>
                  <a:pt x="38100" y="685800"/>
                </a:lnTo>
                <a:cubicBezTo>
                  <a:pt x="17072" y="685800"/>
                  <a:pt x="0" y="668728"/>
                  <a:pt x="0" y="647700"/>
                </a:cubicBezTo>
                <a:lnTo>
                  <a:pt x="0" y="38100"/>
                </a:lnTo>
                <a:cubicBezTo>
                  <a:pt x="0" y="17072"/>
                  <a:pt x="17072" y="0"/>
                  <a:pt x="38100" y="0"/>
                </a:cubicBezTo>
                <a:close/>
              </a:path>
            </a:pathLst>
          </a:custGeom>
          <a:solidFill>
            <a:srgbClr val="FEF2F2"/>
          </a:solidFill>
          <a:ln/>
        </p:spPr>
      </p:sp>
      <p:sp>
        <p:nvSpPr>
          <p:cNvPr id="7" name="Shape 5"/>
          <p:cNvSpPr/>
          <p:nvPr/>
        </p:nvSpPr>
        <p:spPr>
          <a:xfrm>
            <a:off x="400050" y="1617746"/>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FB2C36"/>
          </a:solidFill>
          <a:ln/>
        </p:spPr>
      </p:sp>
      <p:sp>
        <p:nvSpPr>
          <p:cNvPr id="8" name="Text 6"/>
          <p:cNvSpPr/>
          <p:nvPr/>
        </p:nvSpPr>
        <p:spPr>
          <a:xfrm>
            <a:off x="571500" y="1770146"/>
            <a:ext cx="5286375" cy="381000"/>
          </a:xfrm>
          <a:prstGeom prst="rect">
            <a:avLst/>
          </a:prstGeom>
          <a:noFill/>
          <a:ln/>
        </p:spPr>
        <p:txBody>
          <a:bodyPr wrap="square" lIns="0" tIns="0" rIns="0" bIns="0" rtlCol="0" anchor="ctr"/>
          <a:lstStyle/>
          <a:p>
            <a:pPr>
              <a:lnSpc>
                <a:spcPct val="120000"/>
              </a:lnSpc>
            </a:pPr>
            <a:r>
              <a:rPr lang="en-US" sz="1400" b="1" dirty="0">
                <a:solidFill>
                  <a:srgbClr val="2A4D53"/>
                </a:solidFill>
                <a:latin typeface="Liter" pitchFamily="34" charset="0"/>
                <a:ea typeface="Liter" pitchFamily="34" charset="-122"/>
                <a:cs typeface="Liter" pitchFamily="34" charset="-120"/>
              </a:rPr>
              <a:t>Access Gap:</a:t>
            </a:r>
            <a:r>
              <a:rPr lang="en-US" sz="1400" dirty="0">
                <a:solidFill>
                  <a:srgbClr val="2A4D53"/>
                </a:solidFill>
                <a:latin typeface="Liter" pitchFamily="34" charset="0"/>
                <a:ea typeface="Liter" pitchFamily="34" charset="-122"/>
                <a:cs typeface="Liter" pitchFamily="34" charset="-120"/>
              </a:rPr>
              <a:t> Igabi LGA faces a "double burden" with the largest population (751,398) and longest travel distance (3.24 km), requiring immediate infrastructure development.</a:t>
            </a:r>
            <a:endParaRPr lang="en-US" sz="1400" dirty="0"/>
          </a:p>
        </p:txBody>
      </p:sp>
      <p:sp>
        <p:nvSpPr>
          <p:cNvPr id="9" name="Shape 7"/>
          <p:cNvSpPr/>
          <p:nvPr/>
        </p:nvSpPr>
        <p:spPr>
          <a:xfrm>
            <a:off x="400050" y="2497555"/>
            <a:ext cx="5543550" cy="876300"/>
          </a:xfrm>
          <a:custGeom>
            <a:avLst/>
            <a:gdLst/>
            <a:ahLst/>
            <a:cxnLst/>
            <a:rect l="l" t="t" r="r" b="b"/>
            <a:pathLst>
              <a:path w="5543550" h="876300">
                <a:moveTo>
                  <a:pt x="38100" y="0"/>
                </a:moveTo>
                <a:lnTo>
                  <a:pt x="5467347" y="0"/>
                </a:lnTo>
                <a:cubicBezTo>
                  <a:pt x="5509433" y="0"/>
                  <a:pt x="5543550" y="34117"/>
                  <a:pt x="5543550" y="76203"/>
                </a:cubicBezTo>
                <a:lnTo>
                  <a:pt x="5543550" y="800097"/>
                </a:lnTo>
                <a:cubicBezTo>
                  <a:pt x="5543550" y="842183"/>
                  <a:pt x="5509433" y="876300"/>
                  <a:pt x="5467347" y="876300"/>
                </a:cubicBezTo>
                <a:lnTo>
                  <a:pt x="38100" y="876300"/>
                </a:lnTo>
                <a:cubicBezTo>
                  <a:pt x="17072" y="876300"/>
                  <a:pt x="0" y="859228"/>
                  <a:pt x="0" y="838200"/>
                </a:cubicBezTo>
                <a:lnTo>
                  <a:pt x="0" y="38100"/>
                </a:lnTo>
                <a:cubicBezTo>
                  <a:pt x="0" y="17072"/>
                  <a:pt x="17072" y="0"/>
                  <a:pt x="38100" y="0"/>
                </a:cubicBezTo>
                <a:close/>
              </a:path>
            </a:pathLst>
          </a:custGeom>
          <a:solidFill>
            <a:srgbClr val="FFF7ED"/>
          </a:solidFill>
          <a:ln/>
        </p:spPr>
      </p:sp>
      <p:sp>
        <p:nvSpPr>
          <p:cNvPr id="10" name="Shape 8"/>
          <p:cNvSpPr/>
          <p:nvPr/>
        </p:nvSpPr>
        <p:spPr>
          <a:xfrm>
            <a:off x="416719" y="2447925"/>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FF6900"/>
          </a:solidFill>
          <a:ln/>
        </p:spPr>
      </p:sp>
      <p:sp>
        <p:nvSpPr>
          <p:cNvPr id="11" name="Text 9"/>
          <p:cNvSpPr/>
          <p:nvPr/>
        </p:nvSpPr>
        <p:spPr>
          <a:xfrm>
            <a:off x="571500" y="2649955"/>
            <a:ext cx="5286375" cy="571500"/>
          </a:xfrm>
          <a:prstGeom prst="rect">
            <a:avLst/>
          </a:prstGeom>
          <a:noFill/>
          <a:ln/>
        </p:spPr>
        <p:txBody>
          <a:bodyPr wrap="square" lIns="0" tIns="0" rIns="0" bIns="0" rtlCol="0" anchor="ctr"/>
          <a:lstStyle/>
          <a:p>
            <a:pPr>
              <a:lnSpc>
                <a:spcPct val="120000"/>
              </a:lnSpc>
            </a:pPr>
            <a:r>
              <a:rPr lang="en-US" sz="1400" b="1" dirty="0">
                <a:solidFill>
                  <a:srgbClr val="2A4D53"/>
                </a:solidFill>
                <a:latin typeface="Liter" pitchFamily="34" charset="0"/>
                <a:ea typeface="Liter" pitchFamily="34" charset="-122"/>
                <a:cs typeface="Liter" pitchFamily="34" charset="-120"/>
              </a:rPr>
              <a:t>Vaccine Misalignment:</a:t>
            </a:r>
            <a:r>
              <a:rPr lang="en-US" sz="1400" dirty="0">
                <a:solidFill>
                  <a:srgbClr val="2A4D53"/>
                </a:solidFill>
                <a:latin typeface="Liter" pitchFamily="34" charset="0"/>
                <a:ea typeface="Liter" pitchFamily="34" charset="-122"/>
                <a:cs typeface="Liter" pitchFamily="34" charset="-120"/>
              </a:rPr>
              <a:t> Geographic disparity exists where vaccine supply fails to reach appropriate children - "vaccine deserts" like Ankpong Hc require urgent stock reallocation.</a:t>
            </a:r>
            <a:endParaRPr lang="en-US" sz="1400" dirty="0"/>
          </a:p>
        </p:txBody>
      </p:sp>
      <p:sp>
        <p:nvSpPr>
          <p:cNvPr id="12" name="Shape 10"/>
          <p:cNvSpPr/>
          <p:nvPr/>
        </p:nvSpPr>
        <p:spPr>
          <a:xfrm>
            <a:off x="351235" y="3592429"/>
            <a:ext cx="5543550" cy="914400"/>
          </a:xfrm>
          <a:custGeom>
            <a:avLst/>
            <a:gdLst/>
            <a:ahLst/>
            <a:cxnLst/>
            <a:rect l="l" t="t" r="r" b="b"/>
            <a:pathLst>
              <a:path w="5543550" h="685800">
                <a:moveTo>
                  <a:pt x="38100" y="0"/>
                </a:moveTo>
                <a:lnTo>
                  <a:pt x="5467351" y="0"/>
                </a:lnTo>
                <a:cubicBezTo>
                  <a:pt x="5509434" y="0"/>
                  <a:pt x="5543550" y="34116"/>
                  <a:pt x="5543550" y="76199"/>
                </a:cubicBezTo>
                <a:lnTo>
                  <a:pt x="5543550" y="609601"/>
                </a:lnTo>
                <a:cubicBezTo>
                  <a:pt x="5543550" y="651684"/>
                  <a:pt x="5509434" y="685800"/>
                  <a:pt x="5467351" y="685800"/>
                </a:cubicBezTo>
                <a:lnTo>
                  <a:pt x="38100" y="685800"/>
                </a:lnTo>
                <a:cubicBezTo>
                  <a:pt x="17072" y="685800"/>
                  <a:pt x="0" y="668728"/>
                  <a:pt x="0" y="647700"/>
                </a:cubicBezTo>
                <a:lnTo>
                  <a:pt x="0" y="38100"/>
                </a:lnTo>
                <a:cubicBezTo>
                  <a:pt x="0" y="17072"/>
                  <a:pt x="17072" y="0"/>
                  <a:pt x="38100" y="0"/>
                </a:cubicBezTo>
                <a:close/>
              </a:path>
            </a:pathLst>
          </a:custGeom>
          <a:solidFill>
            <a:srgbClr val="FEFCE8"/>
          </a:solidFill>
          <a:ln/>
        </p:spPr>
      </p:sp>
      <p:sp>
        <p:nvSpPr>
          <p:cNvPr id="13" name="Shape 11"/>
          <p:cNvSpPr/>
          <p:nvPr/>
        </p:nvSpPr>
        <p:spPr>
          <a:xfrm>
            <a:off x="416719" y="3648075"/>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F0B100"/>
          </a:solidFill>
          <a:ln/>
        </p:spPr>
      </p:sp>
      <p:sp>
        <p:nvSpPr>
          <p:cNvPr id="14" name="Text 12"/>
          <p:cNvSpPr/>
          <p:nvPr/>
        </p:nvSpPr>
        <p:spPr>
          <a:xfrm>
            <a:off x="588169" y="3800475"/>
            <a:ext cx="5286375" cy="381000"/>
          </a:xfrm>
          <a:prstGeom prst="rect">
            <a:avLst/>
          </a:prstGeom>
          <a:noFill/>
          <a:ln/>
        </p:spPr>
        <p:txBody>
          <a:bodyPr wrap="square" lIns="0" tIns="0" rIns="0" bIns="0" rtlCol="0" anchor="ctr"/>
          <a:lstStyle/>
          <a:p>
            <a:pPr>
              <a:lnSpc>
                <a:spcPct val="120000"/>
              </a:lnSpc>
            </a:pPr>
            <a:r>
              <a:rPr lang="en-US" sz="1400" b="1" dirty="0">
                <a:solidFill>
                  <a:srgbClr val="2A4D53"/>
                </a:solidFill>
                <a:latin typeface="Liter" pitchFamily="34" charset="0"/>
                <a:ea typeface="Liter" pitchFamily="34" charset="-122"/>
                <a:cs typeface="Liter" pitchFamily="34" charset="-120"/>
              </a:rPr>
              <a:t>Maternal Health Gaps:</a:t>
            </a:r>
            <a:r>
              <a:rPr lang="en-US" sz="1400" dirty="0">
                <a:solidFill>
                  <a:srgbClr val="2A4D53"/>
                </a:solidFill>
                <a:latin typeface="Liter" pitchFamily="34" charset="0"/>
                <a:ea typeface="Liter" pitchFamily="34" charset="-122"/>
                <a:cs typeface="Liter" pitchFamily="34" charset="-120"/>
              </a:rPr>
              <a:t> Narayi Ward is a critical "service desert" with drug shortages creating highest maternal risk; Badarawa faces a "Choice Desert" for 40,000+ WRA.</a:t>
            </a:r>
            <a:endParaRPr lang="en-US" sz="1400" dirty="0"/>
          </a:p>
        </p:txBody>
      </p:sp>
      <p:sp>
        <p:nvSpPr>
          <p:cNvPr id="15" name="Shape 13"/>
          <p:cNvSpPr/>
          <p:nvPr/>
        </p:nvSpPr>
        <p:spPr>
          <a:xfrm>
            <a:off x="381000" y="4629150"/>
            <a:ext cx="5543550" cy="685800"/>
          </a:xfrm>
          <a:custGeom>
            <a:avLst/>
            <a:gdLst/>
            <a:ahLst/>
            <a:cxnLst/>
            <a:rect l="l" t="t" r="r" b="b"/>
            <a:pathLst>
              <a:path w="5543550" h="685800">
                <a:moveTo>
                  <a:pt x="38100" y="0"/>
                </a:moveTo>
                <a:lnTo>
                  <a:pt x="5467351" y="0"/>
                </a:lnTo>
                <a:cubicBezTo>
                  <a:pt x="5509434" y="0"/>
                  <a:pt x="5543550" y="34116"/>
                  <a:pt x="5543550" y="76199"/>
                </a:cubicBezTo>
                <a:lnTo>
                  <a:pt x="5543550" y="609601"/>
                </a:lnTo>
                <a:cubicBezTo>
                  <a:pt x="5543550" y="651684"/>
                  <a:pt x="5509434" y="685800"/>
                  <a:pt x="5467351" y="685800"/>
                </a:cubicBezTo>
                <a:lnTo>
                  <a:pt x="38100" y="685800"/>
                </a:lnTo>
                <a:cubicBezTo>
                  <a:pt x="17072" y="685800"/>
                  <a:pt x="0" y="668728"/>
                  <a:pt x="0" y="647700"/>
                </a:cubicBezTo>
                <a:lnTo>
                  <a:pt x="0" y="38100"/>
                </a:lnTo>
                <a:cubicBezTo>
                  <a:pt x="0" y="17072"/>
                  <a:pt x="17072" y="0"/>
                  <a:pt x="38100" y="0"/>
                </a:cubicBezTo>
                <a:close/>
              </a:path>
            </a:pathLst>
          </a:custGeom>
          <a:solidFill>
            <a:srgbClr val="FAF5FF"/>
          </a:solidFill>
          <a:ln/>
        </p:spPr>
      </p:sp>
      <p:sp>
        <p:nvSpPr>
          <p:cNvPr id="16" name="Shape 14"/>
          <p:cNvSpPr/>
          <p:nvPr/>
        </p:nvSpPr>
        <p:spPr>
          <a:xfrm>
            <a:off x="381000" y="462915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AD46FF"/>
          </a:solidFill>
          <a:ln/>
        </p:spPr>
      </p:sp>
      <p:sp>
        <p:nvSpPr>
          <p:cNvPr id="17" name="Text 15"/>
          <p:cNvSpPr/>
          <p:nvPr/>
        </p:nvSpPr>
        <p:spPr>
          <a:xfrm>
            <a:off x="552450" y="4781550"/>
            <a:ext cx="5286375" cy="381000"/>
          </a:xfrm>
          <a:prstGeom prst="rect">
            <a:avLst/>
          </a:prstGeom>
          <a:noFill/>
          <a:ln/>
        </p:spPr>
        <p:txBody>
          <a:bodyPr wrap="square" lIns="0" tIns="0" rIns="0" bIns="0" rtlCol="0" anchor="ctr"/>
          <a:lstStyle/>
          <a:p>
            <a:pPr>
              <a:lnSpc>
                <a:spcPct val="120000"/>
              </a:lnSpc>
            </a:pPr>
            <a:r>
              <a:rPr lang="en-US" sz="1400" b="1" dirty="0">
                <a:solidFill>
                  <a:srgbClr val="2A4D53"/>
                </a:solidFill>
                <a:latin typeface="Liter" pitchFamily="34" charset="0"/>
                <a:ea typeface="Liter" pitchFamily="34" charset="-122"/>
                <a:cs typeface="Liter" pitchFamily="34" charset="-120"/>
              </a:rPr>
              <a:t>Risk-Based Disadvantage:</a:t>
            </a:r>
            <a:r>
              <a:rPr lang="en-US" sz="1400" dirty="0">
                <a:solidFill>
                  <a:srgbClr val="2A4D53"/>
                </a:solidFill>
                <a:latin typeface="Liter" pitchFamily="34" charset="0"/>
                <a:ea typeface="Liter" pitchFamily="34" charset="-122"/>
                <a:cs typeface="Liter" pitchFamily="34" charset="-120"/>
              </a:rPr>
              <a:t> HTR and insecure areas operate with 44% less staff and 40% fewer commodities, creating structural inequality.</a:t>
            </a:r>
            <a:endParaRPr lang="en-US" sz="1400" dirty="0"/>
          </a:p>
        </p:txBody>
      </p:sp>
      <p:sp>
        <p:nvSpPr>
          <p:cNvPr id="18" name="Shape 16"/>
          <p:cNvSpPr/>
          <p:nvPr/>
        </p:nvSpPr>
        <p:spPr>
          <a:xfrm>
            <a:off x="6296025" y="1028700"/>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C87E62"/>
          </a:solidFill>
          <a:ln/>
        </p:spPr>
      </p:sp>
      <p:sp>
        <p:nvSpPr>
          <p:cNvPr id="19" name="Text 17"/>
          <p:cNvSpPr/>
          <p:nvPr/>
        </p:nvSpPr>
        <p:spPr>
          <a:xfrm>
            <a:off x="6486525" y="990600"/>
            <a:ext cx="5419725" cy="266700"/>
          </a:xfrm>
          <a:prstGeom prst="rect">
            <a:avLst/>
          </a:prstGeom>
          <a:noFill/>
          <a:ln/>
        </p:spPr>
        <p:txBody>
          <a:bodyPr wrap="square" lIns="0" tIns="0" rIns="0" bIns="0" rtlCol="0" anchor="ctr"/>
          <a:lstStyle/>
          <a:p>
            <a:pPr>
              <a:lnSpc>
                <a:spcPct val="120000"/>
              </a:lnSpc>
            </a:pPr>
            <a:r>
              <a:rPr lang="en-US" sz="2000" b="1" dirty="0">
                <a:solidFill>
                  <a:srgbClr val="2A4D53"/>
                </a:solidFill>
                <a:latin typeface="Liter" pitchFamily="34" charset="0"/>
                <a:ea typeface="Liter" pitchFamily="34" charset="-122"/>
                <a:cs typeface="Liter" pitchFamily="34" charset="-120"/>
              </a:rPr>
              <a:t>Strategic Recommendations</a:t>
            </a:r>
            <a:endParaRPr lang="en-US" sz="2000" dirty="0"/>
          </a:p>
        </p:txBody>
      </p:sp>
      <p:sp>
        <p:nvSpPr>
          <p:cNvPr id="20" name="Shape 18"/>
          <p:cNvSpPr/>
          <p:nvPr/>
        </p:nvSpPr>
        <p:spPr>
          <a:xfrm>
            <a:off x="6400800" y="15621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2A4D53"/>
          </a:solidFill>
          <a:ln/>
        </p:spPr>
      </p:sp>
      <p:sp>
        <p:nvSpPr>
          <p:cNvPr id="21" name="Text 19"/>
          <p:cNvSpPr/>
          <p:nvPr/>
        </p:nvSpPr>
        <p:spPr>
          <a:xfrm>
            <a:off x="6367463" y="1562100"/>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Liter" pitchFamily="34" charset="0"/>
                <a:ea typeface="Liter" pitchFamily="34" charset="-122"/>
                <a:cs typeface="Liter" pitchFamily="34" charset="-120"/>
              </a:rPr>
              <a:t>1</a:t>
            </a:r>
            <a:endParaRPr lang="en-US" sz="1600" dirty="0"/>
          </a:p>
        </p:txBody>
      </p:sp>
      <p:sp>
        <p:nvSpPr>
          <p:cNvPr id="22" name="Text 20"/>
          <p:cNvSpPr/>
          <p:nvPr/>
        </p:nvSpPr>
        <p:spPr>
          <a:xfrm>
            <a:off x="6819900" y="1562100"/>
            <a:ext cx="4914900" cy="228600"/>
          </a:xfrm>
          <a:prstGeom prst="rect">
            <a:avLst/>
          </a:prstGeom>
          <a:noFill/>
          <a:ln/>
        </p:spPr>
        <p:txBody>
          <a:bodyPr wrap="square" lIns="0" tIns="0" rIns="0" bIns="0" rtlCol="0" anchor="ctr"/>
          <a:lstStyle/>
          <a:p>
            <a:pPr>
              <a:lnSpc>
                <a:spcPct val="130000"/>
              </a:lnSpc>
            </a:pPr>
            <a:r>
              <a:rPr lang="en-US" sz="1600" b="1" dirty="0">
                <a:solidFill>
                  <a:srgbClr val="2A4D53"/>
                </a:solidFill>
                <a:latin typeface="Liter" pitchFamily="34" charset="0"/>
                <a:ea typeface="Liter" pitchFamily="34" charset="-122"/>
                <a:cs typeface="Liter" pitchFamily="34" charset="-120"/>
              </a:rPr>
              <a:t>Infrastructure &amp; Access</a:t>
            </a:r>
            <a:endParaRPr lang="en-US" sz="1600" dirty="0"/>
          </a:p>
        </p:txBody>
      </p:sp>
      <p:sp>
        <p:nvSpPr>
          <p:cNvPr id="23" name="Text 21"/>
          <p:cNvSpPr/>
          <p:nvPr/>
        </p:nvSpPr>
        <p:spPr>
          <a:xfrm>
            <a:off x="6819900" y="1790700"/>
            <a:ext cx="4905375" cy="381000"/>
          </a:xfrm>
          <a:prstGeom prst="rect">
            <a:avLst/>
          </a:prstGeom>
          <a:noFill/>
          <a:ln/>
        </p:spPr>
        <p:txBody>
          <a:bodyPr wrap="square" lIns="0" tIns="0" rIns="0" bIns="0" rtlCol="0" anchor="ctr"/>
          <a:lstStyle/>
          <a:p>
            <a:pPr>
              <a:lnSpc>
                <a:spcPct val="120000"/>
              </a:lnSpc>
            </a:pPr>
            <a:r>
              <a:rPr lang="en-US" sz="1100" b="1" dirty="0">
                <a:solidFill>
                  <a:srgbClr val="A9A299"/>
                </a:solidFill>
                <a:latin typeface="Liter" pitchFamily="34" charset="0"/>
                <a:ea typeface="Liter" pitchFamily="34" charset="-122"/>
                <a:cs typeface="Liter" pitchFamily="34" charset="-120"/>
              </a:rPr>
              <a:t>Prioritize facility construction in Igabi/Chikun; deploy mobile clinics for Giwa/Soba (3.1km+ zones).</a:t>
            </a:r>
            <a:endParaRPr lang="en-US" sz="1100" b="1" dirty="0"/>
          </a:p>
        </p:txBody>
      </p:sp>
      <p:sp>
        <p:nvSpPr>
          <p:cNvPr id="24" name="Shape 22"/>
          <p:cNvSpPr/>
          <p:nvPr/>
        </p:nvSpPr>
        <p:spPr>
          <a:xfrm>
            <a:off x="6400800" y="25908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C87E62"/>
          </a:solidFill>
          <a:ln/>
        </p:spPr>
      </p:sp>
      <p:sp>
        <p:nvSpPr>
          <p:cNvPr id="25" name="Text 23"/>
          <p:cNvSpPr/>
          <p:nvPr/>
        </p:nvSpPr>
        <p:spPr>
          <a:xfrm>
            <a:off x="6367463" y="2590800"/>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Liter" pitchFamily="34" charset="0"/>
                <a:ea typeface="Liter" pitchFamily="34" charset="-122"/>
                <a:cs typeface="Liter" pitchFamily="34" charset="-120"/>
              </a:rPr>
              <a:t>2</a:t>
            </a:r>
            <a:endParaRPr lang="en-US" sz="1600" dirty="0"/>
          </a:p>
        </p:txBody>
      </p:sp>
      <p:sp>
        <p:nvSpPr>
          <p:cNvPr id="26" name="Text 24"/>
          <p:cNvSpPr/>
          <p:nvPr/>
        </p:nvSpPr>
        <p:spPr>
          <a:xfrm>
            <a:off x="6819900" y="2590800"/>
            <a:ext cx="4914900" cy="228600"/>
          </a:xfrm>
          <a:prstGeom prst="rect">
            <a:avLst/>
          </a:prstGeom>
          <a:noFill/>
          <a:ln/>
        </p:spPr>
        <p:txBody>
          <a:bodyPr wrap="square" lIns="0" tIns="0" rIns="0" bIns="0" rtlCol="0" anchor="ctr"/>
          <a:lstStyle/>
          <a:p>
            <a:pPr>
              <a:lnSpc>
                <a:spcPct val="130000"/>
              </a:lnSpc>
            </a:pPr>
            <a:r>
              <a:rPr lang="en-US" sz="1600" b="1" dirty="0">
                <a:solidFill>
                  <a:srgbClr val="2A4D53"/>
                </a:solidFill>
                <a:latin typeface="Liter" pitchFamily="34" charset="0"/>
                <a:ea typeface="Liter" pitchFamily="34" charset="-122"/>
                <a:cs typeface="Liter" pitchFamily="34" charset="-120"/>
              </a:rPr>
              <a:t>Supply Chain Optimization</a:t>
            </a:r>
            <a:endParaRPr lang="en-US" sz="1600" dirty="0"/>
          </a:p>
        </p:txBody>
      </p:sp>
      <p:sp>
        <p:nvSpPr>
          <p:cNvPr id="27" name="Text 25"/>
          <p:cNvSpPr/>
          <p:nvPr/>
        </p:nvSpPr>
        <p:spPr>
          <a:xfrm>
            <a:off x="6819900" y="2819400"/>
            <a:ext cx="4905375" cy="381000"/>
          </a:xfrm>
          <a:prstGeom prst="rect">
            <a:avLst/>
          </a:prstGeom>
          <a:noFill/>
          <a:ln/>
        </p:spPr>
        <p:txBody>
          <a:bodyPr wrap="square" lIns="0" tIns="0" rIns="0" bIns="0" rtlCol="0" anchor="ctr"/>
          <a:lstStyle/>
          <a:p>
            <a:pPr>
              <a:lnSpc>
                <a:spcPct val="120000"/>
              </a:lnSpc>
            </a:pPr>
            <a:r>
              <a:rPr lang="en-US" sz="1100" dirty="0">
                <a:solidFill>
                  <a:srgbClr val="A9A299"/>
                </a:solidFill>
                <a:latin typeface="Liter" pitchFamily="34" charset="0"/>
                <a:ea typeface="Liter" pitchFamily="34" charset="-122"/>
                <a:cs typeface="Liter" pitchFamily="34" charset="-120"/>
              </a:rPr>
              <a:t>Implement real-time vaccine redistribution from over-supplied to "red-flag" facilities within 48 hours.</a:t>
            </a:r>
            <a:endParaRPr lang="en-US" sz="1100" dirty="0"/>
          </a:p>
        </p:txBody>
      </p:sp>
      <p:sp>
        <p:nvSpPr>
          <p:cNvPr id="28" name="Shape 26"/>
          <p:cNvSpPr/>
          <p:nvPr/>
        </p:nvSpPr>
        <p:spPr>
          <a:xfrm>
            <a:off x="6400800" y="36195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2A4D53"/>
          </a:solidFill>
          <a:ln/>
        </p:spPr>
      </p:sp>
      <p:sp>
        <p:nvSpPr>
          <p:cNvPr id="29" name="Text 27"/>
          <p:cNvSpPr/>
          <p:nvPr/>
        </p:nvSpPr>
        <p:spPr>
          <a:xfrm>
            <a:off x="6367463" y="3619500"/>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Liter" pitchFamily="34" charset="0"/>
                <a:ea typeface="Liter" pitchFamily="34" charset="-122"/>
                <a:cs typeface="Liter" pitchFamily="34" charset="-120"/>
              </a:rPr>
              <a:t>3</a:t>
            </a:r>
            <a:endParaRPr lang="en-US" sz="1600" dirty="0"/>
          </a:p>
        </p:txBody>
      </p:sp>
      <p:sp>
        <p:nvSpPr>
          <p:cNvPr id="30" name="Text 28"/>
          <p:cNvSpPr/>
          <p:nvPr/>
        </p:nvSpPr>
        <p:spPr>
          <a:xfrm>
            <a:off x="6819900" y="3619500"/>
            <a:ext cx="4914900" cy="228600"/>
          </a:xfrm>
          <a:prstGeom prst="rect">
            <a:avLst/>
          </a:prstGeom>
          <a:noFill/>
          <a:ln/>
        </p:spPr>
        <p:txBody>
          <a:bodyPr wrap="square" lIns="0" tIns="0" rIns="0" bIns="0" rtlCol="0" anchor="ctr"/>
          <a:lstStyle/>
          <a:p>
            <a:pPr>
              <a:lnSpc>
                <a:spcPct val="130000"/>
              </a:lnSpc>
            </a:pPr>
            <a:r>
              <a:rPr lang="en-US" sz="1600" b="1" dirty="0">
                <a:solidFill>
                  <a:srgbClr val="2A4D53"/>
                </a:solidFill>
                <a:latin typeface="Liter" pitchFamily="34" charset="0"/>
                <a:ea typeface="Liter" pitchFamily="34" charset="-122"/>
                <a:cs typeface="Liter" pitchFamily="34" charset="-120"/>
              </a:rPr>
              <a:t>Resource Reallocation</a:t>
            </a:r>
            <a:endParaRPr lang="en-US" sz="1600" dirty="0"/>
          </a:p>
        </p:txBody>
      </p:sp>
      <p:sp>
        <p:nvSpPr>
          <p:cNvPr id="31" name="Text 29"/>
          <p:cNvSpPr/>
          <p:nvPr/>
        </p:nvSpPr>
        <p:spPr>
          <a:xfrm>
            <a:off x="6819900" y="3848100"/>
            <a:ext cx="4905375" cy="381000"/>
          </a:xfrm>
          <a:prstGeom prst="rect">
            <a:avLst/>
          </a:prstGeom>
          <a:noFill/>
          <a:ln/>
        </p:spPr>
        <p:txBody>
          <a:bodyPr wrap="square" lIns="0" tIns="0" rIns="0" bIns="0" rtlCol="0" anchor="ctr"/>
          <a:lstStyle/>
          <a:p>
            <a:pPr>
              <a:lnSpc>
                <a:spcPct val="120000"/>
              </a:lnSpc>
            </a:pPr>
            <a:r>
              <a:rPr lang="en-US" sz="1050" b="1" dirty="0">
                <a:solidFill>
                  <a:srgbClr val="A9A299"/>
                </a:solidFill>
                <a:latin typeface="Liter" pitchFamily="34" charset="0"/>
                <a:ea typeface="Liter" pitchFamily="34" charset="-122"/>
                <a:cs typeface="Liter" pitchFamily="34" charset="-120"/>
              </a:rPr>
              <a:t>Shift resources from urban centers to "Red Zone" wards (Narayi, Daddu, Kudaru); diversify FP methods in high-density hubs.</a:t>
            </a:r>
            <a:endParaRPr lang="en-US" sz="1600" b="1" dirty="0"/>
          </a:p>
        </p:txBody>
      </p:sp>
      <p:sp>
        <p:nvSpPr>
          <p:cNvPr id="32" name="Shape 30"/>
          <p:cNvSpPr/>
          <p:nvPr/>
        </p:nvSpPr>
        <p:spPr>
          <a:xfrm>
            <a:off x="6400800" y="4648200"/>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C87E62"/>
          </a:solidFill>
          <a:ln/>
        </p:spPr>
      </p:sp>
      <p:sp>
        <p:nvSpPr>
          <p:cNvPr id="33" name="Text 31"/>
          <p:cNvSpPr/>
          <p:nvPr/>
        </p:nvSpPr>
        <p:spPr>
          <a:xfrm>
            <a:off x="6367463" y="4648200"/>
            <a:ext cx="371475" cy="304800"/>
          </a:xfrm>
          <a:prstGeom prst="rect">
            <a:avLst/>
          </a:prstGeom>
          <a:noFill/>
          <a:ln/>
        </p:spPr>
        <p:txBody>
          <a:bodyPr wrap="square" lIns="0" tIns="0" rIns="0" bIns="0" rtlCol="0" anchor="ctr"/>
          <a:lstStyle/>
          <a:p>
            <a:pPr algn="ctr">
              <a:lnSpc>
                <a:spcPct val="120000"/>
              </a:lnSpc>
            </a:pPr>
            <a:r>
              <a:rPr lang="en-US" sz="1050" b="1" dirty="0">
                <a:solidFill>
                  <a:srgbClr val="FFFFFF"/>
                </a:solidFill>
                <a:latin typeface="Liter" pitchFamily="34" charset="0"/>
                <a:ea typeface="Liter" pitchFamily="34" charset="-122"/>
                <a:cs typeface="Liter" pitchFamily="34" charset="-120"/>
              </a:rPr>
              <a:t>4</a:t>
            </a:r>
            <a:endParaRPr lang="en-US" sz="1600" dirty="0"/>
          </a:p>
        </p:txBody>
      </p:sp>
      <p:sp>
        <p:nvSpPr>
          <p:cNvPr id="34" name="Text 32"/>
          <p:cNvSpPr/>
          <p:nvPr/>
        </p:nvSpPr>
        <p:spPr>
          <a:xfrm>
            <a:off x="6819900" y="4648200"/>
            <a:ext cx="4914900" cy="228600"/>
          </a:xfrm>
          <a:prstGeom prst="rect">
            <a:avLst/>
          </a:prstGeom>
          <a:noFill/>
          <a:ln/>
        </p:spPr>
        <p:txBody>
          <a:bodyPr wrap="square" lIns="0" tIns="0" rIns="0" bIns="0" rtlCol="0" anchor="ctr"/>
          <a:lstStyle/>
          <a:p>
            <a:pPr>
              <a:lnSpc>
                <a:spcPct val="130000"/>
              </a:lnSpc>
            </a:pPr>
            <a:r>
              <a:rPr lang="en-US" b="1" dirty="0">
                <a:solidFill>
                  <a:srgbClr val="2A4D53"/>
                </a:solidFill>
                <a:latin typeface="Liter" pitchFamily="34" charset="0"/>
                <a:ea typeface="Liter" pitchFamily="34" charset="-122"/>
                <a:cs typeface="Liter" pitchFamily="34" charset="-120"/>
              </a:rPr>
              <a:t>Risk-Based Interventions</a:t>
            </a:r>
            <a:endParaRPr lang="en-US" dirty="0"/>
          </a:p>
        </p:txBody>
      </p:sp>
      <p:sp>
        <p:nvSpPr>
          <p:cNvPr id="35" name="Text 33"/>
          <p:cNvSpPr/>
          <p:nvPr/>
        </p:nvSpPr>
        <p:spPr>
          <a:xfrm>
            <a:off x="6819900" y="4876800"/>
            <a:ext cx="4905375" cy="381000"/>
          </a:xfrm>
          <a:prstGeom prst="rect">
            <a:avLst/>
          </a:prstGeom>
          <a:noFill/>
          <a:ln/>
        </p:spPr>
        <p:txBody>
          <a:bodyPr wrap="square" lIns="0" tIns="0" rIns="0" bIns="0" rtlCol="0" anchor="ctr"/>
          <a:lstStyle/>
          <a:p>
            <a:pPr>
              <a:lnSpc>
                <a:spcPct val="120000"/>
              </a:lnSpc>
            </a:pPr>
            <a:r>
              <a:rPr lang="en-US" sz="1100" b="1" dirty="0">
                <a:solidFill>
                  <a:srgbClr val="A9A299"/>
                </a:solidFill>
                <a:latin typeface="Liter" pitchFamily="34" charset="0"/>
                <a:ea typeface="Liter" pitchFamily="34" charset="-122"/>
                <a:cs typeface="Liter" pitchFamily="34" charset="-120"/>
              </a:rPr>
              <a:t>Establish specialized HTR supply routes and risk-based staffing incentives to close the 44% staff gap.</a:t>
            </a:r>
            <a:endParaRPr lang="en-US" sz="1100" b="1" dirty="0"/>
          </a:p>
        </p:txBody>
      </p:sp>
      <p:sp>
        <p:nvSpPr>
          <p:cNvPr id="36" name="Shape 34"/>
          <p:cNvSpPr/>
          <p:nvPr/>
        </p:nvSpPr>
        <p:spPr>
          <a:xfrm>
            <a:off x="381000" y="5905500"/>
            <a:ext cx="11430000" cy="571500"/>
          </a:xfrm>
          <a:custGeom>
            <a:avLst/>
            <a:gdLst/>
            <a:ahLst/>
            <a:cxnLst/>
            <a:rect l="l" t="t" r="r" b="b"/>
            <a:pathLst>
              <a:path w="11430000" h="571500">
                <a:moveTo>
                  <a:pt x="76198" y="0"/>
                </a:moveTo>
                <a:lnTo>
                  <a:pt x="11353802" y="0"/>
                </a:lnTo>
                <a:cubicBezTo>
                  <a:pt x="11395885" y="0"/>
                  <a:pt x="11430000" y="34115"/>
                  <a:pt x="11430000" y="76198"/>
                </a:cubicBezTo>
                <a:lnTo>
                  <a:pt x="11430000" y="495302"/>
                </a:lnTo>
                <a:cubicBezTo>
                  <a:pt x="11430000" y="537385"/>
                  <a:pt x="11395885" y="571500"/>
                  <a:pt x="11353802" y="571500"/>
                </a:cubicBezTo>
                <a:lnTo>
                  <a:pt x="76198" y="571500"/>
                </a:lnTo>
                <a:cubicBezTo>
                  <a:pt x="34115" y="571500"/>
                  <a:pt x="0" y="537385"/>
                  <a:pt x="0" y="495302"/>
                </a:cubicBezTo>
                <a:lnTo>
                  <a:pt x="0" y="76198"/>
                </a:lnTo>
                <a:cubicBezTo>
                  <a:pt x="0" y="34115"/>
                  <a:pt x="34115" y="0"/>
                  <a:pt x="76198" y="0"/>
                </a:cubicBezTo>
                <a:close/>
              </a:path>
            </a:pathLst>
          </a:custGeom>
          <a:solidFill>
            <a:srgbClr val="2A4D53"/>
          </a:solidFill>
          <a:ln/>
        </p:spPr>
      </p:sp>
      <p:sp>
        <p:nvSpPr>
          <p:cNvPr id="37" name="Shape 35"/>
          <p:cNvSpPr/>
          <p:nvPr/>
        </p:nvSpPr>
        <p:spPr>
          <a:xfrm>
            <a:off x="1261021" y="6105525"/>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85725" y="45541"/>
                </a:moveTo>
                <a:cubicBezTo>
                  <a:pt x="90179" y="45541"/>
                  <a:pt x="93762" y="49124"/>
                  <a:pt x="93762" y="53578"/>
                </a:cubicBezTo>
                <a:lnTo>
                  <a:pt x="93762" y="91083"/>
                </a:lnTo>
                <a:cubicBezTo>
                  <a:pt x="93762" y="95536"/>
                  <a:pt x="90179" y="99120"/>
                  <a:pt x="85725" y="99120"/>
                </a:cubicBezTo>
                <a:cubicBezTo>
                  <a:pt x="81271" y="99120"/>
                  <a:pt x="77688" y="95536"/>
                  <a:pt x="77688" y="91083"/>
                </a:cubicBezTo>
                <a:lnTo>
                  <a:pt x="77688" y="53578"/>
                </a:lnTo>
                <a:cubicBezTo>
                  <a:pt x="77688" y="49124"/>
                  <a:pt x="81271" y="45541"/>
                  <a:pt x="85725" y="45541"/>
                </a:cubicBezTo>
                <a:close/>
                <a:moveTo>
                  <a:pt x="76784" y="117872"/>
                </a:moveTo>
                <a:cubicBezTo>
                  <a:pt x="76581" y="114553"/>
                  <a:pt x="78236" y="111396"/>
                  <a:pt x="81081" y="109675"/>
                </a:cubicBezTo>
                <a:cubicBezTo>
                  <a:pt x="83926" y="107954"/>
                  <a:pt x="87491" y="107954"/>
                  <a:pt x="90336" y="109675"/>
                </a:cubicBezTo>
                <a:cubicBezTo>
                  <a:pt x="93181" y="111396"/>
                  <a:pt x="94836" y="114553"/>
                  <a:pt x="94632" y="117872"/>
                </a:cubicBezTo>
                <a:cubicBezTo>
                  <a:pt x="94836" y="121191"/>
                  <a:pt x="93181" y="124348"/>
                  <a:pt x="90336" y="126069"/>
                </a:cubicBezTo>
                <a:cubicBezTo>
                  <a:pt x="87491" y="127790"/>
                  <a:pt x="83926" y="127790"/>
                  <a:pt x="81081" y="126069"/>
                </a:cubicBezTo>
                <a:cubicBezTo>
                  <a:pt x="78236" y="124348"/>
                  <a:pt x="76581" y="121191"/>
                  <a:pt x="76784" y="117872"/>
                </a:cubicBezTo>
                <a:close/>
              </a:path>
            </a:pathLst>
          </a:custGeom>
          <a:solidFill>
            <a:srgbClr val="FFFFFF"/>
          </a:solidFill>
          <a:ln/>
        </p:spPr>
      </p:sp>
      <p:sp>
        <p:nvSpPr>
          <p:cNvPr id="38" name="Text 36"/>
          <p:cNvSpPr/>
          <p:nvPr/>
        </p:nvSpPr>
        <p:spPr>
          <a:xfrm>
            <a:off x="766763" y="6057900"/>
            <a:ext cx="10934700" cy="266700"/>
          </a:xfrm>
          <a:prstGeom prst="rect">
            <a:avLst/>
          </a:prstGeom>
          <a:noFill/>
          <a:ln/>
        </p:spPr>
        <p:txBody>
          <a:bodyPr wrap="square" lIns="0" tIns="0" rIns="0" bIns="0" rtlCol="0" anchor="ctr"/>
          <a:lstStyle/>
          <a:p>
            <a:pPr algn="ctr">
              <a:lnSpc>
                <a:spcPct val="130000"/>
              </a:lnSpc>
            </a:pPr>
            <a:r>
              <a:rPr lang="en-US" sz="1500" b="1" dirty="0">
                <a:solidFill>
                  <a:srgbClr val="FFFFFF"/>
                </a:solidFill>
                <a:latin typeface="Liter" pitchFamily="34" charset="0"/>
                <a:ea typeface="Liter" pitchFamily="34" charset="-122"/>
                <a:cs typeface="Liter" pitchFamily="34" charset="-120"/>
              </a:rPr>
              <a:t>Immediate Action Required: A system-wide approach is essential as unmet needs are broadly distributed across Kaduna State.</a:t>
            </a:r>
            <a:endParaRPr lang="en-US" sz="1500" dirty="0"/>
          </a:p>
        </p:txBody>
      </p:sp>
    </p:spTree>
    <p:extLst>
      <p:ext uri="{BB962C8B-B14F-4D97-AF65-F5344CB8AC3E}">
        <p14:creationId xmlns:p14="http://schemas.microsoft.com/office/powerpoint/2010/main" val="299852561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810250" y="1657350"/>
            <a:ext cx="571500" cy="571500"/>
          </a:xfrm>
          <a:custGeom>
            <a:avLst/>
            <a:gdLst/>
            <a:ahLst/>
            <a:cxnLst/>
            <a:rect l="l" t="t" r="r" b="b"/>
            <a:pathLst>
              <a:path w="571500" h="571500">
                <a:moveTo>
                  <a:pt x="269007" y="97222"/>
                </a:moveTo>
                <a:lnTo>
                  <a:pt x="285750" y="120328"/>
                </a:lnTo>
                <a:lnTo>
                  <a:pt x="302493" y="97222"/>
                </a:lnTo>
                <a:cubicBezTo>
                  <a:pt x="330398" y="58601"/>
                  <a:pt x="375270" y="35719"/>
                  <a:pt x="422932" y="35719"/>
                </a:cubicBezTo>
                <a:cubicBezTo>
                  <a:pt x="504974" y="35719"/>
                  <a:pt x="571500" y="102245"/>
                  <a:pt x="571500" y="184286"/>
                </a:cubicBezTo>
                <a:lnTo>
                  <a:pt x="571500" y="187189"/>
                </a:lnTo>
                <a:cubicBezTo>
                  <a:pt x="571500" y="312427"/>
                  <a:pt x="415342" y="457870"/>
                  <a:pt x="333859" y="520043"/>
                </a:cubicBezTo>
                <a:cubicBezTo>
                  <a:pt x="320018" y="530535"/>
                  <a:pt x="303051" y="535781"/>
                  <a:pt x="285750" y="535781"/>
                </a:cubicBezTo>
                <a:cubicBezTo>
                  <a:pt x="268449" y="535781"/>
                  <a:pt x="251371" y="530647"/>
                  <a:pt x="237641" y="520043"/>
                </a:cubicBezTo>
                <a:cubicBezTo>
                  <a:pt x="156158" y="457870"/>
                  <a:pt x="0" y="312427"/>
                  <a:pt x="0" y="187189"/>
                </a:cubicBezTo>
                <a:lnTo>
                  <a:pt x="0" y="184286"/>
                </a:lnTo>
                <a:cubicBezTo>
                  <a:pt x="0" y="102245"/>
                  <a:pt x="66526" y="35719"/>
                  <a:pt x="148568" y="35719"/>
                </a:cubicBezTo>
                <a:cubicBezTo>
                  <a:pt x="196230" y="35719"/>
                  <a:pt x="241102" y="58601"/>
                  <a:pt x="269007" y="97222"/>
                </a:cubicBezTo>
                <a:close/>
              </a:path>
            </a:pathLst>
          </a:custGeom>
          <a:solidFill>
            <a:srgbClr val="C87E62"/>
          </a:solidFill>
          <a:ln/>
        </p:spPr>
      </p:sp>
      <p:sp>
        <p:nvSpPr>
          <p:cNvPr id="3" name="Text 1"/>
          <p:cNvSpPr/>
          <p:nvPr/>
        </p:nvSpPr>
        <p:spPr>
          <a:xfrm>
            <a:off x="4005262" y="2533650"/>
            <a:ext cx="4181475" cy="685800"/>
          </a:xfrm>
          <a:prstGeom prst="rect">
            <a:avLst/>
          </a:prstGeom>
          <a:noFill/>
          <a:ln/>
        </p:spPr>
        <p:txBody>
          <a:bodyPr wrap="square" lIns="0" tIns="0" rIns="0" bIns="0" rtlCol="0" anchor="ctr"/>
          <a:lstStyle/>
          <a:p>
            <a:pPr algn="ctr">
              <a:lnSpc>
                <a:spcPct val="80000"/>
              </a:lnSpc>
            </a:pPr>
            <a:r>
              <a:rPr lang="en-US" sz="5400" b="1" dirty="0">
                <a:solidFill>
                  <a:srgbClr val="2A4D53"/>
                </a:solidFill>
                <a:latin typeface="Liter" pitchFamily="34" charset="0"/>
                <a:ea typeface="Liter" pitchFamily="34" charset="-122"/>
                <a:cs typeface="Liter" pitchFamily="34" charset="-120"/>
              </a:rPr>
              <a:t>THANK YOU</a:t>
            </a:r>
            <a:endParaRPr lang="en-US" sz="1600" dirty="0"/>
          </a:p>
        </p:txBody>
      </p:sp>
      <p:sp>
        <p:nvSpPr>
          <p:cNvPr id="4" name="Shape 2"/>
          <p:cNvSpPr/>
          <p:nvPr/>
        </p:nvSpPr>
        <p:spPr>
          <a:xfrm>
            <a:off x="5486400" y="344805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C87E62"/>
          </a:solidFill>
          <a:ln/>
        </p:spPr>
      </p:sp>
      <p:sp>
        <p:nvSpPr>
          <p:cNvPr id="7" name="Shape 5"/>
          <p:cNvSpPr/>
          <p:nvPr/>
        </p:nvSpPr>
        <p:spPr>
          <a:xfrm>
            <a:off x="4804023" y="5010150"/>
            <a:ext cx="190500" cy="152400"/>
          </a:xfrm>
          <a:custGeom>
            <a:avLst/>
            <a:gdLst/>
            <a:ahLst/>
            <a:cxnLst/>
            <a:rect l="l" t="t" r="r" b="b"/>
            <a:pathLst>
              <a:path w="190500" h="152400">
                <a:moveTo>
                  <a:pt x="95250" y="4763"/>
                </a:moveTo>
                <a:cubicBezTo>
                  <a:pt x="112335" y="4763"/>
                  <a:pt x="126206" y="18634"/>
                  <a:pt x="126206" y="35719"/>
                </a:cubicBezTo>
                <a:cubicBezTo>
                  <a:pt x="126206" y="52804"/>
                  <a:pt x="112335" y="66675"/>
                  <a:pt x="95250" y="66675"/>
                </a:cubicBezTo>
                <a:cubicBezTo>
                  <a:pt x="78165" y="66675"/>
                  <a:pt x="64294" y="52804"/>
                  <a:pt x="64294" y="35719"/>
                </a:cubicBezTo>
                <a:cubicBezTo>
                  <a:pt x="64294" y="18634"/>
                  <a:pt x="78165" y="4763"/>
                  <a:pt x="95250" y="4763"/>
                </a:cubicBezTo>
                <a:close/>
                <a:moveTo>
                  <a:pt x="28575" y="26194"/>
                </a:moveTo>
                <a:cubicBezTo>
                  <a:pt x="40403" y="26194"/>
                  <a:pt x="50006" y="35797"/>
                  <a:pt x="50006" y="47625"/>
                </a:cubicBezTo>
                <a:cubicBezTo>
                  <a:pt x="50006" y="59453"/>
                  <a:pt x="40403" y="69056"/>
                  <a:pt x="28575" y="69056"/>
                </a:cubicBezTo>
                <a:cubicBezTo>
                  <a:pt x="16747" y="69056"/>
                  <a:pt x="7144" y="59453"/>
                  <a:pt x="7144" y="47625"/>
                </a:cubicBezTo>
                <a:cubicBezTo>
                  <a:pt x="7144" y="35797"/>
                  <a:pt x="16747" y="26194"/>
                  <a:pt x="28575" y="26194"/>
                </a:cubicBezTo>
                <a:close/>
                <a:moveTo>
                  <a:pt x="0" y="123825"/>
                </a:moveTo>
                <a:cubicBezTo>
                  <a:pt x="0" y="102781"/>
                  <a:pt x="17056" y="85725"/>
                  <a:pt x="38100" y="85725"/>
                </a:cubicBezTo>
                <a:cubicBezTo>
                  <a:pt x="41910" y="85725"/>
                  <a:pt x="45601" y="86291"/>
                  <a:pt x="49084" y="87332"/>
                </a:cubicBezTo>
                <a:cubicBezTo>
                  <a:pt x="39291" y="98286"/>
                  <a:pt x="33338" y="112752"/>
                  <a:pt x="33338" y="128588"/>
                </a:cubicBezTo>
                <a:lnTo>
                  <a:pt x="33338" y="133350"/>
                </a:lnTo>
                <a:cubicBezTo>
                  <a:pt x="33338" y="136743"/>
                  <a:pt x="34052" y="139958"/>
                  <a:pt x="35332" y="142875"/>
                </a:cubicBezTo>
                <a:lnTo>
                  <a:pt x="9525" y="142875"/>
                </a:lnTo>
                <a:cubicBezTo>
                  <a:pt x="4256" y="142875"/>
                  <a:pt x="0" y="138619"/>
                  <a:pt x="0" y="133350"/>
                </a:cubicBezTo>
                <a:lnTo>
                  <a:pt x="0" y="123825"/>
                </a:lnTo>
                <a:close/>
                <a:moveTo>
                  <a:pt x="155168" y="142875"/>
                </a:moveTo>
                <a:cubicBezTo>
                  <a:pt x="156448" y="139958"/>
                  <a:pt x="157163" y="136743"/>
                  <a:pt x="157163" y="133350"/>
                </a:cubicBezTo>
                <a:lnTo>
                  <a:pt x="157163" y="128588"/>
                </a:lnTo>
                <a:cubicBezTo>
                  <a:pt x="157163" y="112752"/>
                  <a:pt x="151209" y="98286"/>
                  <a:pt x="141416" y="87332"/>
                </a:cubicBezTo>
                <a:cubicBezTo>
                  <a:pt x="144899" y="86291"/>
                  <a:pt x="148590" y="85725"/>
                  <a:pt x="152400" y="85725"/>
                </a:cubicBezTo>
                <a:cubicBezTo>
                  <a:pt x="173444" y="85725"/>
                  <a:pt x="190500" y="102781"/>
                  <a:pt x="190500" y="123825"/>
                </a:cubicBezTo>
                <a:lnTo>
                  <a:pt x="190500" y="133350"/>
                </a:lnTo>
                <a:cubicBezTo>
                  <a:pt x="190500" y="138619"/>
                  <a:pt x="186244" y="142875"/>
                  <a:pt x="180975" y="142875"/>
                </a:cubicBezTo>
                <a:lnTo>
                  <a:pt x="155168" y="142875"/>
                </a:lnTo>
                <a:close/>
                <a:moveTo>
                  <a:pt x="140494" y="47625"/>
                </a:moveTo>
                <a:cubicBezTo>
                  <a:pt x="140494" y="35797"/>
                  <a:pt x="150097" y="26194"/>
                  <a:pt x="161925" y="26194"/>
                </a:cubicBezTo>
                <a:cubicBezTo>
                  <a:pt x="173753" y="26194"/>
                  <a:pt x="183356" y="35797"/>
                  <a:pt x="183356" y="47625"/>
                </a:cubicBezTo>
                <a:cubicBezTo>
                  <a:pt x="183356" y="59453"/>
                  <a:pt x="173753" y="69056"/>
                  <a:pt x="161925" y="69056"/>
                </a:cubicBezTo>
                <a:cubicBezTo>
                  <a:pt x="150097" y="69056"/>
                  <a:pt x="140494" y="59453"/>
                  <a:pt x="140494" y="47625"/>
                </a:cubicBezTo>
                <a:close/>
                <a:moveTo>
                  <a:pt x="47625" y="128588"/>
                </a:moveTo>
                <a:cubicBezTo>
                  <a:pt x="47625" y="102275"/>
                  <a:pt x="68937" y="80962"/>
                  <a:pt x="95250" y="80962"/>
                </a:cubicBezTo>
                <a:cubicBezTo>
                  <a:pt x="121563" y="80962"/>
                  <a:pt x="142875" y="102275"/>
                  <a:pt x="142875" y="128588"/>
                </a:cubicBezTo>
                <a:lnTo>
                  <a:pt x="142875" y="133350"/>
                </a:lnTo>
                <a:cubicBezTo>
                  <a:pt x="142875" y="138619"/>
                  <a:pt x="138619" y="142875"/>
                  <a:pt x="133350" y="142875"/>
                </a:cubicBezTo>
                <a:lnTo>
                  <a:pt x="57150" y="142875"/>
                </a:lnTo>
                <a:cubicBezTo>
                  <a:pt x="51881" y="142875"/>
                  <a:pt x="47625" y="138619"/>
                  <a:pt x="47625" y="133350"/>
                </a:cubicBezTo>
                <a:lnTo>
                  <a:pt x="47625" y="128588"/>
                </a:lnTo>
                <a:close/>
              </a:path>
            </a:pathLst>
          </a:custGeom>
          <a:solidFill>
            <a:srgbClr val="A9A299"/>
          </a:solidFill>
          <a:ln/>
        </p:spPr>
      </p:sp>
      <p:sp>
        <p:nvSpPr>
          <p:cNvPr id="8" name="Text 6"/>
          <p:cNvSpPr/>
          <p:nvPr/>
        </p:nvSpPr>
        <p:spPr>
          <a:xfrm>
            <a:off x="5032623" y="4972050"/>
            <a:ext cx="1114425" cy="228600"/>
          </a:xfrm>
          <a:prstGeom prst="rect">
            <a:avLst/>
          </a:prstGeom>
          <a:noFill/>
          <a:ln/>
        </p:spPr>
        <p:txBody>
          <a:bodyPr wrap="square" lIns="0" tIns="0" rIns="0" bIns="0" rtlCol="0" anchor="ctr"/>
          <a:lstStyle/>
          <a:p>
            <a:pPr algn="ctr">
              <a:lnSpc>
                <a:spcPct val="130000"/>
              </a:lnSpc>
            </a:pPr>
            <a:r>
              <a:rPr lang="en-US" sz="1200" dirty="0">
                <a:solidFill>
                  <a:srgbClr val="A9A299"/>
                </a:solidFill>
                <a:latin typeface="Liter" pitchFamily="34" charset="0"/>
                <a:ea typeface="Liter" pitchFamily="34" charset="-122"/>
                <a:cs typeface="Liter" pitchFamily="34" charset="-120"/>
              </a:rPr>
              <a:t>Group 4 Project</a:t>
            </a:r>
            <a:endParaRPr lang="en-US" sz="1600" dirty="0"/>
          </a:p>
        </p:txBody>
      </p:sp>
      <p:sp>
        <p:nvSpPr>
          <p:cNvPr id="9" name="Shape 7"/>
          <p:cNvSpPr/>
          <p:nvPr/>
        </p:nvSpPr>
        <p:spPr>
          <a:xfrm>
            <a:off x="6787604" y="5010150"/>
            <a:ext cx="133350" cy="152400"/>
          </a:xfrm>
          <a:custGeom>
            <a:avLst/>
            <a:gdLst/>
            <a:ahLst/>
            <a:cxnLst/>
            <a:rect l="l" t="t" r="r" b="b"/>
            <a:pathLst>
              <a:path w="133350" h="152400">
                <a:moveTo>
                  <a:pt x="38100" y="0"/>
                </a:moveTo>
                <a:cubicBezTo>
                  <a:pt x="32831" y="0"/>
                  <a:pt x="28575" y="4256"/>
                  <a:pt x="28575" y="9525"/>
                </a:cubicBezTo>
                <a:lnTo>
                  <a:pt x="28575" y="19050"/>
                </a:lnTo>
                <a:lnTo>
                  <a:pt x="19050" y="19050"/>
                </a:lnTo>
                <a:cubicBezTo>
                  <a:pt x="8543" y="19050"/>
                  <a:pt x="0" y="27593"/>
                  <a:pt x="0" y="38100"/>
                </a:cubicBezTo>
                <a:lnTo>
                  <a:pt x="0" y="52388"/>
                </a:lnTo>
                <a:lnTo>
                  <a:pt x="133350" y="52388"/>
                </a:lnTo>
                <a:lnTo>
                  <a:pt x="133350" y="38100"/>
                </a:lnTo>
                <a:cubicBezTo>
                  <a:pt x="133350" y="27593"/>
                  <a:pt x="124807" y="19050"/>
                  <a:pt x="114300" y="19050"/>
                </a:cubicBezTo>
                <a:lnTo>
                  <a:pt x="104775" y="19050"/>
                </a:lnTo>
                <a:lnTo>
                  <a:pt x="104775" y="9525"/>
                </a:lnTo>
                <a:cubicBezTo>
                  <a:pt x="104775" y="4256"/>
                  <a:pt x="100519" y="0"/>
                  <a:pt x="95250" y="0"/>
                </a:cubicBezTo>
                <a:cubicBezTo>
                  <a:pt x="89981" y="0"/>
                  <a:pt x="85725" y="4256"/>
                  <a:pt x="85725" y="9525"/>
                </a:cubicBezTo>
                <a:lnTo>
                  <a:pt x="85725" y="19050"/>
                </a:lnTo>
                <a:lnTo>
                  <a:pt x="47625" y="19050"/>
                </a:lnTo>
                <a:lnTo>
                  <a:pt x="47625" y="9525"/>
                </a:lnTo>
                <a:cubicBezTo>
                  <a:pt x="47625" y="4256"/>
                  <a:pt x="43369" y="0"/>
                  <a:pt x="38100" y="0"/>
                </a:cubicBezTo>
                <a:close/>
                <a:moveTo>
                  <a:pt x="0" y="66675"/>
                </a:moveTo>
                <a:lnTo>
                  <a:pt x="0" y="123825"/>
                </a:lnTo>
                <a:cubicBezTo>
                  <a:pt x="0" y="134332"/>
                  <a:pt x="8543" y="142875"/>
                  <a:pt x="19050" y="142875"/>
                </a:cubicBezTo>
                <a:lnTo>
                  <a:pt x="114300" y="142875"/>
                </a:lnTo>
                <a:cubicBezTo>
                  <a:pt x="124807" y="142875"/>
                  <a:pt x="133350" y="134332"/>
                  <a:pt x="133350" y="123825"/>
                </a:cubicBezTo>
                <a:lnTo>
                  <a:pt x="133350" y="66675"/>
                </a:lnTo>
                <a:lnTo>
                  <a:pt x="0" y="66675"/>
                </a:lnTo>
                <a:close/>
              </a:path>
            </a:pathLst>
          </a:custGeom>
          <a:solidFill>
            <a:srgbClr val="A9A299"/>
          </a:solidFill>
          <a:ln/>
        </p:spPr>
      </p:sp>
      <p:sp>
        <p:nvSpPr>
          <p:cNvPr id="10" name="Text 8"/>
          <p:cNvSpPr/>
          <p:nvPr/>
        </p:nvSpPr>
        <p:spPr>
          <a:xfrm>
            <a:off x="6987629" y="4972050"/>
            <a:ext cx="438150" cy="228600"/>
          </a:xfrm>
          <a:prstGeom prst="rect">
            <a:avLst/>
          </a:prstGeom>
          <a:noFill/>
          <a:ln/>
        </p:spPr>
        <p:txBody>
          <a:bodyPr wrap="square" lIns="0" tIns="0" rIns="0" bIns="0" rtlCol="0" anchor="ctr"/>
          <a:lstStyle/>
          <a:p>
            <a:pPr algn="ctr">
              <a:lnSpc>
                <a:spcPct val="130000"/>
              </a:lnSpc>
            </a:pPr>
            <a:r>
              <a:rPr lang="en-US" sz="1200" dirty="0">
                <a:solidFill>
                  <a:srgbClr val="A9A299"/>
                </a:solidFill>
                <a:latin typeface="Liter" pitchFamily="34" charset="0"/>
                <a:ea typeface="Liter" pitchFamily="34" charset="-122"/>
                <a:cs typeface="Liter" pitchFamily="34" charset="-120"/>
              </a:rPr>
              <a:t>2026</a:t>
            </a:r>
            <a:endParaRPr lang="en-US" sz="1600" dirty="0"/>
          </a:p>
        </p:txBody>
      </p:sp>
      <p:sp>
        <p:nvSpPr>
          <p:cNvPr id="52" name="Shape 49"/>
          <p:cNvSpPr/>
          <p:nvPr/>
        </p:nvSpPr>
        <p:spPr>
          <a:xfrm>
            <a:off x="7853295" y="5027250"/>
            <a:ext cx="205195" cy="205195"/>
          </a:xfrm>
          <a:custGeom>
            <a:avLst/>
            <a:gdLst/>
            <a:ahLst/>
            <a:cxnLst/>
            <a:rect l="l" t="t" r="r" b="b"/>
            <a:pathLst>
              <a:path w="205195" h="205195">
                <a:moveTo>
                  <a:pt x="102597" y="43243"/>
                </a:moveTo>
                <a:lnTo>
                  <a:pt x="96586" y="34907"/>
                </a:lnTo>
                <a:cubicBezTo>
                  <a:pt x="86567" y="21040"/>
                  <a:pt x="70496" y="12825"/>
                  <a:pt x="53343" y="12825"/>
                </a:cubicBezTo>
                <a:cubicBezTo>
                  <a:pt x="23886" y="12825"/>
                  <a:pt x="0" y="36711"/>
                  <a:pt x="0" y="66167"/>
                </a:cubicBezTo>
                <a:lnTo>
                  <a:pt x="0" y="67209"/>
                </a:lnTo>
                <a:cubicBezTo>
                  <a:pt x="0" y="76668"/>
                  <a:pt x="2485" y="86446"/>
                  <a:pt x="6653" y="96185"/>
                </a:cubicBezTo>
                <a:lnTo>
                  <a:pt x="49135" y="96185"/>
                </a:lnTo>
                <a:cubicBezTo>
                  <a:pt x="50417" y="96185"/>
                  <a:pt x="51579" y="95424"/>
                  <a:pt x="52100" y="94221"/>
                </a:cubicBezTo>
                <a:lnTo>
                  <a:pt x="64845" y="63642"/>
                </a:lnTo>
                <a:cubicBezTo>
                  <a:pt x="66328" y="60116"/>
                  <a:pt x="69774" y="57791"/>
                  <a:pt x="73582" y="57711"/>
                </a:cubicBezTo>
                <a:cubicBezTo>
                  <a:pt x="77389" y="57631"/>
                  <a:pt x="80916" y="59875"/>
                  <a:pt x="82479" y="63362"/>
                </a:cubicBezTo>
                <a:lnTo>
                  <a:pt x="103038" y="109010"/>
                </a:lnTo>
                <a:lnTo>
                  <a:pt x="119630" y="75826"/>
                </a:lnTo>
                <a:cubicBezTo>
                  <a:pt x="121273" y="72580"/>
                  <a:pt x="124600" y="70496"/>
                  <a:pt x="128247" y="70496"/>
                </a:cubicBezTo>
                <a:cubicBezTo>
                  <a:pt x="131894" y="70496"/>
                  <a:pt x="135220" y="72540"/>
                  <a:pt x="136863" y="75826"/>
                </a:cubicBezTo>
                <a:lnTo>
                  <a:pt x="146161" y="94382"/>
                </a:lnTo>
                <a:cubicBezTo>
                  <a:pt x="146722" y="95464"/>
                  <a:pt x="147804" y="96145"/>
                  <a:pt x="149047" y="96145"/>
                </a:cubicBezTo>
                <a:lnTo>
                  <a:pt x="198582" y="96145"/>
                </a:lnTo>
                <a:cubicBezTo>
                  <a:pt x="202790" y="86406"/>
                  <a:pt x="205235" y="76627"/>
                  <a:pt x="205235" y="67169"/>
                </a:cubicBezTo>
                <a:lnTo>
                  <a:pt x="205235" y="66127"/>
                </a:lnTo>
                <a:cubicBezTo>
                  <a:pt x="205195" y="36711"/>
                  <a:pt x="181309" y="12825"/>
                  <a:pt x="151852" y="12825"/>
                </a:cubicBezTo>
                <a:cubicBezTo>
                  <a:pt x="134739" y="12825"/>
                  <a:pt x="118628" y="21040"/>
                  <a:pt x="108609" y="34907"/>
                </a:cubicBezTo>
                <a:lnTo>
                  <a:pt x="102597" y="43203"/>
                </a:lnTo>
                <a:close/>
                <a:moveTo>
                  <a:pt x="188202" y="115422"/>
                </a:moveTo>
                <a:lnTo>
                  <a:pt x="149007" y="115422"/>
                </a:lnTo>
                <a:cubicBezTo>
                  <a:pt x="140510" y="115422"/>
                  <a:pt x="132735" y="110613"/>
                  <a:pt x="128928" y="102998"/>
                </a:cubicBezTo>
                <a:lnTo>
                  <a:pt x="128247" y="101636"/>
                </a:lnTo>
                <a:lnTo>
                  <a:pt x="111214" y="135741"/>
                </a:lnTo>
                <a:cubicBezTo>
                  <a:pt x="109571" y="139068"/>
                  <a:pt x="106124" y="141152"/>
                  <a:pt x="102397" y="141072"/>
                </a:cubicBezTo>
                <a:cubicBezTo>
                  <a:pt x="98670" y="140991"/>
                  <a:pt x="95344" y="138787"/>
                  <a:pt x="93821" y="135421"/>
                </a:cubicBezTo>
                <a:lnTo>
                  <a:pt x="74063" y="91536"/>
                </a:lnTo>
                <a:lnTo>
                  <a:pt x="69854" y="101636"/>
                </a:lnTo>
                <a:cubicBezTo>
                  <a:pt x="66368" y="110012"/>
                  <a:pt x="58192" y="115462"/>
                  <a:pt x="49135" y="115462"/>
                </a:cubicBezTo>
                <a:lnTo>
                  <a:pt x="16993" y="115462"/>
                </a:lnTo>
                <a:cubicBezTo>
                  <a:pt x="35909" y="145039"/>
                  <a:pt x="66288" y="172252"/>
                  <a:pt x="85284" y="186759"/>
                </a:cubicBezTo>
                <a:cubicBezTo>
                  <a:pt x="90254" y="190527"/>
                  <a:pt x="96345" y="192410"/>
                  <a:pt x="102557" y="192410"/>
                </a:cubicBezTo>
                <a:cubicBezTo>
                  <a:pt x="108769" y="192410"/>
                  <a:pt x="114901" y="190567"/>
                  <a:pt x="119831" y="186759"/>
                </a:cubicBezTo>
                <a:cubicBezTo>
                  <a:pt x="138907" y="172211"/>
                  <a:pt x="169286" y="144999"/>
                  <a:pt x="188202" y="115422"/>
                </a:cubicBezTo>
                <a:close/>
              </a:path>
            </a:pathLst>
          </a:custGeom>
          <a:solidFill>
            <a:srgbClr val="C87E62"/>
          </a:solidFill>
          <a:ln/>
        </p:spPr>
      </p:sp>
      <p:sp>
        <p:nvSpPr>
          <p:cNvPr id="53" name="Text 50"/>
          <p:cNvSpPr/>
          <p:nvPr/>
        </p:nvSpPr>
        <p:spPr>
          <a:xfrm>
            <a:off x="8186736" y="5010150"/>
            <a:ext cx="1871663" cy="222295"/>
          </a:xfrm>
          <a:prstGeom prst="rect">
            <a:avLst/>
          </a:prstGeom>
          <a:noFill/>
          <a:ln/>
        </p:spPr>
        <p:txBody>
          <a:bodyPr wrap="square" lIns="0" tIns="0" rIns="0" bIns="0" rtlCol="0" anchor="ctr"/>
          <a:lstStyle/>
          <a:p>
            <a:pPr>
              <a:lnSpc>
                <a:spcPct val="130000"/>
              </a:lnSpc>
            </a:pPr>
            <a:r>
              <a:rPr lang="en-US" sz="1400" dirty="0">
                <a:solidFill>
                  <a:schemeClr val="accent2">
                    <a:lumMod val="50000"/>
                  </a:schemeClr>
                </a:solidFill>
                <a:latin typeface="Quattrocento Sans" pitchFamily="34" charset="0"/>
                <a:ea typeface="Quattrocento Sans" pitchFamily="34" charset="-122"/>
                <a:cs typeface="Quattrocento Sans" pitchFamily="34" charset="-120"/>
              </a:rPr>
              <a:t>Healthcare for All</a:t>
            </a:r>
            <a:endParaRPr lang="en-US" sz="1400" dirty="0">
              <a:solidFill>
                <a:schemeClr val="accent2">
                  <a:lumMod val="50000"/>
                </a:schemeClr>
              </a:solidFill>
            </a:endParaRPr>
          </a:p>
        </p:txBody>
      </p:sp>
    </p:spTree>
    <p:extLst>
      <p:ext uri="{BB962C8B-B14F-4D97-AF65-F5344CB8AC3E}">
        <p14:creationId xmlns:p14="http://schemas.microsoft.com/office/powerpoint/2010/main" val="3173063325"/>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900</TotalTime>
  <Words>1884</Words>
  <Application>Microsoft Office PowerPoint</Application>
  <PresentationFormat>Widescreen</PresentationFormat>
  <Paragraphs>258</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Display</vt:lpstr>
      <vt:lpstr>Arial</vt:lpstr>
      <vt:lpstr>Liter</vt:lpstr>
      <vt:lpstr>Oranienbaum</vt:lpstr>
      <vt:lpstr>Quattrocento Sans</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Sidiq Abdulkadir Akambi</dc:creator>
  <cp:lastModifiedBy>Sidiq Abdulkadir Akambi</cp:lastModifiedBy>
  <cp:revision>14</cp:revision>
  <dcterms:created xsi:type="dcterms:W3CDTF">2026-01-27T14:32:54Z</dcterms:created>
  <dcterms:modified xsi:type="dcterms:W3CDTF">2026-01-29T08:42:52Z</dcterms:modified>
</cp:coreProperties>
</file>